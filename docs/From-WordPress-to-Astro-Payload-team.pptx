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Webee</a:t>
            </a:r>
            <a:r>
              <a:rPr lang="en-US" sz="2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r>
              <a:rPr lang="en-US" sz="20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L&amp;D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WordPress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Astro + Payload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CMS and a frontend, with the content model in TypeScript. By the end of the hour: your own developer portfolio on Payload and Astro.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September 2026     30 min talk · 60 min hands-on     Bring your laptop, pnpm verify 0 green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451544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WORDPRESS VS ASTRO + PAYLOAD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–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27  ·  0:00 – 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903089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WordPress vs Astro + Payload: what changes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225796" cy="45720"/>
          </a:xfrm>
          <a:prstGeom prst="rect">
            <a:avLst/>
          </a:prstGeom>
          <a:solidFill>
            <a:srgbClr val="5AA9D6"/>
          </a:solidFill>
          <a:ln w="12700">
            <a:solidFill>
              <a:srgbClr val="5AA9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 TODAY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13432"/>
            <a:ext cx="522579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model (CPTs, ACF groups) is rows in </a:t>
            </a:r>
            <a:r>
              <a:rPr lang="en-US" sz="156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wp_postmeta</a:t>
            </a: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built in wp-admin. No diff, no review, no rollback.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Renaming an ACF field: edit it in wp-admin on every environment, then grep the templates for the old key.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Plugins for SEO, caching, images, forms. Each runs PHP on every request and needs updating.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contentful paint measured in seconds: theme JS, plugin CSS, uncached PHP render.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23076" y="1874520"/>
            <a:ext cx="5225796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3076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ASTRO + PAYLOAD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2313432"/>
            <a:ext cx="522579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model is a TypeScript file in git. It goes through a pull request like any other code.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generates TypeScript types from the collections; Astro imports them. Rename a field and the build lists the broken templates.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renders HTML on the server from Payload's REST API. No database connection, no client JS unless you add it.</a:t>
            </a:r>
            <a:endParaRPr lang="en-US" sz="17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reads the collections, the types and </a:t>
            </a:r>
            <a:r>
              <a:rPr lang="en-US" sz="156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CLAUDE.md</a:t>
            </a:r>
            <a:r>
              <a:rPr lang="en-US" sz="17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writes the boilerplate under review.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WHY TEAMS MAKE THE MOVE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–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27  ·  0:00 – 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1354633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teams move to Astro + Payload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by default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240280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emits static HTML; JavaScript ships only for components marked as islands. No caching layer, image plugin or minifier to configure.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008876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much smaller attack surface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08876" y="2240280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third-party PHP executing per request, no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wp-admin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login endpoint on the public site, and the frontend holds no database credentials.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3237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078099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model is code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43859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Collections and fields are TypeScript in git: reviewed in PRs, versioned, identical on every environment. No schema drift between staging and production.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303237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008876" y="3078099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Typed from field to template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08876" y="3443859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 generate:types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emits one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type; Astro templates import it. A renamed field fails the build with the list of affected files.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359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81678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source, self-hosted, one language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47438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and Astro are MIT licensed. No per-seat fees or premium plugin renewals, TypeScript on both sides, deployable to any Node or static host.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42359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008876" y="4281678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packages, not plugins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08876" y="4647438"/>
            <a:ext cx="4539996" cy="792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components, npm packages, and a schema an AI tool can read because it is code. The frontend is decoupled: a redesign does not touch the content.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5668137"/>
            <a:ext cx="10908792" cy="549783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668137"/>
            <a:ext cx="54864" cy="549783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814441"/>
            <a:ext cx="104515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Editors keep an admin UI, rich text, media library, drafts and roles. Developers stop maintaining plugin updates.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THE WHOLE TALK IN THREE IDEAS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–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27  ·  0:00 – 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1806177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ideas the rest of the talk builds on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3422904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68296"/>
            <a:ext cx="3422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model lives in code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9544"/>
            <a:ext cx="342290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collection file is the CPT registration and the ACF group in one TypeScript object. Payload generates the admin UI and the REST API from 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3024" y="1874520"/>
            <a:ext cx="3422904" cy="45720"/>
          </a:xfrm>
          <a:prstGeom prst="rect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3024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383024" y="2368296"/>
            <a:ext cx="3422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frontend only consumes the REST API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383024" y="3209544"/>
            <a:ext cx="342290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has no database connection. It fetches JSON from Payload in the frontmatter and renders HTML on the server.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5968" y="1874520"/>
            <a:ext cx="3422904" cy="45720"/>
          </a:xfrm>
          <a:prstGeom prst="rect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25968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 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25968" y="2368296"/>
            <a:ext cx="3422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writes, you review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5968" y="3209544"/>
            <a:ext cx="3422904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generates the code. You read the diff and decide. If you cannot explain a diff, you do not accept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THE PICTURE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– 7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27  ·  4:00 – 7:00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2257721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apps, one REST API between them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057144" cy="3017520"/>
          </a:xfrm>
          <a:prstGeom prst="rect">
            <a:avLst/>
          </a:prstGeom>
          <a:solidFill>
            <a:srgbClr val="1B1F27"/>
          </a:solidFill>
          <a:ln w="9525">
            <a:solidFill>
              <a:srgbClr val="FFCF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77440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3464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apps/cms · localhost:3300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00400"/>
            <a:ext cx="2599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Collections defined in TypeScript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 panel at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/admin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generated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API at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/api/…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generated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SQLite file for the workshop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97224" y="3291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/api/services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88664" y="3611880"/>
            <a:ext cx="685800" cy="201168"/>
          </a:xfrm>
          <a:prstGeom prst="rightArrow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97224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65904" y="2194560"/>
            <a:ext cx="3057144" cy="3017520"/>
          </a:xfrm>
          <a:prstGeom prst="rect">
            <a:avLst/>
          </a:prstGeom>
          <a:solidFill>
            <a:srgbClr val="1B1F27"/>
          </a:solidFill>
          <a:ln w="9525">
            <a:solidFill>
              <a:srgbClr val="FFCF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94504" y="2377440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794504" y="283464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apps/web · localhost:4321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94504" y="3200400"/>
            <a:ext cx="2599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Pages are files: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pages/services/[slug].astro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Fetches in the frontmatter, renders HTML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JavaScript shipped unless you ask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Types imported from the CMS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23048" y="3291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14488" y="3611880"/>
            <a:ext cx="685800" cy="201168"/>
          </a:xfrm>
          <a:prstGeom prst="rightArrow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23048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91728" y="2194560"/>
            <a:ext cx="3057144" cy="301752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20328" y="2377440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Browser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720328" y="283464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whoever reads your portfolio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720328" y="3200400"/>
            <a:ext cx="2599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 HTML and CSS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Fast: static HTML and CSS, no hydration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THE TOOLCHAIN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– 7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27  ·  4:00 – 7:00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2709266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Toolchain terms you will see in the logs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Monorepo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repo, several apps developed together: apps/cms and apps/web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Theme + custom plugin in one repo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pnpm, workspace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package manager. A workspace is the set of packages in this repo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Composer, roughly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pnpm --filter web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a script in one app. dev:cms and dev:web are shortcuts for 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Node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runtime both apps run 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TypeScript, type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JavaScript plus a description of the shape of things. Service is a type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Docblocks that are actually checked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Typecheck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pnpm typecheck. Every place a type does not fit, before anything runs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PHP finds in production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async / await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Fetching is async; await pauses until the result is in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PHP just waits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.env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Secrets and settings read at boot. Never committed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wp-config.php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SQLite, Drizzle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one-file database, and the query builder that talks to 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MySQL, wpdb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Next.js, Turbopack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the Payload admin runs on, and its bundler. In the CMS logs; you never write 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Vite, HMR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Astro builds with, and hot reload. In the web logs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5168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PAYLOAD IN WORDPRESS VOCABULARY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3160810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file </a:t>
            </a:r>
            <a:r>
              <a:rPr lang="en-US" sz="38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</a:t>
            </a: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CPT and the ACF group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225796" cy="45720"/>
          </a:xfrm>
          <a:prstGeom prst="rect">
            <a:avLst/>
          </a:prstGeom>
          <a:solidFill>
            <a:srgbClr val="5AA9D6"/>
          </a:solidFill>
          <a:ln w="12700">
            <a:solidFill>
              <a:srgbClr val="5AA9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plugin.php + ACF field group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5225796" cy="3099816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52344"/>
            <a:ext cx="486003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register_post_type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'public'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=&gt; true,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'has_archive'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=&gt; true,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'show_in_rest'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=&gt; true,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'supports'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=&gt; [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'title'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 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then, in wp-admin, click together: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Field group "Service details"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  summary   textarea, required, max 240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  icon      select: code / design / …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  order     number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3076" y="1874520"/>
            <a:ext cx="5225796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3076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apps/cms/src/collections/Services.ts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3076" y="2606040"/>
            <a:ext cx="5225796" cy="2985897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5956" y="2752344"/>
            <a:ext cx="4860036" cy="269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const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Services: CollectionConfig =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slug: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'services'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admin: { useAsTitle: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'title'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access: { read: () =&gt; true, </a:t>
            </a:r>
            <a:r>
              <a:rPr lang="en-US" sz="11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/* … */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fields: [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name: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'title'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  type: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'text'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required: true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name: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'slug'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   type: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'text'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unique: true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name: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'summary'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type: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'textarea'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required: true, maxLength: 240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name: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'icon'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   type: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'select'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options: […]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name: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'order'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  type: 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'number'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},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PAYLOAD IN WORDPRESS VOCABULARY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3612354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collection file generates three things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admin panel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2402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field becomes a form control at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/admin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Change the file, restart, the form changes. No screen to click through.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008876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REST API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08876" y="22402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/api/services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exists the moment the collection is registered. Filtering, sorting and pagination are query params.</a:t>
            </a:r>
            <a:endParaRPr lang="en-US" sz="138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747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TypeScript types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404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generate:types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writes a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type the frontend imports. Rename a field and the build finds every use.</a:t>
            </a:r>
            <a:endParaRPr lang="en-US" sz="138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008876" y="34747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until it is registered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008876" y="3840480"/>
            <a:ext cx="4539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collection to the array in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payload.config.ts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or it does not exist. The most common step-1 failure.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10908792" cy="80695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303520"/>
            <a:ext cx="54864" cy="80695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449824"/>
            <a:ext cx="1045159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demo: add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name: 'tagline', type: 'text' }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Services.ts, restart the CMS, check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/admin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then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/api/services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THE VOCABULARY 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4063898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vocabulary map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PAYLOAD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ASTRO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Custom Post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collection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ACF field group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fields: [ … 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ACF Options Page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global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: one document, no list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Repeater / Post Object / Image / WYSIWYG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array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relationship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upload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richText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Gutenberg blocks, Flexible Content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blocks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component per block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save_post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sanitize_title()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beforeChange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beforeValidate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hooks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WP_Query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args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?where[slug][equals]=x&amp;sort=-date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getDocs('services', {…})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archive-*.php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single-*.php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pages/services/index.astro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[slug].astro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header.php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footer.php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template-parts/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layouts/Base.astro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/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components/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depth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: how far to populate relationships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PAYLOAD, THE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4515443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terms: collections and config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Collection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content type in one TypeScript file. Table, admin screen and API endpoint come free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CPT + ACF field group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Global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single document, not a list. /api/globals/profile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Options page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Document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row in a collection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post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Field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column: name, type, options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ACF field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slug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Two meanings: the collection's id (slug: 'projects'), or a field you define for URLs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type name / post_name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useAsTitle, admin.group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the list shows as the title; which sidebar heading it sits under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post_title, menu position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admin.position: 'sidebar'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Field goes in the right-hand column of the edit screen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sidebar meta box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read, create, update, delete. Functions returning true/false. read: () =&gt; true is public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current_user_can()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Hooks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beforeValidate, beforeChange, afterChange, afterRead. Collection or field level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save_post, the_content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payload.config.ts, registering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root config. A collection not in the collections array does not exist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functions.php, register_post_type()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 / upload collection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auth: true: documents can log in (users). upload: true: documents are files (media)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wp_users, Media Library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5168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PAYLOAD, THE FIELDS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4966987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terms: field types</a:t>
            </a:r>
            <a:endParaRPr lang="en-US" sz="3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text, textarea, number, select, checkbox, date, email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simple ones. select takes options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matching ACF types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Repeatable group of sub-fields. Nested fields: [ … ], minRows, maxRows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Repeater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group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Sub-fields under one name, once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Group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relationship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 to another collection. relationTo, hasMany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Object / Relationship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upload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 to a file in the media collection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Image / File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richText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Formatted content, edited with Lexical, stored as JSON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WYSIWYG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list where each item is one of several named shapes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Gutenberg / Flexible Content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tabs, row, collapsible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Layout only. Arrange the edit screen, store nothing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 / Accordion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required, unique, defaultValue, maxLength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Validation and defaults, as words in the file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ACF settings checkboxes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index: true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database index. Use on fields you filter by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Lexical, convertLexicalToHTML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editor, and the function that turns its JSON into HTML for Astro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TinyMCE, the_content filter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8216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PAYLOAD, THE API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–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27  ·  7:00 – 13:00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5418531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terms: REST API and data</a:t>
            </a:r>
            <a:endParaRPr lang="en-US" sz="3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/api/&lt;slug&gt;, /api/&lt;slug&gt;/&lt;id&gt;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List (paginated) and one by id. Generated, no code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/wp-json/wp/v2/…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/api/globals/&lt;slug&gt;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document, no list. Globals have their own path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/wp-json/acf/v3/options/…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filter: ?where[slug][equals]=x. Operators: equals, contains, in, like, greater_than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WP_Query args, meta_query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sort, limit, page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sort=-completedOn (minus means descending). Page size defaults to 10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orderby, posts_per_page, paged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Paginated response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 docs, totalDocs, page, totalPages, hasNextPage }. Your data is in docs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$query-&gt;posts, found_posts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depth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many levels of relationships to populate. 0 = ids, 1 = documents inline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populated, number | Service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relationship returned as a document. The type says it may be either; guard with typeof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generate:types, payload-types.ts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type per collection, from the config. Run after every field change; Astro imports them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Database adapter, push: true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db-sqlite here. push syncs the schema on boot, dev only; real projects use migrations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Seed, payload run, Local API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pnpm seed runs seed.ts with Payload booted; payload.create() directly, no HTTP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WP-CLI import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Versions, drafts, _status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versions: { drafts: true } adds draft/published and a history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status, revisions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5168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ASTRO IN WORDPRESS VOCABULARY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5870075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PHP at the top of the template is now the frontmatter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225796" cy="45720"/>
          </a:xfrm>
          <a:prstGeom prst="rect">
            <a:avLst/>
          </a:prstGeom>
          <a:solidFill>
            <a:srgbClr val="5AA9D6"/>
          </a:solidFill>
          <a:ln w="12700">
            <a:solidFill>
              <a:srgbClr val="5AA9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archive-service.php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5225796" cy="3064764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52344"/>
            <a:ext cx="4860036" cy="2772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&lt;?php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get_header();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$q =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WP_Query([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'post_type'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=&gt;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'orderby'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=&gt;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'menu_order'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]);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&lt;h1&gt;What we do&lt;/h1&gt;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&lt;div class="grid"&gt;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&lt;?php while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($q-&gt;have_posts()): $q-&gt;the_post();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get_template_part(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'template-parts/content'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endwhile; ?&gt;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&lt;?php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get_footer();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3076" y="1874520"/>
            <a:ext cx="5225796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3076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ASTRO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apps/web/src/pages/index.astro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3076" y="2606040"/>
            <a:ext cx="5225796" cy="3611880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5956" y="2752344"/>
            <a:ext cx="486003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Base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'@/layouts/Base.astro'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ServiceCard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'@/components/ServiceCard.astro'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 getDocs }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'@/lib/payload'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 docs: services } = </a:t>
            </a:r>
            <a:r>
              <a:rPr lang="en-US" sz="110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getDocs(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'services'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sort: 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'order'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&lt;Base title=</a:t>
            </a:r>
            <a:r>
              <a:rPr lang="en-US" sz="11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"Services"</a:t>
            </a: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&lt;h1&gt;What we do&lt;/h1&gt;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&lt;div class="grid"&gt;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{services.map((service) =&gt;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&lt;ServiceCard service={service} /&gt;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))}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&lt;/div&gt;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&lt;/Base&gt;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ASTRO IN WORDPRESS VOCABULARY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6321620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File-based routing replaces the template hierarchy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474643" cy="914400"/>
        </p:xfrm>
        <a:graphic>
          <a:graphicData uri="http://schemas.openxmlformats.org/drawingml/2006/table">
            <a:tbl>
              <a:tblPr/>
              <a:tblGrid>
                <a:gridCol w="2737322"/>
                <a:gridCol w="273732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RESOLVES…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ASTRO: THE FILE IS THE ROUTE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/services/</a:t>
                      </a:r>
                      <a:r>
                        <a:rPr lang="en-US" sz="115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→ </a:t>
                      </a: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archive-service.php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pages/services/index.astro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/services/web-dev/</a:t>
                      </a:r>
                      <a:r>
                        <a:rPr lang="en-US" sz="115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→ </a:t>
                      </a: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single-service.php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pages/services/[slug].astro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 → </a:t>
                      </a: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404.php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404.astro</a:t>
                      </a:r>
                      <a:r>
                        <a:rPr lang="en-US" sz="115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or return a 404 </a:t>
                      </a:r>
                      <a:r>
                        <a:rPr lang="en-US" sz="106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Response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78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rewrite rules, </a:t>
                      </a:r>
                      <a:r>
                        <a:rPr lang="en-US" sz="106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flush_rewrite_rules()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 thing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282440"/>
            <a:ext cx="5474643" cy="77266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282440"/>
            <a:ext cx="54864" cy="77266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428744"/>
            <a:ext cx="501744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square brackets in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[slug].astro</a:t>
            </a: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are the dynamic segment.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Astro.params.slug</a:t>
            </a: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value.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71923" y="1874520"/>
            <a:ext cx="4976949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pages/services/[slug].astro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71923" y="2175002"/>
            <a:ext cx="4976949" cy="2784348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54803" y="2321306"/>
            <a:ext cx="4611189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{ slug } = Astro.params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service = </a:t>
            </a: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await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getDocBySlug(</a:t>
            </a:r>
            <a:r>
              <a:rPr lang="en-US" sz="11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'services'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slug)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(!service)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1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return new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Response(null, { status: 404 })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&lt;Base title={service.title}&gt;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&lt;h1&gt;{service.title}&lt;/h1&gt;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&lt;p&gt;{service.summary}&lt;/p&gt;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&lt;/Base&gt;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THE QUERY, AND THE ONE IDEA WITH NO WP NAME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6773164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Querying: </a:t>
            </a:r>
            <a:r>
              <a:rPr lang="en-US" sz="29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</a:t>
            </a:r>
            <a:r>
              <a:rPr lang="en-US" sz="2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query string, </a:t>
            </a:r>
            <a:r>
              <a:rPr lang="en-US" sz="29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</a:t>
            </a:r>
            <a:r>
              <a:rPr lang="en-US" sz="29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relationships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225796" cy="45720"/>
          </a:xfrm>
          <a:prstGeom prst="rect">
            <a:avLst/>
          </a:prstGeom>
          <a:solidFill>
            <a:srgbClr val="5AA9D6"/>
          </a:solidFill>
          <a:ln w="12700">
            <a:solidFill>
              <a:srgbClr val="5AA9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relationship field gives you IDs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5225796" cy="1461135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52344"/>
            <a:ext cx="4860036" cy="1168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$ids = get_field(</a:t>
            </a:r>
            <a:r>
              <a:rPr lang="en-US" sz="125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'services'</a:t>
            </a: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);   </a:t>
            </a:r>
            <a:r>
              <a:rPr lang="en-US" sz="12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[3, 1]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foreach</a:t>
            </a: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($ids </a:t>
            </a:r>
            <a:r>
              <a:rPr lang="en-US" sz="1250" dirty="0">
                <a:solidFill>
                  <a:srgbClr val="5AA9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$id)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$post = get_post($id);          </a:t>
            </a:r>
            <a:r>
              <a:rPr lang="en-US" sz="12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one query each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echo $post-&gt;post_title;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76903"/>
            <a:ext cx="5225796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related post is a separate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get_post()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call and a separate query.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3076" y="1874520"/>
            <a:ext cx="5225796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3076" y="2002536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2313432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/api/projects?depth=1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3076" y="2606040"/>
            <a:ext cx="5225796" cy="2416302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5956" y="2752344"/>
            <a:ext cx="4860036" cy="212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"title"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"Harbour Ferries Booking"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"services"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"id"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1,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"slug"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"web-development"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"title"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</a:t>
            </a:r>
            <a:r>
              <a:rPr lang="en-US" sz="1300" dirty="0">
                <a:solidFill>
                  <a:srgbClr val="7E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"Web Development"</a:t>
            </a: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…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depth=0 → "services": [1]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depth=1 → populated one level, as above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5132070"/>
            <a:ext cx="5225796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generated type is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number | Service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an id at depth 0, a document at depth 1. Guard with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typeof s === 'object'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ASTRO, THE 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7224708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terms: the .astro file</a:t>
            </a:r>
            <a:endParaRPr lang="en-US" sz="3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.astro file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component. Server code on top, HTML below. Pages and components are both .astro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.php template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Frontmatter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Between the --- fences. Runs on the server, never in the browser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PHP at the top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Template, expression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Below the fence. HTML with {js} inside. {items.map(…)} is the loop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&lt;?= $x ?&gt;, foreach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.astro file in src/components, used as a tag with attributes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get_template_part()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Props, interface Props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values passed in. Astro.props. Declare their types with interface Props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$args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 (the global)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Astro.props, Astro.params, Astro.url, Astro.request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$post, get_query_var()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Layout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component wrapping a whole page. &lt;Base title="…"&gt;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get_header() + get_footer()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Slot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children go. &lt;slot /&gt;. Named: &lt;slot name="head" /&gt;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wp_head(), roughly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Scoped &lt;style&gt;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Styles in a component only apply to that component's HTML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set:html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Render a string as HTML. For rich text. Trust the source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echo without escaping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@/ and @cms/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 aliases: @/ is src/, @cms/payload-types is the CMS types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get_template_directory()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5168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ASTRO, ROUTES AND RENDERING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7676253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terms: routing and rendering</a:t>
            </a:r>
            <a:endParaRPr lang="en-US" sz="3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Page, file-based routing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.astro file in src/pages. Its path is its URL. No hierarchy, no rewrite rules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Template hierarchy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[slug].astro, Astro.params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Dynamic segment in brackets; Astro.params.slug is the value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single-*.php, get_query_var()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[...path].astro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Matches any depth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Catch-all rewrite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Response, Astro.redirect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Return one from the frontmatter: new Response(null, { status: 404 })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status_header(), wp_redirect()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Endpoint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.ts file in pages/ exporting GET or POST. An API route in the web app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admin-ajax.php, a REST route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Middleware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src/middleware.ts. Runs before every request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template_redirect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Rendered per request. Content changes show on refresh. Our setting: output: 'server'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WordPress always works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SSG, prerender, getStaticPaths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Built once to HTML files. prerender = true per page; getStaticPaths lists the URLs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full-page cache, done properly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Adapter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Lets an SSR site run somewhere: Node, Vercel, Cloudflare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hosting-specific part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 dev / build / preview / check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Dev server, production build, serve the build, typecheck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 server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 7 daemon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 an AI agent, astro dev backgrounds itself. astro dev logs / status / stop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516880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JARGON · ASTRO, THE BROWSER SIDE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27  ·  13:00 – 19:00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8127797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Astro terms: client-side, and the collections name clash</a:t>
            </a:r>
            <a:endParaRPr lang="en-US" sz="3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IS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20" kern="0" dirty="0">
                          <a:solidFill>
                            <a:srgbClr val="5AA9D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WORDPRESS WORD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JS by default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JavaScript ships unless you ask. A page of .astro components is plain HTML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opposite of most themes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Island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interactive component on a static page. React, Svelte, Vue, or plain &lt;script&gt;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block with its own JS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Hydration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Loading the JS that makes an island interactive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wp_enqueue_script(), roughly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client:load / idle / visible / only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When to hydrate: now, when idle, when scrolled into view, or skip server rendering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&lt;script&gt; in a component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Plain client JS. Astro bundles and dedupes 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wp_enqueue_script()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Integration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Official add-ons: @astrojs/react, sitemap, node. Listed in astro.config.mjs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plugin, frontend side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astro:assets, &lt;Image&gt;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Astro's image component. Resizes and optimises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wp_get_attachment_image()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import.meta.env, PUBLIC_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 vars. Only PUBLIC_-prefixed ones reach the browser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A9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getenv()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collections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clash: Astro's own "collections" for local Markdown files. Not Payload's. We have none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View transitions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Animated navigation between pages. Opt-in. Not today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38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equivalent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388864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list with longer definitions: docs/GLOSSARY.md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984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1 · SIMILAR, DIFFERENT, NEW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– 19 min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27  ·  13:00 – 19:00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8579341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concepts, different architecture, three new terms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22904" cy="45720"/>
          </a:xfrm>
          <a:prstGeom prst="rect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MAPS ONE TO ONE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368296"/>
            <a:ext cx="342290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CPT →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collection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ACF field group →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fields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page →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global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 / single template →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pages/…/index.astro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[slug].astro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part → component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save_post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beforeChange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3024" y="1874520"/>
            <a:ext cx="3422904" cy="45720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3024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DIFFERENT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383024" y="2368296"/>
            <a:ext cx="342290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model is a file in git, not rows in a database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Types flow from the CMS into the frontend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frontend has no database and no credentials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template hierarchy: the folder is the URL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npm packages in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package.json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instead of plugins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5968" y="1874520"/>
            <a:ext cx="3422904" cy="45720"/>
          </a:xfrm>
          <a:prstGeom prst="rect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5968" y="2039112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NEW, NO WORDPRESS NAME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25968" y="2368296"/>
            <a:ext cx="3422904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depth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how far relationships are populated</a:t>
            </a:r>
            <a:endParaRPr lang="en-US" sz="138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types, and the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number | Service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</a:t>
            </a:r>
            <a:endParaRPr lang="en-US" sz="138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vs collection: one document vs a list</a:t>
            </a:r>
            <a:endParaRPr lang="en-US" sz="138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SSR vs SSG: per request, or built once</a:t>
            </a:r>
            <a:endParaRPr lang="en-US" sz="13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2 · PREREQUISITES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– 24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27  ·  19:00 – 24:00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9030885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Prerequisites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74520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 22+ 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node -v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2333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packages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286762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pnpm 9+ 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corepack enable</a:t>
            </a:r>
            <a:r>
              <a:rPr lang="en-US" sz="15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355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vcs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699004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git, and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jq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the safety hooks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4782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editor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111246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 + the Astro extension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0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523488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Code, logged in with your Teams seat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7230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935730"/>
            <a:ext cx="4285923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PHP and HTML. TypeScript basics help, but are not required.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71923" y="1874520"/>
            <a:ext cx="4976949" cy="1978152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54803" y="2020824"/>
            <a:ext cx="4611189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…/astro-payload-workshop.git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astro-payload-workshop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install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setup      </a:t>
            </a:r>
            <a:r>
              <a:rPr lang="en-US" sz="11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.env files, git hooks, types, seed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doctor     </a:t>
            </a:r>
            <a:r>
              <a:rPr lang="en-US" sz="11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every line ✔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dev        </a:t>
            </a:r>
            <a:r>
              <a:rPr lang="en-US" sz="11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cms :3300, web :4321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0</a:t>
            </a:r>
            <a:r>
              <a:rPr lang="en-US" sz="11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r>
              <a:rPr lang="en-US" sz="115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the first gate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71923" y="4017264"/>
            <a:ext cx="4976949" cy="77266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1923" y="4017264"/>
            <a:ext cx="54864" cy="77266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46243" y="4163568"/>
            <a:ext cx="451974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0</a:t>
            </a: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must pass before step 1. Each ✘ line names the failing check and the fix.</a:t>
            </a:r>
            <a:endParaRPr lang="en-US" sz="12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2 · HOW YOU WILL 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– 24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27  ·  19:00 – 24:00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9482430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rules, enforced by the gate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mode first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2402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Shift+Tab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before anything that touches more than one file. You see the plan, then the diff.</a:t>
            </a:r>
            <a:endParaRPr lang="en-US" sz="124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008876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every diff before you accept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08876" y="22402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files changed, and did I ask for all of them? What breaks without this? Could I do it by hand tomorrow?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76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223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Ticket-style prompts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880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the step from the brief, acceptance criteria included. Underspecified prompts produce underspecified diffs.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3276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008876" y="33223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only when the gate is green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08876" y="36880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N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then the exact message with its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(step N)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tag. The commit hooks refuse a tagged commit while the step is red.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2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701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for the explanation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358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you could not reproduce by hand tomorrow, ask "why" until you could.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472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!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008876" y="47701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bypass the hooks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08876" y="5135880"/>
            <a:ext cx="453999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edit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.claude/hooks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scripts/verify.mjs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or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.env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never add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--no-verify</a:t>
            </a:r>
            <a:r>
              <a:rPr lang="en-US" sz="135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If Claude proposes that as the fix, the fix is wrong.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2 · WHAT THE REPO ALREADY GIVES YOU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– 24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27  ·  19:00 – 24:00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9933974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already in the repo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892808"/>
            <a:ext cx="81838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33956"/>
            <a:ext cx="81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1874520"/>
            <a:ext cx="4377363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layout, commands, conventions and the vocabulary map. What Claude reads every session. Read it once.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44343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85491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726055"/>
            <a:ext cx="4377363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/payload-new-collection projects</a:t>
            </a: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step 1,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/payload-new-global profile</a:t>
            </a: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step 5. Run them, then read what they made.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40080" y="3595878"/>
            <a:ext cx="54406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37026"/>
            <a:ext cx="544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hooks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577590"/>
            <a:ext cx="4377363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Refuse edits to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.env</a:t>
            </a: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secrets and generated files, and dangerous commands. A blocked action means the change was wrong, not the hook.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47413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FCF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488561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29125"/>
            <a:ext cx="4377363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N</a:t>
            </a: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gate. </a:t>
            </a:r>
            <a:r>
              <a:rPr lang="en-US" sz="124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--status</a:t>
            </a:r>
            <a:r>
              <a:rPr lang="en-US" sz="135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shows where you are. The facilitator checks it during the walk-around.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6571923" y="1874520"/>
            <a:ext cx="4976949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copy, do not invent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71923" y="2175002"/>
            <a:ext cx="4976949" cy="1302258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4803" y="2321306"/>
            <a:ext cx="116128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FCF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54803" y="236245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25819" y="2284730"/>
            <a:ext cx="33401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754803" y="2677922"/>
            <a:ext cx="4611189" cy="70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Services.ts</a:t>
            </a: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index.astro</a:t>
            </a: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services/[slug].astro</a:t>
            </a: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ServiceCard.astro</a:t>
            </a: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Every step is "like Services, but for Projects".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1923" y="3641852"/>
            <a:ext cx="4976949" cy="1302258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54803" y="3788156"/>
            <a:ext cx="81838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9EA7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54803" y="3829304"/>
            <a:ext cx="81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682919" y="3751580"/>
            <a:ext cx="3683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wordpress-reference/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754803" y="4144772"/>
            <a:ext cx="4611189" cy="70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WordPress portfolio you are porting: CPT, ACF exports, templates, options page, sample SQL. It does not run. It is the spec.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71923" y="5108702"/>
            <a:ext cx="4976949" cy="1087628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4803" y="5255006"/>
            <a:ext cx="81838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54803" y="5296154"/>
            <a:ext cx="81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Installer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682919" y="5218430"/>
            <a:ext cx="3683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claude-kit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754803" y="5611622"/>
            <a:ext cx="4611189" cy="49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Installed the hooks, rules, skills and CLAUDE.md. Same layers as the standards deck.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5272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· THE GOAL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– 30 min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27  ·  24:00 – 30:00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0385518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state after 60 minutes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/admin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874520"/>
            <a:ext cx="428592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Projects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collection with three projects you built, and a </a:t>
            </a: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global with your name, headline, bio and links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1863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/projects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782062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 page, newest first, one card per project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30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/projects/…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194304"/>
            <a:ext cx="4285923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 page: client, role, stack, highlights, links. 404 on a bad slug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907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/about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854196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profile, from the global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0301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266438"/>
            <a:ext cx="4285923" cy="55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stays as the worked example you copied from, for now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71923" y="1874520"/>
            <a:ext cx="4976949" cy="125272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1923" y="1874520"/>
            <a:ext cx="54864" cy="125272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46243" y="2020824"/>
            <a:ext cx="45197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Ported from a WordPress portfolio you can read in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wordpress-reference/</a:t>
            </a: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Project CPT, its ACF group, three templates and an options page. Same content model, new stack.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71923" y="3291840"/>
            <a:ext cx="4976949" cy="1302258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4803" y="3438144"/>
            <a:ext cx="818388" cy="237744"/>
          </a:xfrm>
          <a:prstGeom prst="roundRect">
            <a:avLst>
              <a:gd name="adj" fmla="val 50000"/>
            </a:avLst>
          </a:prstGeom>
          <a:solidFill>
            <a:srgbClr val="14171D"/>
          </a:solidFill>
          <a:ln w="9525">
            <a:solidFill>
              <a:srgbClr val="6EA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54803" y="3479292"/>
            <a:ext cx="81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A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Take-home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682919" y="3401568"/>
            <a:ext cx="3683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7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754803" y="3794760"/>
            <a:ext cx="4611189" cy="70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</a:t>
            </a:r>
            <a:r>
              <a:rPr lang="en-US" sz="1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home page from the profile and the newest projects. Deploy it. Bring the URL to the follow-up, where we do deployment properly and review the portfolios.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566928"/>
            <a:ext cx="128016" cy="128016"/>
          </a:xfrm>
          <a:prstGeom prst="ellipse">
            <a:avLst/>
          </a:prstGeom>
          <a:solidFill>
            <a:srgbClr val="7ED3A0"/>
          </a:solidFill>
          <a:ln w="12700">
            <a:solidFill>
              <a:srgbClr val="7ED3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5272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· THE LADDER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– 30 min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27  ·  24:00 – 30:00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0837062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ladder: eight steps, each with a gate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002536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 · before today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258568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Prerequisites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606040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Tools, servers up, worked example renders.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3854" y="1874520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8446" y="2002536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 · 10 min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68446" y="2258568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Projects collection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8446" y="2606040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CPT + ACF →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Projects.ts</a:t>
            </a: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Public read, typed.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7628" y="1874520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2220" y="2002536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 · 6 min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32220" y="2258568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your projects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32220" y="2606040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real projects, idempotent seed.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31402" y="1874520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5994" y="2002536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 · 8 min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095994" y="2258568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 page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95994" y="2606040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/projects</a:t>
            </a: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newest first, typed card.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21024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3749040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 · 8 min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005072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 page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4352544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/projects/[slug]</a:t>
            </a: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stats grid, 404.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3854" y="3621024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8446" y="3749040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5 · 10 min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68446" y="4005072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 + About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68446" y="4352544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page → global →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/about</a:t>
            </a: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67628" y="3621024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32220" y="3749040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6 · 15 min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32220" y="4005072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stretch cards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32220" y="4352544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Image, rich text, SEO, relationship, blocks, hooks. </a:t>
            </a:r>
            <a:r>
              <a:rPr lang="en-US" sz="11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31402" y="3621024"/>
            <a:ext cx="2617470" cy="1600200"/>
          </a:xfrm>
          <a:prstGeom prst="rect">
            <a:avLst/>
          </a:prstGeom>
          <a:solidFill>
            <a:srgbClr val="1B1F27"/>
          </a:solidFill>
          <a:ln w="9525">
            <a:solidFill>
              <a:srgbClr val="6EA3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95994" y="3749040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A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7 · take-home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095994" y="4005072"/>
            <a:ext cx="2288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page + deploy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095994" y="4352544"/>
            <a:ext cx="22882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gated. Due before the follow-up.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5410962"/>
            <a:ext cx="10908792" cy="80695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5410962"/>
            <a:ext cx="54864" cy="80695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557266"/>
            <a:ext cx="1045159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N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runs steps 0 to N in order and stops at the first red. A commit tagged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(step N)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refused until N is green.</a:t>
            </a:r>
            <a:endParaRPr lang="en-US" sz="13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· HOW TO RUN A 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– 30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27  ·  24:00 – 30:00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11288607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step is a ticket: paste it as the prompt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474643" cy="3494151"/>
          </a:xfrm>
          <a:prstGeom prst="rect">
            <a:avLst/>
          </a:prstGeom>
          <a:solidFill>
            <a:srgbClr val="0E1014"/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20824"/>
            <a:ext cx="5108883" cy="320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a Payload collection </a:t>
            </a:r>
            <a:r>
              <a:rPr lang="en-US" sz="105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projects</a:t>
            </a: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apps/cms/src/collections/Projects.ts, following the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conventions in CLAUDE.md and the pattern in Services.ts.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Fields: title (text, required), slug (text, required,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unique, sidebar, auto from title), client (text, required),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 (text, required), summary (textarea, required, max 240),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projectUrl + repoUrl (text, sidebar),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completedOn (date, required, sidebar),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 (array 1–8 of name:text),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highlights (array 1–4 of value:text + label:text).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Access: public read, everything else requires a user.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 group "Content", useAsTitle title.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Register it in payload.config.ts, run pnpm generate:types.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Acceptance:</a:t>
            </a:r>
            <a:r>
              <a:rPr lang="en-US" sz="1050" dirty="0">
                <a:solidFill>
                  <a:srgbClr val="ECEE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pnpm verify 1 is green.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71923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029123" y="1874520"/>
            <a:ext cx="4519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29123" y="2176272"/>
            <a:ext cx="4519749" cy="45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exact file. Otherwise Claude picks a path and you review a guess.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71923" y="27078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029123" y="2744470"/>
            <a:ext cx="4519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 to copy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29123" y="3046222"/>
            <a:ext cx="4519749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"Like Services.ts" carries more than a paragraph of prose.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71923" y="33714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29123" y="3408045"/>
            <a:ext cx="4519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What, precisely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29123" y="3709797"/>
            <a:ext cx="4519749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Field names and types, straight from the ACF export.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71923" y="403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29123" y="4071620"/>
            <a:ext cx="4519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Acceptance criteria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29123" y="4373372"/>
            <a:ext cx="4519749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gate. Without it there is no definition of done.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71923" y="4735195"/>
            <a:ext cx="4976949" cy="77266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1923" y="4735195"/>
            <a:ext cx="54864" cy="772668"/>
          </a:xfrm>
          <a:prstGeom prst="rect">
            <a:avLst/>
          </a:prstGeom>
          <a:solidFill>
            <a:srgbClr val="6EA3FF"/>
          </a:solidFill>
          <a:ln w="12700">
            <a:solidFill>
              <a:srgbClr val="6EA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46243" y="4881499"/>
            <a:ext cx="451974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Green?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"feat(cms): add projects collection (step 1)"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3 · BEFORE YOU GET STUCK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– 30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27  ·  24:00 – 30:00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11740151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failures and their causes</a:t>
            </a:r>
            <a:endParaRPr lang="en-US" sz="3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563566"/>
                <a:gridCol w="5487122"/>
                <a:gridCol w="28581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YOU SEE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IT MEANS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20" kern="0" dirty="0">
                          <a:solidFill>
                            <a:srgbClr val="9EA7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DO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"Collection not found" from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/api/projects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registered in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payload.config.ts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it to the array. Restart the CMS.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Astro does not know the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Project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 were not regenerated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pnpm generate:types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then restart the Astro language server.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Related services render as numbers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Depth 0, or the </a:t>
                      </a: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number | Service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union is unhandled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depth: 1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in the query,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typeof s === 'object'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guard.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 Bash command Claude runs is blocked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CF3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jq</a:t>
                      </a: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is missing and the safety hook fails closed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brew install jq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restart Claude Code. This is why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pnpm doctor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exists.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pnpm verify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is red on a criterion you think you met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F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 is checking the running server, not your file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the </a:t>
                      </a:r>
                      <a:r>
                        <a:rPr lang="en-US" sz="1100" dirty="0">
                          <a:solidFill>
                            <a:srgbClr val="ECEEF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→</a:t>
                      </a:r>
                      <a:r>
                        <a:rPr lang="en-US" sz="1200" dirty="0">
                          <a:solidFill>
                            <a:srgbClr val="ECEE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hint line; it names the file or command. Usually: restart the CMS, or regenerate types.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266944"/>
            <a:ext cx="10908792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full table is in </a:t>
            </a:r>
            <a:r>
              <a:rPr lang="en-US" sz="129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docs/FACILITATOR_GUIDE.md</a:t>
            </a: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Every row has a cause and a fix.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6B7385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WEBEE L&amp;D · ASTRO + PAYLOAD WITH CLAUDE CODE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27  ·  30:00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Start: pnpm dev, pnpm verify 0, plan mode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74520"/>
            <a:ext cx="42859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dev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395728"/>
            <a:ext cx="42859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pnpm verify 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53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916936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http://localhost:4321</a:t>
            </a:r>
            <a:endParaRPr lang="en-US" sz="138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6575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329178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http://localhost:3300/admin</a:t>
            </a:r>
            <a:endParaRPr lang="en-US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779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741420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admin@webee.local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/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workshop123</a:t>
            </a:r>
            <a:endParaRPr lang="en-US" sz="138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9023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153662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docs/TASK_BRIEF.md</a:t>
            </a:r>
            <a:endParaRPr lang="en-US" sz="138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02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565904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docs/GLOSSARY.md</a:t>
            </a:r>
            <a:endParaRPr lang="en-US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1472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source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978146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wordpress-reference/</a:t>
            </a:r>
            <a:endParaRPr lang="en-US" sz="138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269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7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5390388"/>
            <a:ext cx="4285923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</a:t>
            </a:r>
            <a:r>
              <a:rPr lang="en-US" sz="1380" dirty="0">
                <a:solidFill>
                  <a:srgbClr val="FFCF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r>
              <a:rPr lang="en-US" sz="15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hint line, then ask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71923" y="1874520"/>
            <a:ext cx="4976949" cy="1252728"/>
          </a:xfrm>
          <a:prstGeom prst="rect">
            <a:avLst/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1923" y="1874520"/>
            <a:ext cx="54864" cy="1252728"/>
          </a:xfrm>
          <a:prstGeom prst="rect">
            <a:avLst/>
          </a:prstGeom>
          <a:solidFill>
            <a:srgbClr val="FFCF3F"/>
          </a:solidFill>
          <a:ln w="12700">
            <a:solidFill>
              <a:srgbClr val="FFCF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46243" y="2020824"/>
            <a:ext cx="45197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prompt, everyone, before anything else: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CEE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"Explain the layout of this repo and how apps/web gets data from apps/cms, in five bullet points."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71923" y="3291840"/>
            <a:ext cx="4976949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7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people read Claude's answer aloud. Then step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WordPress to Astro + Payload</dc:title>
  <dc:subject>PptxGenJS Presentation</dc:subject>
  <dc:creator>Webee L&amp;D</dc:creator>
  <cp:lastModifiedBy>Webee L&amp;D</cp:lastModifiedBy>
  <cp:revision>1</cp:revision>
  <dcterms:created xsi:type="dcterms:W3CDTF">2026-09-25T06:50:42Z</dcterms:created>
  <dcterms:modified xsi:type="dcterms:W3CDTF">2026-09-25T06:50:42Z</dcterms:modified>
</cp:coreProperties>
</file>