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room, not the slides. Ask who has built an ACF field group in the last month. Most hands go up. Tell them: by the end of the hour you will have built the same thing in a TypeScript file, it will have given you an admin panel, a JSON API and a typed frontend for free, and it will be the first slice of a portfolio site that is yours.
Set expectations: 30 minutes of talk in three parts. What is the same and what is different. What you need before you start. What you are building and how the ladder works. Then 60 minutes of doing, each on your own laptop, with a gate at every step. Nobody is expected to understand everything from the slides. The slides exist so the doing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bash WordPress. Half the room is proud of their WP work and rightly so. The framing is: WP made a trade that was correct in 2010. Content model in a database so non-devs could build it. We are a dev shop, and for us that trade now costs more than it gives.
Pick one real Webee example for the nine-second line if you have one. A real client name lands harder than a made-up number.
Say the shape of the next 19 minutes: everything you know has a name on the new stack. We go through the names, Payload first, then Astro, then one slide that sorts them into same, different and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slide. Keep it to ninety seconds and say the honest version: WordPress is still the right answer for a site a non-developer must build and run alone, and for a client who wants a theme marketplace. We are a development shop with clients who pay for performance, security and change requests. For that work, the six reasons on this slide are why the stack changed.
Reason 3 is the one that connects to everything after it. The rest of the talk is what it looks like when the content model is code. Reasons 1 and 2 are the ones clients feel. Reason 5 is the one management asked about.
If someone objects that WordPress can be headless too, agree: it can, and that is the half-step many teams took first. The difference is that the model still lives in a database and the frontend still reads untyped JSON. Payload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Every following slide has a coloured dot in the top-left saying which idea it serves. Point that out now so they track it. Yellow is idea 1, green is idea 2, blue is idea 3.
Say explicitly: if you leave with only these three sentences, this session worked. Come back to this slide in the debrief and ask them to say the three ideas without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equivalent: this is headless WordPress, except the CMS side is defined in files instead of in wp-admin, and the API is typed. If anyone has done WP REST plus a JS frontend, they already know this shape.
Stress the pipe. The only thing that crosses between the two apps is JSON over HTTP. That is why Astro never needs database credentials and why you can swap either side later.
Check: ask "where does the password for the database live?" Answer: only in apps/cms. If someone says "both", the pipe idea has not landed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jargon slide. Thirty seconds. The point is only that when pnpm, Turbopack or Vite appears in a terminal, nobody thinks something is broken. Say: every word on this and the next six slides is in docs/GLOSSARY.md with its WordPress equivalent; keep it open this afternoon.
Point at two rows: typecheck (the fastest test they will ever have) and .env (the one file Claude is not allowed to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right column line by line, and for each line say the WordPress word. slug is the post type name. useAsTitle is what shows in the list table. access is the capability check. fields is the ACF group.
Point at required and maxLength. In ACF those are checkboxes on a settings screen. Here they are two words a reviewer can see in a diff.
Then say the sentence: "There is no separate ACF export. This file is the export." Pause on it. Services is the worked example in the repo; step 1 this afternoon is the same file for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round trip and the most important five minutes of the talk. Do it by hand, no Claude, slowly.
Predict before reveal: before you refresh /admin, ask "what will be different?" Before you refresh /api/services, ask "will tagline be in the JSON already, or only after I fill it in?" (It is there as null immediately for existing docs. That surprises people and teaches that the shape comes from the file, not the data.)
Then add one line to ServiceCard.astro to render the tagline and refresh the site. That is the whole architecture demonstrated end to end.
Remember to remove the tagline field before the hands-on, or leave it and mention it. Either is fine, just do not leave a broken state. The gate for step 0 counts four service cards; an extra field does not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Tell them it is in wordpress-reference/README.md in full, and every other word is in docs/GLOSSARY.md; the next three slides are the short version. Point at three rows only.
Row: Options Page. New this time. The Profile page of the portfolio is an ACF options page in the WordPress reference, and a Global in Payload. Step 5 is that port.
Row: WP_Query. The where syntax looks odd in a URL but it is meta_query with the nesting made explicit.
Row: depth. This is the one concept with no WordPress name. In WP a relationship field gives you an ID and you call get_post yourself. In Payload, depth=1 says "populate one level of related documents in the same response". It will bite them in stretch card A, so plant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it. Point at slug: it has two meanings and Claude will use both in one sentence. Point at registering: the first failure everyone hits. Point at Global: step 5 uses one, and the API path is different from a collection.
Hooks: same word as WordPress, same idea. Not the same as Claude Code hooks, which come in part 2; name the clash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ACF field type dropdown, renamed. Most of the room will relax here. Point at array (the nested fields trip people up in step 1: stack and highlights are both arrays) and at richText: the output is JSON, not HTML, which is why card C needs convertLexicalToHTML.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rows have no WordPress word, and they are the four that will cost time this afternoon: depth, the union type, generate:types, and push. You have already shown depth on the vocabulary map; say the other three once each.
Paginated response: the mistake is treating the response as the array. The array is docs. Globals are not paginated: the response is the document itself. Step 5 meets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it line by line, this is the slide WP devs relax on. The dashes fence off the frontmatter: that is the PHP block at the top of the template. WP_Query becomes getDocs. get_header and get_footer become the Base layout wrapping the page. get_template_part becomes a component with a prop. The while loop becomes a map.
One difference worth naming: the frontmatter runs on the server at request time, and never in the browser. Nothing in it ships to the client.
Explain-back, 90 seconds: turn to the person next to you and tell them how a Service gets from the collection file to a card on this page. Pick two people to say it out loud. You are listening for the words file, admin, JSON, fetch,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WP devs carry the template hierarchy diagram in their heads. Tell them they can delete it. The URL is the folder path, full stop. No rewrite rules, no flushing permalinks, no guessing which of six candidate files won.
Point at the 404 line. In WP a missing post silently falls through to the archive or the 404 template. Here you decide, in code, in one line. Step 4 of the ladder has a gate check for this exact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Depth is the concept most likely to confuse them in the hands-on, because it has no WordPress word. Spend a real minute here.
The union type number | Service is the payoff of idea 1. The type is honest: at depth 0 you get an id, at depth 1 you get the document. The compiler makes you handle both. In PHP you would find out in production.
Check: "If I set depth=2 on a project, what comes back inside each service?" Answer: whatever the service relates to, populated. Most will get it; the ones who do not will meet it in card A and now have a name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have just seen the frontmatter slide, so this one is fast. Point at slot (the thing Base.astro does that get_header cannot) and set:html (the only place today where unescaped HTML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SSR versus SSG is the one they will be asked about by a client. Say it once: we are SSR today so edits show on refresh; production sites are usually static plus a rebuild hook, which is the cache-plugin problem solved at build time. The adapter row is what the take-home deployment needs.
The daemon row is there because Claude Code will hit it in the first ten minutes and it looks like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on this slide is used today. It is here because these words are in every Astro tutorial and Claude will mention islands unprompted. Spend the time on the name clash: when a doc or Claude says "collection", ask which one. Payload collections live in apps/cms; Astro content collections would live in apps/web/src/content and we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of part 1 and the slide to leave on screen if someone asks "so what actually changes?". Three columns, read the headings only, then one line each.
Left column: everything you have built in WordPress has a place to go. Middle: the five things that feel strange for a week and then feel obvious. Right: the four words that have no WordPress equivalent; when someone gets stuck this afternoon, it is usually one of these.
Check: ask "which column does a slug go in?" Trick question, it is in the first column twice: post_name maps to a field you define, and the post type name maps to the collection slug. If someone says that, part 1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five minutes. Everyone in the room should have done this already; it is in the prep checklist. Say the left column fast and the right column slowly.
pnpm doctor checks the tools, the .env files, the database, the ports and that the git hooks are wired. pnpm verify 0 checks the servers are actually up and the worked example renders. That is step 0 of the ladder and it is the only step that should already be green when you say "go".
Check: "who has verify 0 green right now?" Anyone who does not raise a hand gets the offline node_modules archive and five minutes while you do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Claude Code standards they have already seen, with one addition: rule 4 is now enforced by a script, not by culture. Say that plainly. pnpm verify N runs the acceptance criteria for steps 0 to N, in order, against your running servers and your git log, and stops at the first red. A commit tagged (step N) is refused by the hooks until N is green. Removing the tag to get around it just leaves verify red, and you will see it.
The framing that works with juniors: Claude is faster than you and knows more syntax than you, and it is also wrong in ways that look confident. That is exactly what a junior on your team is. You would not merge a junior's PR unread. Same rule.
Rule 6: Claude will occasionally propose editing the hook or the verify script as the fix, calmly and confidently. Naming it in advance means someone in the room will catch it and enjoy catching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to the standards talk they have already seen. Same layers, same colours. Today they only need what is on this slide.
Open CLAUDE.md on the projector and scroll. It is short. Point at the Conventions section and say: this is why Claude will write the collection the way Services.ts is written. If it does not, the first question is "did you read CLAUDE.md?"
Run pnpm verify --status on the projector so they know what it looks like. Seven rows, a tick or a cross each. You will be looking at that screen on their laptops all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six minutes. This is the slide that answers "why do I care?". Say: you are not porting a client feature, you are porting your portfolio, and the sample projects in the reference are placeholders for three things you have actually built. WordPress sites count.
Be honest about the home page: it stays as the Services worked example today because the ladder needs a stable worked example to copy from. The take-home is to replace it, and to put the site somewhere with a URL. That is what the follow-up session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ladder once, top to bottom, ten seconds a step. Then say the callout sentence out loud, slowly, twice. That sentence is the whole discipline of the afternoon.
Timing: you will call time at 10, 25, 40 and 55 minutes. Steps 1 to 4 are the port; steps 5 and 6 are where it becomes theirs. Anyone who is still on step 2 at 25 minutes gets you at their desk, not a hint from across the room.
Stretch cards, one sentence each: A relationship to services, B hero image, C rich text story, D SEO group, E blocks, F hooks, G run the code reviewer on your own work. Nudge WP devs to B or C, JS devs to E or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step 1 from the brief, as a prompt. Run it live on the projector in plan mode. Let the plan appear. Read the plan out loud. Then accept and let the diff scroll, and stop it at one point to ask the room a question about a line. Then run pnpm verify 1 on the projector and let them watch it go green, then commit with the tagged message and let them watch the gate run again inside the hook.
Predict: before you run it, ask "which files will this touch?" Expected: the new collection file, payload.config.ts, payload-types.ts. If someone says "the Astro app", ask why not. (Nothing in the prompt asked for it, and a good diff does not include things nobody asked for.)
Compare with a bad prompt, spoken not shown: "add projects". It will produce something. It will not be the port, and verify 1 will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deliberately trigger the first one on the projector. Comment out the registration, run pnpm verify 1, get the red line with its hint, fix it, run it again. Failures they have watched you recover from are failures they will not panic at.
The last row matters most. The gate checks the live API and the rendered page, so a correct file with a stale server is red. The hint line under every ✘ tells them what to look at. Teach them to read it before they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whole hands-on. It is the only slide that needs to stay on the wall.
The first prompt is a warm-up and a check in one: it proves Claude Code works on every machine, and the read-alouds tell you whether idea 2 landed before anyone writes code.
Debrief questions for the last five minutes, from the facilitator guide: what mapped cleanly and what did not, which diff did you reject and why, what would you add to CLAUDE.md, and which gate went red when you thought you were done. Exit ticket on a sticky note: one thing that maps, one thing that has no WordPress equivalent, and the URL you will deploy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D"/>
        </a:solidFill>
      </p:bgPr>
    </p:bg>
    <p:spTree>
      <p:nvGrpSpPr>
        <p:cNvPr id="1" name=""/>
        <p:cNvGrpSpPr/>
        <p:nvPr/>
      </p:nvGrpSpPr>
      <p:grpSpPr>
        <a:xfrm>
          <a:off x="0" y="0"/>
          <a:ext cx="0" cy="0"/>
          <a:chOff x="0" y="0"/>
          <a:chExt cx="0" cy="0"/>
        </a:xfrm>
      </p:grpSpPr>
      <p:sp>
        <p:nvSpPr>
          <p:cNvPr id="3" name="Text 0"/>
          <p:cNvSpPr txBox="1"/>
          <p:nvPr/>
        </p:nvSpPr>
        <p:spPr>
          <a:xfrm>
            <a:off x="640080" y="548640"/>
            <a:ext cx="5486400" cy="457200"/>
          </a:xfrm>
          <a:prstGeom prst="rect">
            <a:avLst/>
          </a:prstGeom>
          <a:noFill/>
          <a:ln/>
        </p:spPr>
        <p:txBody>
          <a:bodyPr wrap="square" lIns="0" tIns="0" rIns="0" bIns="0" rtlCol="0" anchor="t"/>
          <a:lstStyle/>
          <a:p>
            <a:pPr indent="0" marL="0">
              <a:buNone/>
            </a:pPr>
            <a:r>
              <a:rPr lang="en-US" sz="2000" b="1" dirty="0">
                <a:solidFill>
                  <a:srgbClr val="ECEEF3"/>
                </a:solidFill>
                <a:latin typeface="IBM Plex Sans" pitchFamily="34" charset="0"/>
                <a:ea typeface="IBM Plex Sans" pitchFamily="34" charset="-122"/>
                <a:cs typeface="IBM Plex Sans" pitchFamily="34" charset="-120"/>
              </a:rPr>
              <a:t>Webee</a:t>
            </a:r>
            <a:r>
              <a:rPr lang="en-US" sz="2000" b="1" dirty="0">
                <a:solidFill>
                  <a:srgbClr val="FFCF3F"/>
                </a:solidFill>
                <a:latin typeface="IBM Plex Sans" pitchFamily="34" charset="0"/>
                <a:ea typeface="IBM Plex Sans" pitchFamily="34" charset="-122"/>
                <a:cs typeface="IBM Plex Sans" pitchFamily="34" charset="-120"/>
              </a:rPr>
              <a:t>.</a:t>
            </a:r>
            <a:r>
              <a:rPr lang="en-US" sz="2000" b="1" dirty="0">
                <a:solidFill>
                  <a:srgbClr val="ECEEF3"/>
                </a:solidFill>
                <a:latin typeface="IBM Plex Sans" pitchFamily="34" charset="0"/>
                <a:ea typeface="IBM Plex Sans" pitchFamily="34" charset="-122"/>
                <a:cs typeface="IBM Plex Sans" pitchFamily="34" charset="-120"/>
              </a:rPr>
              <a:t>  L&amp;D</a:t>
            </a:r>
            <a:endParaRPr lang="en-US" sz="2000" dirty="0"/>
          </a:p>
        </p:txBody>
      </p:sp>
      <p:sp>
        <p:nvSpPr>
          <p:cNvPr id="4" name="Text 1"/>
          <p:cNvSpPr txBox="1"/>
          <p:nvPr/>
        </p:nvSpPr>
        <p:spPr>
          <a:xfrm>
            <a:off x="640080" y="2286000"/>
            <a:ext cx="10058400" cy="2103120"/>
          </a:xfrm>
          <a:prstGeom prst="rect">
            <a:avLst/>
          </a:prstGeom>
          <a:noFill/>
          <a:ln/>
        </p:spPr>
        <p:txBody>
          <a:bodyPr wrap="square" lIns="0" tIns="0" rIns="0" bIns="0" rtlCol="0" anchor="b"/>
          <a:lstStyle/>
          <a:p>
            <a:pPr indent="0" marL="0">
              <a:lnSpc>
                <a:spcPct val="95000"/>
              </a:lnSpc>
              <a:buNone/>
            </a:pPr>
            <a:r>
              <a:rPr lang="en-US" sz="6000" b="1" dirty="0">
                <a:solidFill>
                  <a:srgbClr val="ECEEF3"/>
                </a:solidFill>
                <a:latin typeface="IBM Plex Sans" pitchFamily="34" charset="0"/>
                <a:ea typeface="IBM Plex Sans" pitchFamily="34" charset="-122"/>
                <a:cs typeface="IBM Plex Sans" pitchFamily="34" charset="-120"/>
              </a:rPr>
              <a:t>From WordPress</a:t>
            </a:r>
            <a:endParaRPr lang="en-US" sz="6000" dirty="0"/>
          </a:p>
          <a:p>
            <a:pPr indent="0" marL="0">
              <a:lnSpc>
                <a:spcPct val="95000"/>
              </a:lnSpc>
              <a:buNone/>
            </a:pPr>
            <a:r>
              <a:rPr lang="en-US" sz="6000" b="1" dirty="0">
                <a:solidFill>
                  <a:srgbClr val="ECEEF3"/>
                </a:solidFill>
                <a:latin typeface="IBM Plex Sans" pitchFamily="34" charset="0"/>
                <a:ea typeface="IBM Plex Sans" pitchFamily="34" charset="-122"/>
                <a:cs typeface="IBM Plex Sans" pitchFamily="34" charset="-120"/>
              </a:rPr>
              <a:t>to Astro + Payload</a:t>
            </a:r>
            <a:endParaRPr lang="en-US" sz="6000" dirty="0"/>
          </a:p>
        </p:txBody>
      </p:sp>
      <p:sp>
        <p:nvSpPr>
          <p:cNvPr id="5" name="Text 2"/>
          <p:cNvSpPr txBox="1"/>
          <p:nvPr/>
        </p:nvSpPr>
        <p:spPr>
          <a:xfrm>
            <a:off x="640080" y="4617720"/>
            <a:ext cx="8686800" cy="914400"/>
          </a:xfrm>
          <a:prstGeom prst="rect">
            <a:avLst/>
          </a:prstGeom>
          <a:noFill/>
          <a:ln/>
        </p:spPr>
        <p:txBody>
          <a:bodyPr wrap="square" lIns="0" tIns="0" rIns="0" bIns="0" rtlCol="0" anchor="t"/>
          <a:lstStyle/>
          <a:p>
            <a:pPr indent="0" marL="0">
              <a:buNone/>
            </a:pPr>
            <a:r>
              <a:rPr lang="en-US" sz="2000" dirty="0">
                <a:solidFill>
                  <a:srgbClr val="9EA7B8"/>
                </a:solidFill>
                <a:latin typeface="IBM Plex Sans" pitchFamily="34" charset="0"/>
                <a:ea typeface="IBM Plex Sans" pitchFamily="34" charset="-122"/>
                <a:cs typeface="IBM Plex Sans" pitchFamily="34" charset="-120"/>
              </a:rPr>
              <a:t>A CMS and a frontend, with the content model in TypeScript. By the end of the hour: your own developer portfolio on Payload and Astro.</a:t>
            </a:r>
            <a:endParaRPr lang="en-US" sz="2000" dirty="0"/>
          </a:p>
        </p:txBody>
      </p:sp>
      <p:sp>
        <p:nvSpPr>
          <p:cNvPr id="6" name="Text 3"/>
          <p:cNvSpPr txBox="1"/>
          <p:nvPr/>
        </p:nvSpPr>
        <p:spPr>
          <a:xfrm>
            <a:off x="640080" y="5623560"/>
            <a:ext cx="10972800" cy="365760"/>
          </a:xfrm>
          <a:prstGeom prst="rect">
            <a:avLst/>
          </a:prstGeom>
          <a:noFill/>
          <a:ln/>
        </p:spPr>
        <p:txBody>
          <a:bodyPr wrap="square" lIns="0" tIns="0" rIns="0" bIns="0" rtlCol="0" anchor="t"/>
          <a:lstStyle/>
          <a:p>
            <a:pPr indent="0" marL="0">
              <a:buNone/>
            </a:pPr>
            <a:r>
              <a:rPr lang="en-US" sz="1200" dirty="0">
                <a:solidFill>
                  <a:srgbClr val="9EA7B8"/>
                </a:solidFill>
                <a:latin typeface="IBM Plex Mono" pitchFamily="34" charset="0"/>
                <a:ea typeface="IBM Plex Mono" pitchFamily="34" charset="-122"/>
                <a:cs typeface="IBM Plex Mono" pitchFamily="34" charset="-120"/>
              </a:rPr>
              <a:t>25 September 2026     30 min talk · 60 min hands-on     Bring your laptop, pnpm verify 0 green</a:t>
            </a:r>
            <a:endParaRPr lang="en-US" sz="1200" dirty="0"/>
          </a:p>
        </p:txBody>
      </p:sp>
      <p:sp>
        <p:nvSpPr>
          <p:cNvPr id="7" name="Text 4"/>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8" name="Text 5"/>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 / 27</a:t>
            </a:r>
            <a:endParaRPr lang="en-US" sz="1000" dirty="0"/>
          </a:p>
        </p:txBody>
      </p:sp>
      <p:sp>
        <p:nvSpPr>
          <p:cNvPr id="9" name="Shape 6"/>
          <p:cNvSpPr/>
          <p:nvPr/>
        </p:nvSpPr>
        <p:spPr>
          <a:xfrm>
            <a:off x="0" y="6821424"/>
            <a:ext cx="451544" cy="36576"/>
          </a:xfrm>
          <a:prstGeom prst="rect">
            <a:avLst/>
          </a:prstGeom>
          <a:solidFill>
            <a:srgbClr val="FFCF3F"/>
          </a:solidFill>
          <a:ln w="12700">
            <a:solidFill>
              <a:srgbClr val="FFCF3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WORDPRESS VS ASTRO + PAYLOAD</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0 – 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 / 27  ·  0:00 – 4:00</a:t>
            </a:r>
            <a:endParaRPr lang="en-US" sz="1000" dirty="0"/>
          </a:p>
        </p:txBody>
      </p:sp>
      <p:sp>
        <p:nvSpPr>
          <p:cNvPr id="8" name="Shape 5"/>
          <p:cNvSpPr/>
          <p:nvPr/>
        </p:nvSpPr>
        <p:spPr>
          <a:xfrm>
            <a:off x="0" y="6821424"/>
            <a:ext cx="903089"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WordPress vs Astro + Payload: what changes</a:t>
            </a:r>
            <a:endParaRPr lang="en-US" sz="3800" dirty="0"/>
          </a:p>
        </p:txBody>
      </p:sp>
      <p:sp>
        <p:nvSpPr>
          <p:cNvPr id="10" name="Shape 7"/>
          <p:cNvSpPr/>
          <p:nvPr/>
        </p:nvSpPr>
        <p:spPr>
          <a:xfrm>
            <a:off x="640080" y="1874520"/>
            <a:ext cx="5225796" cy="45720"/>
          </a:xfrm>
          <a:prstGeom prst="rect">
            <a:avLst/>
          </a:prstGeom>
          <a:solidFill>
            <a:srgbClr val="5AA9D6"/>
          </a:solidFill>
          <a:ln w="12700">
            <a:solidFill>
              <a:srgbClr val="5AA9D6"/>
            </a:solidFill>
            <a:prstDash val="solid"/>
          </a:ln>
        </p:spPr>
      </p:sp>
      <p:sp>
        <p:nvSpPr>
          <p:cNvPr id="11" name="Text 8"/>
          <p:cNvSpPr txBox="1"/>
          <p:nvPr/>
        </p:nvSpPr>
        <p:spPr>
          <a:xfrm>
            <a:off x="640080" y="2002536"/>
            <a:ext cx="5225796" cy="274320"/>
          </a:xfrm>
          <a:prstGeom prst="rect">
            <a:avLst/>
          </a:prstGeom>
          <a:noFill/>
          <a:ln/>
        </p:spPr>
        <p:txBody>
          <a:bodyPr wrap="square" lIns="0" tIns="0" rIns="0" bIns="0" rtlCol="0" anchor="t"/>
          <a:lstStyle/>
          <a:p>
            <a:pPr indent="0" marL="0">
              <a:buNone/>
            </a:pPr>
            <a:r>
              <a:rPr lang="en-US" sz="1100" spc="150" kern="0" dirty="0">
                <a:solidFill>
                  <a:srgbClr val="5AA9D6"/>
                </a:solidFill>
                <a:latin typeface="IBM Plex Mono" pitchFamily="34" charset="0"/>
                <a:ea typeface="IBM Plex Mono" pitchFamily="34" charset="-122"/>
                <a:cs typeface="IBM Plex Mono" pitchFamily="34" charset="-120"/>
              </a:rPr>
              <a:t>WORDPRESS TODAY</a:t>
            </a:r>
            <a:endParaRPr lang="en-US" sz="1100" dirty="0"/>
          </a:p>
        </p:txBody>
      </p:sp>
      <p:sp>
        <p:nvSpPr>
          <p:cNvPr id="12" name="Text 9"/>
          <p:cNvSpPr txBox="1"/>
          <p:nvPr/>
        </p:nvSpPr>
        <p:spPr>
          <a:xfrm>
            <a:off x="640080" y="2313432"/>
            <a:ext cx="5225796" cy="3904488"/>
          </a:xfrm>
          <a:prstGeom prst="rect">
            <a:avLst/>
          </a:prstGeom>
          <a:noFill/>
          <a:ln/>
        </p:spPr>
        <p:txBody>
          <a:bodyPr wrap="square" lIns="0" tIns="0" rIns="0" bIns="0" rtlCol="0" anchor="t"/>
          <a:lstStyle/>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The content model (CPTs, ACF groups) is rows in </a:t>
            </a:r>
            <a:r>
              <a:rPr lang="en-US" sz="1560" dirty="0">
                <a:solidFill>
                  <a:srgbClr val="FFCF3F"/>
                </a:solidFill>
                <a:latin typeface="IBM Plex Mono" pitchFamily="34" charset="0"/>
                <a:ea typeface="IBM Plex Mono" pitchFamily="34" charset="-122"/>
                <a:cs typeface="IBM Plex Mono" pitchFamily="34" charset="-120"/>
              </a:rPr>
              <a:t>wp_postmeta</a:t>
            </a:r>
            <a:r>
              <a:rPr lang="en-US" sz="1700" dirty="0">
                <a:solidFill>
                  <a:srgbClr val="ECEEF3"/>
                </a:solidFill>
                <a:latin typeface="IBM Plex Sans" pitchFamily="34" charset="0"/>
                <a:ea typeface="IBM Plex Sans" pitchFamily="34" charset="-122"/>
                <a:cs typeface="IBM Plex Sans" pitchFamily="34" charset="-120"/>
              </a:rPr>
              <a:t>, built in wp-admin. No diff, no review, no rollback.</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Renaming an ACF field: edit it in wp-admin on every environment, then grep the templates for the old key.</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Plugins for SEO, caching, images, forms. Each runs PHP on every request and needs updating.</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First contentful paint measured in seconds: theme JS, plugin CSS, uncached PHP render.</a:t>
            </a:r>
            <a:endParaRPr lang="en-US" sz="1700" dirty="0"/>
          </a:p>
        </p:txBody>
      </p:sp>
      <p:sp>
        <p:nvSpPr>
          <p:cNvPr id="13" name="Shape 10"/>
          <p:cNvSpPr/>
          <p:nvPr/>
        </p:nvSpPr>
        <p:spPr>
          <a:xfrm>
            <a:off x="6323076" y="1874520"/>
            <a:ext cx="5225796" cy="45720"/>
          </a:xfrm>
          <a:prstGeom prst="rect">
            <a:avLst/>
          </a:prstGeom>
          <a:solidFill>
            <a:srgbClr val="FFCF3F"/>
          </a:solidFill>
          <a:ln w="12700">
            <a:solidFill>
              <a:srgbClr val="FFCF3F"/>
            </a:solidFill>
            <a:prstDash val="solid"/>
          </a:ln>
        </p:spPr>
      </p:sp>
      <p:sp>
        <p:nvSpPr>
          <p:cNvPr id="14" name="Text 11"/>
          <p:cNvSpPr txBox="1"/>
          <p:nvPr/>
        </p:nvSpPr>
        <p:spPr>
          <a:xfrm>
            <a:off x="6323076" y="2002536"/>
            <a:ext cx="5225796" cy="274320"/>
          </a:xfrm>
          <a:prstGeom prst="rect">
            <a:avLst/>
          </a:prstGeom>
          <a:noFill/>
          <a:ln/>
        </p:spPr>
        <p:txBody>
          <a:bodyPr wrap="square" lIns="0" tIns="0" rIns="0" bIns="0" rtlCol="0" anchor="t"/>
          <a:lstStyle/>
          <a:p>
            <a:pPr indent="0" marL="0">
              <a:buNone/>
            </a:pPr>
            <a:r>
              <a:rPr lang="en-US" sz="1100" spc="150" kern="0" dirty="0">
                <a:solidFill>
                  <a:srgbClr val="FFCF3F"/>
                </a:solidFill>
                <a:latin typeface="IBM Plex Mono" pitchFamily="34" charset="0"/>
                <a:ea typeface="IBM Plex Mono" pitchFamily="34" charset="-122"/>
                <a:cs typeface="IBM Plex Mono" pitchFamily="34" charset="-120"/>
              </a:rPr>
              <a:t>ASTRO + PAYLOAD</a:t>
            </a:r>
            <a:endParaRPr lang="en-US" sz="1100" dirty="0"/>
          </a:p>
        </p:txBody>
      </p:sp>
      <p:sp>
        <p:nvSpPr>
          <p:cNvPr id="15" name="Text 12"/>
          <p:cNvSpPr txBox="1"/>
          <p:nvPr/>
        </p:nvSpPr>
        <p:spPr>
          <a:xfrm>
            <a:off x="6323076" y="2313432"/>
            <a:ext cx="5225796" cy="3904488"/>
          </a:xfrm>
          <a:prstGeom prst="rect">
            <a:avLst/>
          </a:prstGeom>
          <a:noFill/>
          <a:ln/>
        </p:spPr>
        <p:txBody>
          <a:bodyPr wrap="square" lIns="0" tIns="0" rIns="0" bIns="0" rtlCol="0" anchor="t"/>
          <a:lstStyle/>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The content model is a TypeScript file in git. It goes through a pull request like any other code.</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Payload generates TypeScript types from the collections; Astro imports them. Rename a field and the build lists the broken templates.</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Astro renders HTML on the server from Payload's REST API. No database connection, no client JS unless you add it.</a:t>
            </a:r>
            <a:endParaRPr lang="en-US" sz="1700" dirty="0"/>
          </a:p>
          <a:p>
            <a:pPr marL="177800" indent="-177800">
              <a:lnSpc>
                <a:spcPct val="110000"/>
              </a:lnSpc>
              <a:spcAft>
                <a:spcPts val="600"/>
              </a:spcAft>
              <a:buSzPct val="100000"/>
              <a:buChar char="•"/>
            </a:pPr>
            <a:r>
              <a:rPr lang="en-US" sz="1700" dirty="0">
                <a:solidFill>
                  <a:srgbClr val="ECEEF3"/>
                </a:solidFill>
                <a:latin typeface="IBM Plex Sans" pitchFamily="34" charset="0"/>
                <a:ea typeface="IBM Plex Sans" pitchFamily="34" charset="-122"/>
                <a:cs typeface="IBM Plex Sans" pitchFamily="34" charset="-120"/>
              </a:rPr>
              <a:t>Claude Code reads the collections, the types and </a:t>
            </a:r>
            <a:r>
              <a:rPr lang="en-US" sz="1560" dirty="0">
                <a:solidFill>
                  <a:srgbClr val="FFCF3F"/>
                </a:solidFill>
                <a:latin typeface="IBM Plex Mono" pitchFamily="34" charset="0"/>
                <a:ea typeface="IBM Plex Mono" pitchFamily="34" charset="-122"/>
                <a:cs typeface="IBM Plex Mono" pitchFamily="34" charset="-120"/>
              </a:rPr>
              <a:t>CLAUDE.md</a:t>
            </a:r>
            <a:r>
              <a:rPr lang="en-US" sz="1700" dirty="0">
                <a:solidFill>
                  <a:srgbClr val="ECEEF3"/>
                </a:solidFill>
                <a:latin typeface="IBM Plex Sans" pitchFamily="34" charset="0"/>
                <a:ea typeface="IBM Plex Sans" pitchFamily="34" charset="-122"/>
                <a:cs typeface="IBM Plex Sans" pitchFamily="34" charset="-120"/>
              </a:rPr>
              <a:t>, and writes the boilerplate under review.</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WHY TEAMS MAKE THE MOVE</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0 – 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3 / 27  ·  0:00 – 4:00</a:t>
            </a:r>
            <a:endParaRPr lang="en-US" sz="1000" dirty="0"/>
          </a:p>
        </p:txBody>
      </p:sp>
      <p:sp>
        <p:nvSpPr>
          <p:cNvPr id="8" name="Shape 5"/>
          <p:cNvSpPr/>
          <p:nvPr/>
        </p:nvSpPr>
        <p:spPr>
          <a:xfrm>
            <a:off x="0" y="6821424"/>
            <a:ext cx="1354633"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Why teams move to Astro + Payload</a:t>
            </a:r>
            <a:endParaRPr lang="en-US" sz="3800" dirty="0"/>
          </a:p>
        </p:txBody>
      </p:sp>
      <p:sp>
        <p:nvSpPr>
          <p:cNvPr id="10" name="Text 7"/>
          <p:cNvSpPr txBox="1"/>
          <p:nvPr/>
        </p:nvSpPr>
        <p:spPr>
          <a:xfrm>
            <a:off x="640080"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1</a:t>
            </a:r>
            <a:endParaRPr lang="en-US" sz="3000" dirty="0"/>
          </a:p>
        </p:txBody>
      </p:sp>
      <p:sp>
        <p:nvSpPr>
          <p:cNvPr id="11" name="Text 8"/>
          <p:cNvSpPr txBox="1"/>
          <p:nvPr/>
        </p:nvSpPr>
        <p:spPr>
          <a:xfrm>
            <a:off x="1325880" y="18745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Performance by default</a:t>
            </a:r>
            <a:endParaRPr lang="en-US" sz="1700" dirty="0"/>
          </a:p>
        </p:txBody>
      </p:sp>
      <p:sp>
        <p:nvSpPr>
          <p:cNvPr id="12" name="Text 9"/>
          <p:cNvSpPr txBox="1"/>
          <p:nvPr/>
        </p:nvSpPr>
        <p:spPr>
          <a:xfrm>
            <a:off x="1325880" y="2240280"/>
            <a:ext cx="4539996" cy="792099"/>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Astro emits static HTML; JavaScript ships only for components marked as islands. No caching layer, image plugin or minifier to configure.</a:t>
            </a:r>
            <a:endParaRPr lang="en-US" sz="1350" dirty="0"/>
          </a:p>
        </p:txBody>
      </p:sp>
      <p:sp>
        <p:nvSpPr>
          <p:cNvPr id="13" name="Text 10"/>
          <p:cNvSpPr txBox="1"/>
          <p:nvPr/>
        </p:nvSpPr>
        <p:spPr>
          <a:xfrm>
            <a:off x="6323076"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2</a:t>
            </a:r>
            <a:endParaRPr lang="en-US" sz="3000" dirty="0"/>
          </a:p>
        </p:txBody>
      </p:sp>
      <p:sp>
        <p:nvSpPr>
          <p:cNvPr id="14" name="Text 11"/>
          <p:cNvSpPr txBox="1"/>
          <p:nvPr/>
        </p:nvSpPr>
        <p:spPr>
          <a:xfrm>
            <a:off x="7008876" y="18745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A much smaller attack surface</a:t>
            </a:r>
            <a:endParaRPr lang="en-US" sz="1700" dirty="0"/>
          </a:p>
        </p:txBody>
      </p:sp>
      <p:sp>
        <p:nvSpPr>
          <p:cNvPr id="15" name="Text 12"/>
          <p:cNvSpPr txBox="1"/>
          <p:nvPr/>
        </p:nvSpPr>
        <p:spPr>
          <a:xfrm>
            <a:off x="7008876" y="2240280"/>
            <a:ext cx="4539996" cy="792099"/>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No third-party PHP executing per request, no </a:t>
            </a:r>
            <a:r>
              <a:rPr lang="en-US" sz="1240" dirty="0">
                <a:solidFill>
                  <a:srgbClr val="FFCF3F"/>
                </a:solidFill>
                <a:latin typeface="IBM Plex Mono" pitchFamily="34" charset="0"/>
                <a:ea typeface="IBM Plex Mono" pitchFamily="34" charset="-122"/>
                <a:cs typeface="IBM Plex Mono" pitchFamily="34" charset="-120"/>
              </a:rPr>
              <a:t>wp-admin</a:t>
            </a:r>
            <a:r>
              <a:rPr lang="en-US" sz="1350" dirty="0">
                <a:solidFill>
                  <a:srgbClr val="9EA7B8"/>
                </a:solidFill>
                <a:latin typeface="IBM Plex Sans" pitchFamily="34" charset="0"/>
                <a:ea typeface="IBM Plex Sans" pitchFamily="34" charset="-122"/>
                <a:cs typeface="IBM Plex Sans" pitchFamily="34" charset="-120"/>
              </a:rPr>
              <a:t> login endpoint on the public site, and the frontend holds no database credentials.</a:t>
            </a:r>
            <a:endParaRPr lang="en-US" sz="1350" dirty="0"/>
          </a:p>
        </p:txBody>
      </p:sp>
      <p:sp>
        <p:nvSpPr>
          <p:cNvPr id="16" name="Text 13"/>
          <p:cNvSpPr txBox="1"/>
          <p:nvPr/>
        </p:nvSpPr>
        <p:spPr>
          <a:xfrm>
            <a:off x="640080" y="3032379"/>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3</a:t>
            </a:r>
            <a:endParaRPr lang="en-US" sz="3000" dirty="0"/>
          </a:p>
        </p:txBody>
      </p:sp>
      <p:sp>
        <p:nvSpPr>
          <p:cNvPr id="17" name="Text 14"/>
          <p:cNvSpPr txBox="1"/>
          <p:nvPr/>
        </p:nvSpPr>
        <p:spPr>
          <a:xfrm>
            <a:off x="1325880" y="3078099"/>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The content model is code</a:t>
            </a:r>
            <a:endParaRPr lang="en-US" sz="1700" dirty="0"/>
          </a:p>
        </p:txBody>
      </p:sp>
      <p:sp>
        <p:nvSpPr>
          <p:cNvPr id="18" name="Text 15"/>
          <p:cNvSpPr txBox="1"/>
          <p:nvPr/>
        </p:nvSpPr>
        <p:spPr>
          <a:xfrm>
            <a:off x="1325880" y="3443859"/>
            <a:ext cx="4539996" cy="792099"/>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Collections and fields are TypeScript in git: reviewed in PRs, versioned, identical on every environment. No schema drift between staging and production.</a:t>
            </a:r>
            <a:endParaRPr lang="en-US" sz="1350" dirty="0"/>
          </a:p>
        </p:txBody>
      </p:sp>
      <p:sp>
        <p:nvSpPr>
          <p:cNvPr id="19" name="Text 16"/>
          <p:cNvSpPr txBox="1"/>
          <p:nvPr/>
        </p:nvSpPr>
        <p:spPr>
          <a:xfrm>
            <a:off x="6323076" y="3032379"/>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4</a:t>
            </a:r>
            <a:endParaRPr lang="en-US" sz="3000" dirty="0"/>
          </a:p>
        </p:txBody>
      </p:sp>
      <p:sp>
        <p:nvSpPr>
          <p:cNvPr id="20" name="Text 17"/>
          <p:cNvSpPr txBox="1"/>
          <p:nvPr/>
        </p:nvSpPr>
        <p:spPr>
          <a:xfrm>
            <a:off x="7008876" y="3078099"/>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Typed from field to template</a:t>
            </a:r>
            <a:endParaRPr lang="en-US" sz="1700" dirty="0"/>
          </a:p>
        </p:txBody>
      </p:sp>
      <p:sp>
        <p:nvSpPr>
          <p:cNvPr id="21" name="Text 18"/>
          <p:cNvSpPr txBox="1"/>
          <p:nvPr/>
        </p:nvSpPr>
        <p:spPr>
          <a:xfrm>
            <a:off x="7008876" y="3443859"/>
            <a:ext cx="4539996" cy="792099"/>
          </a:xfrm>
          <a:prstGeom prst="rect">
            <a:avLst/>
          </a:prstGeom>
          <a:noFill/>
          <a:ln/>
        </p:spPr>
        <p:txBody>
          <a:bodyPr wrap="square" lIns="0" tIns="0" rIns="0" bIns="0" rtlCol="0" anchor="t"/>
          <a:lstStyle/>
          <a:p>
            <a:pPr indent="0" marL="0">
              <a:lnSpc>
                <a:spcPct val="110000"/>
              </a:lnSpc>
              <a:buNone/>
            </a:pPr>
            <a:r>
              <a:rPr lang="en-US" sz="1240" dirty="0">
                <a:solidFill>
                  <a:srgbClr val="FFCF3F"/>
                </a:solidFill>
                <a:latin typeface="IBM Plex Mono" pitchFamily="34" charset="0"/>
                <a:ea typeface="IBM Plex Mono" pitchFamily="34" charset="-122"/>
                <a:cs typeface="IBM Plex Mono" pitchFamily="34" charset="-120"/>
              </a:rPr>
              <a:t>payload generate:types</a:t>
            </a:r>
            <a:r>
              <a:rPr lang="en-US" sz="1350" dirty="0">
                <a:solidFill>
                  <a:srgbClr val="9EA7B8"/>
                </a:solidFill>
                <a:latin typeface="IBM Plex Sans" pitchFamily="34" charset="0"/>
                <a:ea typeface="IBM Plex Sans" pitchFamily="34" charset="-122"/>
                <a:cs typeface="IBM Plex Sans" pitchFamily="34" charset="-120"/>
              </a:rPr>
              <a:t> emits one </a:t>
            </a:r>
            <a:r>
              <a:rPr lang="en-US" sz="1240" dirty="0">
                <a:solidFill>
                  <a:srgbClr val="FFCF3F"/>
                </a:solidFill>
                <a:latin typeface="IBM Plex Mono" pitchFamily="34" charset="0"/>
                <a:ea typeface="IBM Plex Mono" pitchFamily="34" charset="-122"/>
                <a:cs typeface="IBM Plex Mono" pitchFamily="34" charset="-120"/>
              </a:rPr>
              <a:t>Project</a:t>
            </a:r>
            <a:r>
              <a:rPr lang="en-US" sz="1350" dirty="0">
                <a:solidFill>
                  <a:srgbClr val="9EA7B8"/>
                </a:solidFill>
                <a:latin typeface="IBM Plex Sans" pitchFamily="34" charset="0"/>
                <a:ea typeface="IBM Plex Sans" pitchFamily="34" charset="-122"/>
                <a:cs typeface="IBM Plex Sans" pitchFamily="34" charset="-120"/>
              </a:rPr>
              <a:t> type; Astro templates import it. A renamed field fails the build with the list of affected files.</a:t>
            </a:r>
            <a:endParaRPr lang="en-US" sz="1240" dirty="0"/>
          </a:p>
        </p:txBody>
      </p:sp>
      <p:sp>
        <p:nvSpPr>
          <p:cNvPr id="22" name="Text 19"/>
          <p:cNvSpPr txBox="1"/>
          <p:nvPr/>
        </p:nvSpPr>
        <p:spPr>
          <a:xfrm>
            <a:off x="640080" y="4235958"/>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5</a:t>
            </a:r>
            <a:endParaRPr lang="en-US" sz="3000" dirty="0"/>
          </a:p>
        </p:txBody>
      </p:sp>
      <p:sp>
        <p:nvSpPr>
          <p:cNvPr id="23" name="Text 20"/>
          <p:cNvSpPr txBox="1"/>
          <p:nvPr/>
        </p:nvSpPr>
        <p:spPr>
          <a:xfrm>
            <a:off x="1325880" y="4281678"/>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Open source, self-hosted, one language</a:t>
            </a:r>
            <a:endParaRPr lang="en-US" sz="1700" dirty="0"/>
          </a:p>
        </p:txBody>
      </p:sp>
      <p:sp>
        <p:nvSpPr>
          <p:cNvPr id="24" name="Text 21"/>
          <p:cNvSpPr txBox="1"/>
          <p:nvPr/>
        </p:nvSpPr>
        <p:spPr>
          <a:xfrm>
            <a:off x="1325880" y="4647438"/>
            <a:ext cx="4539996" cy="792099"/>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Payload and Astro are MIT licensed. No per-seat fees or premium plugin renewals, TypeScript on both sides, deployable to any Node or static host.</a:t>
            </a:r>
            <a:endParaRPr lang="en-US" sz="1350" dirty="0"/>
          </a:p>
        </p:txBody>
      </p:sp>
      <p:sp>
        <p:nvSpPr>
          <p:cNvPr id="25" name="Text 22"/>
          <p:cNvSpPr txBox="1"/>
          <p:nvPr/>
        </p:nvSpPr>
        <p:spPr>
          <a:xfrm>
            <a:off x="6323076" y="4235958"/>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6</a:t>
            </a:r>
            <a:endParaRPr lang="en-US" sz="3000" dirty="0"/>
          </a:p>
        </p:txBody>
      </p:sp>
      <p:sp>
        <p:nvSpPr>
          <p:cNvPr id="26" name="Text 23"/>
          <p:cNvSpPr txBox="1"/>
          <p:nvPr/>
        </p:nvSpPr>
        <p:spPr>
          <a:xfrm>
            <a:off x="7008876" y="4281678"/>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npm packages, not plugins</a:t>
            </a:r>
            <a:endParaRPr lang="en-US" sz="1700" dirty="0"/>
          </a:p>
        </p:txBody>
      </p:sp>
      <p:sp>
        <p:nvSpPr>
          <p:cNvPr id="27" name="Text 24"/>
          <p:cNvSpPr txBox="1"/>
          <p:nvPr/>
        </p:nvSpPr>
        <p:spPr>
          <a:xfrm>
            <a:off x="7008876" y="4647438"/>
            <a:ext cx="4539996" cy="792099"/>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Astro components, npm packages, and a schema an AI tool can read because it is code. The frontend is decoupled: a redesign does not touch the content.</a:t>
            </a:r>
            <a:endParaRPr lang="en-US" sz="1350" dirty="0"/>
          </a:p>
        </p:txBody>
      </p:sp>
      <p:sp>
        <p:nvSpPr>
          <p:cNvPr id="28" name="Shape 25"/>
          <p:cNvSpPr/>
          <p:nvPr/>
        </p:nvSpPr>
        <p:spPr>
          <a:xfrm>
            <a:off x="640080" y="5668137"/>
            <a:ext cx="10908792" cy="549783"/>
          </a:xfrm>
          <a:prstGeom prst="rect">
            <a:avLst/>
          </a:prstGeom>
          <a:solidFill>
            <a:srgbClr val="1B1F27"/>
          </a:solidFill>
          <a:ln w="12700">
            <a:solidFill>
              <a:srgbClr val="1B1F27"/>
            </a:solidFill>
            <a:prstDash val="solid"/>
          </a:ln>
        </p:spPr>
      </p:sp>
      <p:sp>
        <p:nvSpPr>
          <p:cNvPr id="29" name="Shape 26"/>
          <p:cNvSpPr/>
          <p:nvPr/>
        </p:nvSpPr>
        <p:spPr>
          <a:xfrm>
            <a:off x="640080" y="5668137"/>
            <a:ext cx="54864" cy="549783"/>
          </a:xfrm>
          <a:prstGeom prst="rect">
            <a:avLst/>
          </a:prstGeom>
          <a:solidFill>
            <a:srgbClr val="FFCF3F"/>
          </a:solidFill>
          <a:ln w="12700">
            <a:solidFill>
              <a:srgbClr val="FFCF3F"/>
            </a:solidFill>
            <a:prstDash val="solid"/>
          </a:ln>
        </p:spPr>
      </p:sp>
      <p:sp>
        <p:nvSpPr>
          <p:cNvPr id="30" name="Text 27"/>
          <p:cNvSpPr txBox="1"/>
          <p:nvPr/>
        </p:nvSpPr>
        <p:spPr>
          <a:xfrm>
            <a:off x="914400" y="5814441"/>
            <a:ext cx="10451592" cy="257175"/>
          </a:xfrm>
          <a:prstGeom prst="rect">
            <a:avLst/>
          </a:prstGeom>
          <a:noFill/>
          <a:ln/>
        </p:spPr>
        <p:txBody>
          <a:bodyPr wrap="square" lIns="0" tIns="0" rIns="0" bIns="0" rtlCol="0" anchor="t"/>
          <a:lstStyle/>
          <a:p>
            <a:pPr indent="0" marL="0">
              <a:buNone/>
            </a:pPr>
            <a:r>
              <a:rPr lang="en-US" sz="1500" dirty="0">
                <a:solidFill>
                  <a:srgbClr val="ECEEF3"/>
                </a:solidFill>
                <a:latin typeface="IBM Plex Sans" pitchFamily="34" charset="0"/>
                <a:ea typeface="IBM Plex Sans" pitchFamily="34" charset="-122"/>
                <a:cs typeface="IBM Plex Sans" pitchFamily="34" charset="-120"/>
              </a:rPr>
              <a:t>Editors keep an admin UI, rich text, media library, drafts and roles. Developers stop maintaining plugin updates.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THE WHOLE TALK IN THREE IDEAS</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0 – 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4 / 27  ·  0:00 – 4:00</a:t>
            </a:r>
            <a:endParaRPr lang="en-US" sz="1000" dirty="0"/>
          </a:p>
        </p:txBody>
      </p:sp>
      <p:sp>
        <p:nvSpPr>
          <p:cNvPr id="8" name="Shape 5"/>
          <p:cNvSpPr/>
          <p:nvPr/>
        </p:nvSpPr>
        <p:spPr>
          <a:xfrm>
            <a:off x="0" y="6821424"/>
            <a:ext cx="1806177"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Three ideas the rest of the talk builds on</a:t>
            </a:r>
            <a:endParaRPr lang="en-US" sz="3800" dirty="0"/>
          </a:p>
        </p:txBody>
      </p:sp>
      <p:sp>
        <p:nvSpPr>
          <p:cNvPr id="10" name="Shape 7"/>
          <p:cNvSpPr/>
          <p:nvPr/>
        </p:nvSpPr>
        <p:spPr>
          <a:xfrm>
            <a:off x="640080" y="1874520"/>
            <a:ext cx="3422904" cy="45720"/>
          </a:xfrm>
          <a:prstGeom prst="rect">
            <a:avLst/>
          </a:prstGeom>
          <a:solidFill>
            <a:srgbClr val="FFCF3F"/>
          </a:solidFill>
          <a:ln w="12700">
            <a:solidFill>
              <a:srgbClr val="FFCF3F"/>
            </a:solidFill>
            <a:prstDash val="solid"/>
          </a:ln>
        </p:spPr>
      </p:sp>
      <p:sp>
        <p:nvSpPr>
          <p:cNvPr id="11" name="Text 8"/>
          <p:cNvSpPr txBox="1"/>
          <p:nvPr/>
        </p:nvSpPr>
        <p:spPr>
          <a:xfrm>
            <a:off x="640080"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IDEA 1</a:t>
            </a:r>
            <a:endParaRPr lang="en-US" sz="1050" dirty="0"/>
          </a:p>
        </p:txBody>
      </p:sp>
      <p:sp>
        <p:nvSpPr>
          <p:cNvPr id="12" name="Text 9"/>
          <p:cNvSpPr txBox="1"/>
          <p:nvPr/>
        </p:nvSpPr>
        <p:spPr>
          <a:xfrm>
            <a:off x="640080" y="2368296"/>
            <a:ext cx="3422904" cy="731520"/>
          </a:xfrm>
          <a:prstGeom prst="rect">
            <a:avLst/>
          </a:prstGeom>
          <a:noFill/>
          <a:ln/>
        </p:spPr>
        <p:txBody>
          <a:bodyPr wrap="square" lIns="0" tIns="0" rIns="0" bIns="0" rtlCol="0" anchor="t"/>
          <a:lstStyle/>
          <a:p>
            <a:pPr indent="0" marL="0">
              <a:lnSpc>
                <a:spcPct val="100000"/>
              </a:lnSpc>
              <a:buNone/>
            </a:pPr>
            <a:r>
              <a:rPr lang="en-US" sz="2100" b="1" dirty="0">
                <a:solidFill>
                  <a:srgbClr val="ECEEF3"/>
                </a:solidFill>
                <a:latin typeface="IBM Plex Sans" pitchFamily="34" charset="0"/>
                <a:ea typeface="IBM Plex Sans" pitchFamily="34" charset="-122"/>
                <a:cs typeface="IBM Plex Sans" pitchFamily="34" charset="-120"/>
              </a:rPr>
              <a:t>The content model lives in code</a:t>
            </a:r>
            <a:endParaRPr lang="en-US" sz="2100" dirty="0"/>
          </a:p>
        </p:txBody>
      </p:sp>
      <p:sp>
        <p:nvSpPr>
          <p:cNvPr id="13" name="Text 10"/>
          <p:cNvSpPr txBox="1"/>
          <p:nvPr/>
        </p:nvSpPr>
        <p:spPr>
          <a:xfrm>
            <a:off x="640080" y="3209544"/>
            <a:ext cx="3422904" cy="3008376"/>
          </a:xfrm>
          <a:prstGeom prst="rect">
            <a:avLst/>
          </a:prstGeom>
          <a:noFill/>
          <a:ln/>
        </p:spPr>
        <p:txBody>
          <a:bodyPr wrap="square" lIns="0" tIns="0" rIns="0" bIns="0" rtlCol="0" anchor="t"/>
          <a:lstStyle/>
          <a:p>
            <a:pPr indent="0" marL="0">
              <a:lnSpc>
                <a:spcPct val="115000"/>
              </a:lnSpc>
              <a:buNone/>
            </a:pPr>
            <a:r>
              <a:rPr lang="en-US" sz="1600" dirty="0">
                <a:solidFill>
                  <a:srgbClr val="9EA7B8"/>
                </a:solidFill>
                <a:latin typeface="IBM Plex Sans" pitchFamily="34" charset="0"/>
                <a:ea typeface="IBM Plex Sans" pitchFamily="34" charset="-122"/>
                <a:cs typeface="IBM Plex Sans" pitchFamily="34" charset="-120"/>
              </a:rPr>
              <a:t>A collection file is the CPT registration and the ACF group in one TypeScript object. Payload generates the admin UI and the REST API from it.</a:t>
            </a:r>
            <a:endParaRPr lang="en-US" sz="1600" dirty="0"/>
          </a:p>
        </p:txBody>
      </p:sp>
      <p:sp>
        <p:nvSpPr>
          <p:cNvPr id="14" name="Shape 11"/>
          <p:cNvSpPr/>
          <p:nvPr/>
        </p:nvSpPr>
        <p:spPr>
          <a:xfrm>
            <a:off x="4383024" y="1874520"/>
            <a:ext cx="3422904" cy="45720"/>
          </a:xfrm>
          <a:prstGeom prst="rect">
            <a:avLst/>
          </a:prstGeom>
          <a:solidFill>
            <a:srgbClr val="7ED3A0"/>
          </a:solidFill>
          <a:ln w="12700">
            <a:solidFill>
              <a:srgbClr val="7ED3A0"/>
            </a:solidFill>
            <a:prstDash val="solid"/>
          </a:ln>
        </p:spPr>
      </p:sp>
      <p:sp>
        <p:nvSpPr>
          <p:cNvPr id="15" name="Text 12"/>
          <p:cNvSpPr txBox="1"/>
          <p:nvPr/>
        </p:nvSpPr>
        <p:spPr>
          <a:xfrm>
            <a:off x="4383024"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IDEA 2</a:t>
            </a:r>
            <a:endParaRPr lang="en-US" sz="1050" dirty="0"/>
          </a:p>
        </p:txBody>
      </p:sp>
      <p:sp>
        <p:nvSpPr>
          <p:cNvPr id="16" name="Text 13"/>
          <p:cNvSpPr txBox="1"/>
          <p:nvPr/>
        </p:nvSpPr>
        <p:spPr>
          <a:xfrm>
            <a:off x="4383024" y="2368296"/>
            <a:ext cx="3422904" cy="731520"/>
          </a:xfrm>
          <a:prstGeom prst="rect">
            <a:avLst/>
          </a:prstGeom>
          <a:noFill/>
          <a:ln/>
        </p:spPr>
        <p:txBody>
          <a:bodyPr wrap="square" lIns="0" tIns="0" rIns="0" bIns="0" rtlCol="0" anchor="t"/>
          <a:lstStyle/>
          <a:p>
            <a:pPr indent="0" marL="0">
              <a:lnSpc>
                <a:spcPct val="100000"/>
              </a:lnSpc>
              <a:buNone/>
            </a:pPr>
            <a:r>
              <a:rPr lang="en-US" sz="2100" b="1" dirty="0">
                <a:solidFill>
                  <a:srgbClr val="ECEEF3"/>
                </a:solidFill>
                <a:latin typeface="IBM Plex Sans" pitchFamily="34" charset="0"/>
                <a:ea typeface="IBM Plex Sans" pitchFamily="34" charset="-122"/>
                <a:cs typeface="IBM Plex Sans" pitchFamily="34" charset="-120"/>
              </a:rPr>
              <a:t>The frontend only consumes the REST API</a:t>
            </a:r>
            <a:endParaRPr lang="en-US" sz="2100" dirty="0"/>
          </a:p>
        </p:txBody>
      </p:sp>
      <p:sp>
        <p:nvSpPr>
          <p:cNvPr id="17" name="Text 14"/>
          <p:cNvSpPr txBox="1"/>
          <p:nvPr/>
        </p:nvSpPr>
        <p:spPr>
          <a:xfrm>
            <a:off x="4383024" y="3209544"/>
            <a:ext cx="3422904" cy="3008376"/>
          </a:xfrm>
          <a:prstGeom prst="rect">
            <a:avLst/>
          </a:prstGeom>
          <a:noFill/>
          <a:ln/>
        </p:spPr>
        <p:txBody>
          <a:bodyPr wrap="square" lIns="0" tIns="0" rIns="0" bIns="0" rtlCol="0" anchor="t"/>
          <a:lstStyle/>
          <a:p>
            <a:pPr indent="0" marL="0">
              <a:lnSpc>
                <a:spcPct val="115000"/>
              </a:lnSpc>
              <a:buNone/>
            </a:pPr>
            <a:r>
              <a:rPr lang="en-US" sz="1600" dirty="0">
                <a:solidFill>
                  <a:srgbClr val="9EA7B8"/>
                </a:solidFill>
                <a:latin typeface="IBM Plex Sans" pitchFamily="34" charset="0"/>
                <a:ea typeface="IBM Plex Sans" pitchFamily="34" charset="-122"/>
                <a:cs typeface="IBM Plex Sans" pitchFamily="34" charset="-120"/>
              </a:rPr>
              <a:t>Astro has no database connection. It fetches JSON from Payload in the frontmatter and renders HTML on the server.</a:t>
            </a:r>
            <a:endParaRPr lang="en-US" sz="1600" dirty="0"/>
          </a:p>
        </p:txBody>
      </p:sp>
      <p:sp>
        <p:nvSpPr>
          <p:cNvPr id="18" name="Shape 15"/>
          <p:cNvSpPr/>
          <p:nvPr/>
        </p:nvSpPr>
        <p:spPr>
          <a:xfrm>
            <a:off x="8125968" y="1874520"/>
            <a:ext cx="3422904" cy="45720"/>
          </a:xfrm>
          <a:prstGeom prst="rect">
            <a:avLst/>
          </a:prstGeom>
          <a:solidFill>
            <a:srgbClr val="6EA3FF"/>
          </a:solidFill>
          <a:ln w="12700">
            <a:solidFill>
              <a:srgbClr val="6EA3FF"/>
            </a:solidFill>
            <a:prstDash val="solid"/>
          </a:ln>
        </p:spPr>
      </p:sp>
      <p:sp>
        <p:nvSpPr>
          <p:cNvPr id="19" name="Text 16"/>
          <p:cNvSpPr txBox="1"/>
          <p:nvPr/>
        </p:nvSpPr>
        <p:spPr>
          <a:xfrm>
            <a:off x="8125968"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IDEA 3</a:t>
            </a:r>
            <a:endParaRPr lang="en-US" sz="1050" dirty="0"/>
          </a:p>
        </p:txBody>
      </p:sp>
      <p:sp>
        <p:nvSpPr>
          <p:cNvPr id="20" name="Text 17"/>
          <p:cNvSpPr txBox="1"/>
          <p:nvPr/>
        </p:nvSpPr>
        <p:spPr>
          <a:xfrm>
            <a:off x="8125968" y="2368296"/>
            <a:ext cx="3422904" cy="731520"/>
          </a:xfrm>
          <a:prstGeom prst="rect">
            <a:avLst/>
          </a:prstGeom>
          <a:noFill/>
          <a:ln/>
        </p:spPr>
        <p:txBody>
          <a:bodyPr wrap="square" lIns="0" tIns="0" rIns="0" bIns="0" rtlCol="0" anchor="t"/>
          <a:lstStyle/>
          <a:p>
            <a:pPr indent="0" marL="0">
              <a:lnSpc>
                <a:spcPct val="100000"/>
              </a:lnSpc>
              <a:buNone/>
            </a:pPr>
            <a:r>
              <a:rPr lang="en-US" sz="2100" b="1" dirty="0">
                <a:solidFill>
                  <a:srgbClr val="ECEEF3"/>
                </a:solidFill>
                <a:latin typeface="IBM Plex Sans" pitchFamily="34" charset="0"/>
                <a:ea typeface="IBM Plex Sans" pitchFamily="34" charset="-122"/>
                <a:cs typeface="IBM Plex Sans" pitchFamily="34" charset="-120"/>
              </a:rPr>
              <a:t>Claude Code writes, you review</a:t>
            </a:r>
            <a:endParaRPr lang="en-US" sz="2100" dirty="0"/>
          </a:p>
        </p:txBody>
      </p:sp>
      <p:sp>
        <p:nvSpPr>
          <p:cNvPr id="21" name="Text 18"/>
          <p:cNvSpPr txBox="1"/>
          <p:nvPr/>
        </p:nvSpPr>
        <p:spPr>
          <a:xfrm>
            <a:off x="8125968" y="3209544"/>
            <a:ext cx="3422904" cy="3008376"/>
          </a:xfrm>
          <a:prstGeom prst="rect">
            <a:avLst/>
          </a:prstGeom>
          <a:noFill/>
          <a:ln/>
        </p:spPr>
        <p:txBody>
          <a:bodyPr wrap="square" lIns="0" tIns="0" rIns="0" bIns="0" rtlCol="0" anchor="t"/>
          <a:lstStyle/>
          <a:p>
            <a:pPr indent="0" marL="0">
              <a:lnSpc>
                <a:spcPct val="115000"/>
              </a:lnSpc>
              <a:buNone/>
            </a:pPr>
            <a:r>
              <a:rPr lang="en-US" sz="1600" dirty="0">
                <a:solidFill>
                  <a:srgbClr val="9EA7B8"/>
                </a:solidFill>
                <a:latin typeface="IBM Plex Sans" pitchFamily="34" charset="0"/>
                <a:ea typeface="IBM Plex Sans" pitchFamily="34" charset="-122"/>
                <a:cs typeface="IBM Plex Sans" pitchFamily="34" charset="-120"/>
              </a:rPr>
              <a:t>It generates the code. You read the diff and decide. If you cannot explain a diff, you do not accept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THE PICTURE</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4 – 7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5 / 27  ·  4:00 – 7:00</a:t>
            </a:r>
            <a:endParaRPr lang="en-US" sz="1000" dirty="0"/>
          </a:p>
        </p:txBody>
      </p:sp>
      <p:sp>
        <p:nvSpPr>
          <p:cNvPr id="8" name="Shape 5"/>
          <p:cNvSpPr/>
          <p:nvPr/>
        </p:nvSpPr>
        <p:spPr>
          <a:xfrm>
            <a:off x="0" y="6821424"/>
            <a:ext cx="2257721"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Two apps, one REST API between them</a:t>
            </a:r>
            <a:endParaRPr lang="en-US" sz="3800" dirty="0"/>
          </a:p>
        </p:txBody>
      </p:sp>
      <p:sp>
        <p:nvSpPr>
          <p:cNvPr id="10" name="Shape 7"/>
          <p:cNvSpPr/>
          <p:nvPr/>
        </p:nvSpPr>
        <p:spPr>
          <a:xfrm>
            <a:off x="640080" y="2194560"/>
            <a:ext cx="3057144" cy="3017520"/>
          </a:xfrm>
          <a:prstGeom prst="rect">
            <a:avLst/>
          </a:prstGeom>
          <a:solidFill>
            <a:srgbClr val="1B1F27"/>
          </a:solidFill>
          <a:ln w="9525">
            <a:solidFill>
              <a:srgbClr val="FFCF3F"/>
            </a:solidFill>
            <a:prstDash val="solid"/>
          </a:ln>
        </p:spPr>
      </p:sp>
      <p:sp>
        <p:nvSpPr>
          <p:cNvPr id="11" name="Text 8"/>
          <p:cNvSpPr txBox="1"/>
          <p:nvPr/>
        </p:nvSpPr>
        <p:spPr>
          <a:xfrm>
            <a:off x="868680" y="2377440"/>
            <a:ext cx="2599944" cy="457200"/>
          </a:xfrm>
          <a:prstGeom prst="rect">
            <a:avLst/>
          </a:prstGeom>
          <a:noFill/>
          <a:ln/>
        </p:spPr>
        <p:txBody>
          <a:bodyPr wrap="square" lIns="0" tIns="0" rIns="0" bIns="0" rtlCol="0" anchor="t"/>
          <a:lstStyle/>
          <a:p>
            <a:pPr indent="0" marL="0">
              <a:buNone/>
            </a:pPr>
            <a:r>
              <a:rPr lang="en-US" sz="2400" b="1" dirty="0">
                <a:solidFill>
                  <a:srgbClr val="ECEEF3"/>
                </a:solidFill>
                <a:latin typeface="IBM Plex Sans" pitchFamily="34" charset="0"/>
                <a:ea typeface="IBM Plex Sans" pitchFamily="34" charset="-122"/>
                <a:cs typeface="IBM Plex Sans" pitchFamily="34" charset="-120"/>
              </a:rPr>
              <a:t>Payload</a:t>
            </a:r>
            <a:endParaRPr lang="en-US" sz="2400" dirty="0"/>
          </a:p>
        </p:txBody>
      </p:sp>
      <p:sp>
        <p:nvSpPr>
          <p:cNvPr id="12" name="Text 9"/>
          <p:cNvSpPr txBox="1"/>
          <p:nvPr/>
        </p:nvSpPr>
        <p:spPr>
          <a:xfrm>
            <a:off x="868680" y="2834640"/>
            <a:ext cx="2599944"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apps/cms · localhost:3300</a:t>
            </a:r>
            <a:endParaRPr lang="en-US" sz="1100" dirty="0"/>
          </a:p>
        </p:txBody>
      </p:sp>
      <p:sp>
        <p:nvSpPr>
          <p:cNvPr id="13" name="Text 10"/>
          <p:cNvSpPr txBox="1"/>
          <p:nvPr/>
        </p:nvSpPr>
        <p:spPr>
          <a:xfrm>
            <a:off x="868680" y="3200400"/>
            <a:ext cx="2599944" cy="1828800"/>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Collections defined in TypeScript</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Admin panel at </a:t>
            </a:r>
            <a:r>
              <a:rPr lang="en-US" sz="1290" dirty="0">
                <a:solidFill>
                  <a:srgbClr val="FFCF3F"/>
                </a:solidFill>
                <a:latin typeface="IBM Plex Mono" pitchFamily="34" charset="0"/>
                <a:ea typeface="IBM Plex Mono" pitchFamily="34" charset="-122"/>
                <a:cs typeface="IBM Plex Mono" pitchFamily="34" charset="-120"/>
              </a:rPr>
              <a:t>/admin</a:t>
            </a:r>
            <a:r>
              <a:rPr lang="en-US" sz="1400" dirty="0">
                <a:solidFill>
                  <a:srgbClr val="9EA7B8"/>
                </a:solidFill>
                <a:latin typeface="IBM Plex Sans" pitchFamily="34" charset="0"/>
                <a:ea typeface="IBM Plex Sans" pitchFamily="34" charset="-122"/>
                <a:cs typeface="IBM Plex Sans" pitchFamily="34" charset="-120"/>
              </a:rPr>
              <a:t>, generated</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REST API at </a:t>
            </a:r>
            <a:r>
              <a:rPr lang="en-US" sz="1290" dirty="0">
                <a:solidFill>
                  <a:srgbClr val="FFCF3F"/>
                </a:solidFill>
                <a:latin typeface="IBM Plex Mono" pitchFamily="34" charset="0"/>
                <a:ea typeface="IBM Plex Mono" pitchFamily="34" charset="-122"/>
                <a:cs typeface="IBM Plex Mono" pitchFamily="34" charset="-120"/>
              </a:rPr>
              <a:t>/api/…</a:t>
            </a:r>
            <a:r>
              <a:rPr lang="en-US" sz="1400" dirty="0">
                <a:solidFill>
                  <a:srgbClr val="9EA7B8"/>
                </a:solidFill>
                <a:latin typeface="IBM Plex Sans" pitchFamily="34" charset="0"/>
                <a:ea typeface="IBM Plex Sans" pitchFamily="34" charset="-122"/>
                <a:cs typeface="IBM Plex Sans" pitchFamily="34" charset="-120"/>
              </a:rPr>
              <a:t>, generated</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SQLite file for the workshop</a:t>
            </a:r>
            <a:endParaRPr lang="en-US" sz="1400" dirty="0"/>
          </a:p>
        </p:txBody>
      </p:sp>
      <p:sp>
        <p:nvSpPr>
          <p:cNvPr id="14" name="Text 11"/>
          <p:cNvSpPr txBox="1"/>
          <p:nvPr/>
        </p:nvSpPr>
        <p:spPr>
          <a:xfrm>
            <a:off x="3697224" y="3291840"/>
            <a:ext cx="868680" cy="274320"/>
          </a:xfrm>
          <a:prstGeom prst="rect">
            <a:avLst/>
          </a:prstGeom>
          <a:noFill/>
          <a:ln/>
        </p:spPr>
        <p:txBody>
          <a:bodyPr wrap="square" lIns="0" tIns="0" rIns="0" bIns="0" rtlCol="0" anchor="t"/>
          <a:lstStyle/>
          <a:p>
            <a:pPr algn="ctr" indent="0" marL="0">
              <a:buNone/>
            </a:pPr>
            <a:r>
              <a:rPr lang="en-US" sz="900" dirty="0">
                <a:solidFill>
                  <a:srgbClr val="FFCF3F"/>
                </a:solidFill>
                <a:latin typeface="IBM Plex Mono" pitchFamily="34" charset="0"/>
                <a:ea typeface="IBM Plex Mono" pitchFamily="34" charset="-122"/>
                <a:cs typeface="IBM Plex Mono" pitchFamily="34" charset="-120"/>
              </a:rPr>
              <a:t>GET /api/services</a:t>
            </a:r>
            <a:endParaRPr lang="en-US" sz="900" dirty="0"/>
          </a:p>
        </p:txBody>
      </p:sp>
      <p:sp>
        <p:nvSpPr>
          <p:cNvPr id="15" name="Shape 12"/>
          <p:cNvSpPr/>
          <p:nvPr/>
        </p:nvSpPr>
        <p:spPr>
          <a:xfrm>
            <a:off x="3788664" y="3611880"/>
            <a:ext cx="685800" cy="201168"/>
          </a:xfrm>
          <a:prstGeom prst="rightArrow">
            <a:avLst/>
          </a:prstGeom>
          <a:solidFill>
            <a:srgbClr val="FFCF3F"/>
          </a:solidFill>
          <a:ln w="12700">
            <a:solidFill>
              <a:srgbClr val="FFCF3F"/>
            </a:solidFill>
            <a:prstDash val="solid"/>
          </a:ln>
        </p:spPr>
      </p:sp>
      <p:sp>
        <p:nvSpPr>
          <p:cNvPr id="16" name="Text 13"/>
          <p:cNvSpPr txBox="1"/>
          <p:nvPr/>
        </p:nvSpPr>
        <p:spPr>
          <a:xfrm>
            <a:off x="3697224" y="3886200"/>
            <a:ext cx="868680" cy="274320"/>
          </a:xfrm>
          <a:prstGeom prst="rect">
            <a:avLst/>
          </a:prstGeom>
          <a:noFill/>
          <a:ln/>
        </p:spPr>
        <p:txBody>
          <a:bodyPr wrap="square" lIns="0" tIns="0" rIns="0" bIns="0" rtlCol="0" anchor="t"/>
          <a:lstStyle/>
          <a:p>
            <a:pPr algn="ctr" indent="0" marL="0">
              <a:buNone/>
            </a:pPr>
            <a:r>
              <a:rPr lang="en-US" sz="900" dirty="0">
                <a:solidFill>
                  <a:srgbClr val="FFCF3F"/>
                </a:solidFill>
                <a:latin typeface="IBM Plex Mono" pitchFamily="34" charset="0"/>
                <a:ea typeface="IBM Plex Mono" pitchFamily="34" charset="-122"/>
                <a:cs typeface="IBM Plex Mono" pitchFamily="34" charset="-120"/>
              </a:rPr>
              <a:t>JSON</a:t>
            </a:r>
            <a:endParaRPr lang="en-US" sz="900" dirty="0"/>
          </a:p>
        </p:txBody>
      </p:sp>
      <p:sp>
        <p:nvSpPr>
          <p:cNvPr id="17" name="Shape 14"/>
          <p:cNvSpPr/>
          <p:nvPr/>
        </p:nvSpPr>
        <p:spPr>
          <a:xfrm>
            <a:off x="4565904" y="2194560"/>
            <a:ext cx="3057144" cy="3017520"/>
          </a:xfrm>
          <a:prstGeom prst="rect">
            <a:avLst/>
          </a:prstGeom>
          <a:solidFill>
            <a:srgbClr val="1B1F27"/>
          </a:solidFill>
          <a:ln w="9525">
            <a:solidFill>
              <a:srgbClr val="FFCF3F"/>
            </a:solidFill>
            <a:prstDash val="solid"/>
          </a:ln>
        </p:spPr>
      </p:sp>
      <p:sp>
        <p:nvSpPr>
          <p:cNvPr id="18" name="Text 15"/>
          <p:cNvSpPr txBox="1"/>
          <p:nvPr/>
        </p:nvSpPr>
        <p:spPr>
          <a:xfrm>
            <a:off x="4794504" y="2377440"/>
            <a:ext cx="2599944" cy="457200"/>
          </a:xfrm>
          <a:prstGeom prst="rect">
            <a:avLst/>
          </a:prstGeom>
          <a:noFill/>
          <a:ln/>
        </p:spPr>
        <p:txBody>
          <a:bodyPr wrap="square" lIns="0" tIns="0" rIns="0" bIns="0" rtlCol="0" anchor="t"/>
          <a:lstStyle/>
          <a:p>
            <a:pPr indent="0" marL="0">
              <a:buNone/>
            </a:pPr>
            <a:r>
              <a:rPr lang="en-US" sz="2400" b="1" dirty="0">
                <a:solidFill>
                  <a:srgbClr val="ECEEF3"/>
                </a:solidFill>
                <a:latin typeface="IBM Plex Sans" pitchFamily="34" charset="0"/>
                <a:ea typeface="IBM Plex Sans" pitchFamily="34" charset="-122"/>
                <a:cs typeface="IBM Plex Sans" pitchFamily="34" charset="-120"/>
              </a:rPr>
              <a:t>Astro</a:t>
            </a:r>
            <a:endParaRPr lang="en-US" sz="2400" dirty="0"/>
          </a:p>
        </p:txBody>
      </p:sp>
      <p:sp>
        <p:nvSpPr>
          <p:cNvPr id="19" name="Text 16"/>
          <p:cNvSpPr txBox="1"/>
          <p:nvPr/>
        </p:nvSpPr>
        <p:spPr>
          <a:xfrm>
            <a:off x="4794504" y="2834640"/>
            <a:ext cx="2599944"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apps/web · localhost:4321</a:t>
            </a:r>
            <a:endParaRPr lang="en-US" sz="1100" dirty="0"/>
          </a:p>
        </p:txBody>
      </p:sp>
      <p:sp>
        <p:nvSpPr>
          <p:cNvPr id="20" name="Text 17"/>
          <p:cNvSpPr txBox="1"/>
          <p:nvPr/>
        </p:nvSpPr>
        <p:spPr>
          <a:xfrm>
            <a:off x="4794504" y="3200400"/>
            <a:ext cx="2599944" cy="1828800"/>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Pages are files: </a:t>
            </a:r>
            <a:r>
              <a:rPr lang="en-US" sz="1290" dirty="0">
                <a:solidFill>
                  <a:srgbClr val="FFCF3F"/>
                </a:solidFill>
                <a:latin typeface="IBM Plex Mono" pitchFamily="34" charset="0"/>
                <a:ea typeface="IBM Plex Mono" pitchFamily="34" charset="-122"/>
                <a:cs typeface="IBM Plex Mono" pitchFamily="34" charset="-120"/>
              </a:rPr>
              <a:t>pages/services/[slug].astro</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Fetches in the frontmatter, renders HTML</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Zero JavaScript shipped unless you ask</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Types imported from the CMS</a:t>
            </a:r>
            <a:endParaRPr lang="en-US" sz="1400" dirty="0"/>
          </a:p>
        </p:txBody>
      </p:sp>
      <p:sp>
        <p:nvSpPr>
          <p:cNvPr id="21" name="Text 18"/>
          <p:cNvSpPr txBox="1"/>
          <p:nvPr/>
        </p:nvSpPr>
        <p:spPr>
          <a:xfrm>
            <a:off x="7623048" y="3291840"/>
            <a:ext cx="868680" cy="274320"/>
          </a:xfrm>
          <a:prstGeom prst="rect">
            <a:avLst/>
          </a:prstGeom>
          <a:noFill/>
          <a:ln/>
        </p:spPr>
        <p:txBody>
          <a:bodyPr wrap="square" lIns="0" tIns="0" rIns="0" bIns="0" rtlCol="0" anchor="t"/>
          <a:lstStyle/>
          <a:p>
            <a:pPr algn="ctr" indent="0" marL="0">
              <a:buNone/>
            </a:pPr>
            <a:r>
              <a:rPr lang="en-US" sz="900" dirty="0">
                <a:solidFill>
                  <a:srgbClr val="FFCF3F"/>
                </a:solidFill>
                <a:latin typeface="IBM Plex Mono" pitchFamily="34" charset="0"/>
                <a:ea typeface="IBM Plex Mono" pitchFamily="34" charset="-122"/>
                <a:cs typeface="IBM Plex Mono" pitchFamily="34" charset="-120"/>
              </a:rPr>
              <a:t>HTML</a:t>
            </a:r>
            <a:endParaRPr lang="en-US" sz="900" dirty="0"/>
          </a:p>
        </p:txBody>
      </p:sp>
      <p:sp>
        <p:nvSpPr>
          <p:cNvPr id="22" name="Shape 19"/>
          <p:cNvSpPr/>
          <p:nvPr/>
        </p:nvSpPr>
        <p:spPr>
          <a:xfrm>
            <a:off x="7714488" y="3611880"/>
            <a:ext cx="685800" cy="201168"/>
          </a:xfrm>
          <a:prstGeom prst="rightArrow">
            <a:avLst/>
          </a:prstGeom>
          <a:solidFill>
            <a:srgbClr val="FFCF3F"/>
          </a:solidFill>
          <a:ln w="12700">
            <a:solidFill>
              <a:srgbClr val="FFCF3F"/>
            </a:solidFill>
            <a:prstDash val="solid"/>
          </a:ln>
        </p:spPr>
      </p:sp>
      <p:sp>
        <p:nvSpPr>
          <p:cNvPr id="23" name="Text 20"/>
          <p:cNvSpPr txBox="1"/>
          <p:nvPr/>
        </p:nvSpPr>
        <p:spPr>
          <a:xfrm>
            <a:off x="7623048" y="3886200"/>
            <a:ext cx="868680" cy="274320"/>
          </a:xfrm>
          <a:prstGeom prst="rect">
            <a:avLst/>
          </a:prstGeom>
          <a:noFill/>
          <a:ln/>
        </p:spPr>
        <p:txBody>
          <a:bodyPr wrap="square" lIns="0" tIns="0" rIns="0" bIns="0" rtlCol="0" anchor="t"/>
          <a:lstStyle/>
          <a:p>
            <a:pPr algn="ctr" indent="0" marL="0">
              <a:buNone/>
            </a:pPr>
            <a:endParaRPr lang="en-US" sz="900" dirty="0"/>
          </a:p>
        </p:txBody>
      </p:sp>
      <p:sp>
        <p:nvSpPr>
          <p:cNvPr id="24" name="Shape 21"/>
          <p:cNvSpPr/>
          <p:nvPr/>
        </p:nvSpPr>
        <p:spPr>
          <a:xfrm>
            <a:off x="8491728" y="2194560"/>
            <a:ext cx="3057144" cy="3017520"/>
          </a:xfrm>
          <a:prstGeom prst="rect">
            <a:avLst/>
          </a:prstGeom>
          <a:solidFill>
            <a:srgbClr val="1B1F27"/>
          </a:solidFill>
          <a:ln w="9525">
            <a:solidFill>
              <a:srgbClr val="2A2F3A"/>
            </a:solidFill>
            <a:prstDash val="solid"/>
          </a:ln>
        </p:spPr>
      </p:sp>
      <p:sp>
        <p:nvSpPr>
          <p:cNvPr id="25" name="Text 22"/>
          <p:cNvSpPr txBox="1"/>
          <p:nvPr/>
        </p:nvSpPr>
        <p:spPr>
          <a:xfrm>
            <a:off x="8720328" y="2377440"/>
            <a:ext cx="2599944" cy="457200"/>
          </a:xfrm>
          <a:prstGeom prst="rect">
            <a:avLst/>
          </a:prstGeom>
          <a:noFill/>
          <a:ln/>
        </p:spPr>
        <p:txBody>
          <a:bodyPr wrap="square" lIns="0" tIns="0" rIns="0" bIns="0" rtlCol="0" anchor="t"/>
          <a:lstStyle/>
          <a:p>
            <a:pPr indent="0" marL="0">
              <a:buNone/>
            </a:pPr>
            <a:r>
              <a:rPr lang="en-US" sz="2400" b="1" dirty="0">
                <a:solidFill>
                  <a:srgbClr val="ECEEF3"/>
                </a:solidFill>
                <a:latin typeface="IBM Plex Sans" pitchFamily="34" charset="0"/>
                <a:ea typeface="IBM Plex Sans" pitchFamily="34" charset="-122"/>
                <a:cs typeface="IBM Plex Sans" pitchFamily="34" charset="-120"/>
              </a:rPr>
              <a:t>Browser</a:t>
            </a:r>
            <a:endParaRPr lang="en-US" sz="2400" dirty="0"/>
          </a:p>
        </p:txBody>
      </p:sp>
      <p:sp>
        <p:nvSpPr>
          <p:cNvPr id="26" name="Text 23"/>
          <p:cNvSpPr txBox="1"/>
          <p:nvPr/>
        </p:nvSpPr>
        <p:spPr>
          <a:xfrm>
            <a:off x="8720328" y="2834640"/>
            <a:ext cx="2599944"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whoever reads your portfolio</a:t>
            </a:r>
            <a:endParaRPr lang="en-US" sz="1100" dirty="0"/>
          </a:p>
        </p:txBody>
      </p:sp>
      <p:sp>
        <p:nvSpPr>
          <p:cNvPr id="27" name="Text 24"/>
          <p:cNvSpPr txBox="1"/>
          <p:nvPr/>
        </p:nvSpPr>
        <p:spPr>
          <a:xfrm>
            <a:off x="8720328" y="3200400"/>
            <a:ext cx="2599944" cy="1828800"/>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Plain HTML and CSS</a:t>
            </a:r>
            <a:endParaRPr lang="en-US" sz="1400" dirty="0"/>
          </a:p>
          <a:p>
            <a:pPr marL="177800" indent="-177800">
              <a:lnSpc>
                <a:spcPct val="110000"/>
              </a:lnSpc>
              <a:spcAft>
                <a:spcPts val="400"/>
              </a:spcAft>
              <a:buSzPct val="100000"/>
              <a:buChar char="•"/>
            </a:pPr>
            <a:r>
              <a:rPr lang="en-US" sz="1400" dirty="0">
                <a:solidFill>
                  <a:srgbClr val="9EA7B8"/>
                </a:solidFill>
                <a:latin typeface="IBM Plex Sans" pitchFamily="34" charset="0"/>
                <a:ea typeface="IBM Plex Sans" pitchFamily="34" charset="-122"/>
                <a:cs typeface="IBM Plex Sans" pitchFamily="34" charset="-120"/>
              </a:rPr>
              <a:t>Fast: static HTML and CSS, no hydration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THE TOOLCHAIN</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4 – 7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6 / 27  ·  4:00 – 7:00</a:t>
            </a:r>
            <a:endParaRPr lang="en-US" sz="1000" dirty="0"/>
          </a:p>
        </p:txBody>
      </p:sp>
      <p:sp>
        <p:nvSpPr>
          <p:cNvPr id="8" name="Shape 5"/>
          <p:cNvSpPr/>
          <p:nvPr/>
        </p:nvSpPr>
        <p:spPr>
          <a:xfrm>
            <a:off x="0" y="6821424"/>
            <a:ext cx="2709266"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Toolchain terms you will see in the logs</a:t>
            </a:r>
            <a:endParaRPr lang="en-US" sz="3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Monorepo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repo, several apps developed together: apps/cms and apps/web</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Theme + custom plugin in one repo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pnpm, workspace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package manager. A workspace is the set of packages in this repo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Composer, roughly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pnpm --filter web</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Run a script in one app. dev:cms and dev:web are shortcuts for it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Node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runtime both apps run 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PHP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TypeScript, type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JavaScript plus a description of the shape of things. Service is a type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Docblocks that are actually checked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Typecheck</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pnpm typecheck. Every place a type does not fit, before anything runs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What PHP finds in production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async / await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Fetching is async; await pauses until the result is in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PHP just waits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.env</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Secrets and settings read at boot. Never committed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wp-config.php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SQLite, Drizzle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one-file database, and the query builder that talks to it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MySQL, wpdb</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Next.js, Turbopack</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What the Payload admin runs on, and its bundler. In the CMS logs; you never write it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Vite, HMR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What Astro builds with, and hot reload. In the web logs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5168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PAYLOAD IN WORDPRESS VOCABULARY</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7 / 27  ·  7:00 – 13:00</a:t>
            </a:r>
            <a:endParaRPr lang="en-US" sz="1000" dirty="0"/>
          </a:p>
        </p:txBody>
      </p:sp>
      <p:sp>
        <p:nvSpPr>
          <p:cNvPr id="8" name="Shape 5"/>
          <p:cNvSpPr/>
          <p:nvPr/>
        </p:nvSpPr>
        <p:spPr>
          <a:xfrm>
            <a:off x="0" y="6821424"/>
            <a:ext cx="3160810"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This file </a:t>
            </a:r>
            <a:r>
              <a:rPr lang="en-US" sz="3800" b="1" dirty="0">
                <a:solidFill>
                  <a:srgbClr val="FFCF3F"/>
                </a:solidFill>
                <a:latin typeface="IBM Plex Sans" pitchFamily="34" charset="0"/>
                <a:ea typeface="IBM Plex Sans" pitchFamily="34" charset="-122"/>
                <a:cs typeface="IBM Plex Sans" pitchFamily="34" charset="-120"/>
              </a:rPr>
              <a:t>is</a:t>
            </a:r>
            <a:r>
              <a:rPr lang="en-US" sz="3800" b="1" dirty="0">
                <a:solidFill>
                  <a:srgbClr val="ECEEF3"/>
                </a:solidFill>
                <a:latin typeface="IBM Plex Sans" pitchFamily="34" charset="0"/>
                <a:ea typeface="IBM Plex Sans" pitchFamily="34" charset="-122"/>
                <a:cs typeface="IBM Plex Sans" pitchFamily="34" charset="-120"/>
              </a:rPr>
              <a:t> the CPT and the ACF group</a:t>
            </a:r>
            <a:endParaRPr lang="en-US" sz="3800" dirty="0"/>
          </a:p>
        </p:txBody>
      </p:sp>
      <p:sp>
        <p:nvSpPr>
          <p:cNvPr id="10" name="Shape 7"/>
          <p:cNvSpPr/>
          <p:nvPr/>
        </p:nvSpPr>
        <p:spPr>
          <a:xfrm>
            <a:off x="640080" y="1874520"/>
            <a:ext cx="5225796" cy="45720"/>
          </a:xfrm>
          <a:prstGeom prst="rect">
            <a:avLst/>
          </a:prstGeom>
          <a:solidFill>
            <a:srgbClr val="5AA9D6"/>
          </a:solidFill>
          <a:ln w="12700">
            <a:solidFill>
              <a:srgbClr val="5AA9D6"/>
            </a:solidFill>
            <a:prstDash val="solid"/>
          </a:ln>
        </p:spPr>
      </p:sp>
      <p:sp>
        <p:nvSpPr>
          <p:cNvPr id="11" name="Text 8"/>
          <p:cNvSpPr txBox="1"/>
          <p:nvPr/>
        </p:nvSpPr>
        <p:spPr>
          <a:xfrm>
            <a:off x="640080" y="2002536"/>
            <a:ext cx="5225796" cy="274320"/>
          </a:xfrm>
          <a:prstGeom prst="rect">
            <a:avLst/>
          </a:prstGeom>
          <a:noFill/>
          <a:ln/>
        </p:spPr>
        <p:txBody>
          <a:bodyPr wrap="square" lIns="0" tIns="0" rIns="0" bIns="0" rtlCol="0" anchor="t"/>
          <a:lstStyle/>
          <a:p>
            <a:pPr indent="0" marL="0">
              <a:buNone/>
            </a:pPr>
            <a:r>
              <a:rPr lang="en-US" sz="1100" spc="150" kern="0" dirty="0">
                <a:solidFill>
                  <a:srgbClr val="5AA9D6"/>
                </a:solidFill>
                <a:latin typeface="IBM Plex Mono" pitchFamily="34" charset="0"/>
                <a:ea typeface="IBM Plex Mono" pitchFamily="34" charset="-122"/>
                <a:cs typeface="IBM Plex Mono" pitchFamily="34" charset="-120"/>
              </a:rPr>
              <a:t>WORDPRESS</a:t>
            </a:r>
            <a:endParaRPr lang="en-US" sz="1100" dirty="0"/>
          </a:p>
        </p:txBody>
      </p:sp>
      <p:sp>
        <p:nvSpPr>
          <p:cNvPr id="12" name="Text 9"/>
          <p:cNvSpPr txBox="1"/>
          <p:nvPr/>
        </p:nvSpPr>
        <p:spPr>
          <a:xfrm>
            <a:off x="640080"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plugin.php + ACF field group</a:t>
            </a:r>
            <a:endParaRPr lang="en-US" sz="1100" dirty="0"/>
          </a:p>
        </p:txBody>
      </p:sp>
      <p:sp>
        <p:nvSpPr>
          <p:cNvPr id="13" name="Shape 10"/>
          <p:cNvSpPr/>
          <p:nvPr/>
        </p:nvSpPr>
        <p:spPr>
          <a:xfrm>
            <a:off x="640080" y="2606040"/>
            <a:ext cx="5225796" cy="3099816"/>
          </a:xfrm>
          <a:prstGeom prst="rect">
            <a:avLst/>
          </a:prstGeom>
          <a:solidFill>
            <a:srgbClr val="0E1014"/>
          </a:solidFill>
          <a:ln w="9525">
            <a:solidFill>
              <a:srgbClr val="2A2F3A"/>
            </a:solidFill>
            <a:prstDash val="solid"/>
          </a:ln>
        </p:spPr>
      </p:sp>
      <p:sp>
        <p:nvSpPr>
          <p:cNvPr id="14" name="Text 11"/>
          <p:cNvSpPr txBox="1"/>
          <p:nvPr/>
        </p:nvSpPr>
        <p:spPr>
          <a:xfrm>
            <a:off x="822960" y="2752344"/>
            <a:ext cx="4860036" cy="2807208"/>
          </a:xfrm>
          <a:prstGeom prst="rect">
            <a:avLst/>
          </a:prstGeom>
          <a:noFill/>
          <a:ln/>
        </p:spPr>
        <p:txBody>
          <a:bodyPr wrap="square" lIns="0" tIns="0" rIns="0" bIns="0" rtlCol="0" anchor="t"/>
          <a:lstStyle/>
          <a:p>
            <a:pPr indent="0" marL="0">
              <a:lnSpc>
                <a:spcPct val="115000"/>
              </a:lnSpc>
              <a:buNone/>
            </a:pPr>
            <a:r>
              <a:rPr lang="en-US" sz="1300" dirty="0">
                <a:solidFill>
                  <a:srgbClr val="5AA9D6"/>
                </a:solidFill>
                <a:latin typeface="IBM Plex Mono" pitchFamily="34" charset="0"/>
                <a:ea typeface="IBM Plex Mono" pitchFamily="34" charset="-122"/>
                <a:cs typeface="IBM Plex Mono" pitchFamily="34" charset="-120"/>
              </a:rPr>
              <a:t>register_post_type</a:t>
            </a: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'service'</a:t>
            </a:r>
            <a:r>
              <a:rPr lang="en-US" sz="1300" dirty="0">
                <a:solidFill>
                  <a:srgbClr val="ECEEF3"/>
                </a:solidFill>
                <a:latin typeface="IBM Plex Mono" pitchFamily="34" charset="0"/>
                <a:ea typeface="IBM Plex Mono" pitchFamily="34" charset="-122"/>
                <a:cs typeface="IBM Plex Mono" pitchFamily="34" charset="-120"/>
              </a:rPr>
              <a:t>, [</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'public'</a:t>
            </a:r>
            <a:r>
              <a:rPr lang="en-US" sz="1300" dirty="0">
                <a:solidFill>
                  <a:srgbClr val="ECEEF3"/>
                </a:solidFill>
                <a:latin typeface="IBM Plex Mono" pitchFamily="34" charset="0"/>
                <a:ea typeface="IBM Plex Mono" pitchFamily="34" charset="-122"/>
                <a:cs typeface="IBM Plex Mono" pitchFamily="34" charset="-120"/>
              </a:rPr>
              <a:t>       =&gt; true,</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'has_archive'</a:t>
            </a:r>
            <a:r>
              <a:rPr lang="en-US" sz="1300" dirty="0">
                <a:solidFill>
                  <a:srgbClr val="ECEEF3"/>
                </a:solidFill>
                <a:latin typeface="IBM Plex Mono" pitchFamily="34" charset="0"/>
                <a:ea typeface="IBM Plex Mono" pitchFamily="34" charset="-122"/>
                <a:cs typeface="IBM Plex Mono" pitchFamily="34" charset="-120"/>
              </a:rPr>
              <a:t>  =&gt; true,</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'show_in_rest'</a:t>
            </a:r>
            <a:r>
              <a:rPr lang="en-US" sz="1300" dirty="0">
                <a:solidFill>
                  <a:srgbClr val="ECEEF3"/>
                </a:solidFill>
                <a:latin typeface="IBM Plex Mono" pitchFamily="34" charset="0"/>
                <a:ea typeface="IBM Plex Mono" pitchFamily="34" charset="-122"/>
                <a:cs typeface="IBM Plex Mono" pitchFamily="34" charset="-120"/>
              </a:rPr>
              <a:t> =&gt; true,</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'supports'</a:t>
            </a:r>
            <a:r>
              <a:rPr lang="en-US" sz="1300" dirty="0">
                <a:solidFill>
                  <a:srgbClr val="ECEEF3"/>
                </a:solidFill>
                <a:latin typeface="IBM Plex Mono" pitchFamily="34" charset="0"/>
                <a:ea typeface="IBM Plex Mono" pitchFamily="34" charset="-122"/>
                <a:cs typeface="IBM Plex Mono" pitchFamily="34" charset="-120"/>
              </a:rPr>
              <a:t>     =&gt; [</a:t>
            </a:r>
            <a:r>
              <a:rPr lang="en-US" sz="1300" dirty="0">
                <a:solidFill>
                  <a:srgbClr val="7ED3A0"/>
                </a:solidFill>
                <a:latin typeface="IBM Plex Mono" pitchFamily="34" charset="0"/>
                <a:ea typeface="IBM Plex Mono" pitchFamily="34" charset="-122"/>
                <a:cs typeface="IBM Plex Mono" pitchFamily="34" charset="-120"/>
              </a:rPr>
              <a:t>'title'</a:t>
            </a:r>
            <a:r>
              <a:rPr lang="en-US" sz="1300" dirty="0">
                <a:solidFill>
                  <a:srgbClr val="ECEEF3"/>
                </a:solidFill>
                <a:latin typeface="IBM Plex Mono" pitchFamily="34" charset="0"/>
                <a:ea typeface="IBM Plex Mono" pitchFamily="34" charset="-122"/>
                <a:cs typeface="IBM Plex Mono" pitchFamily="34" charset="-120"/>
              </a:rPr>
              <a:t>],</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endParaRPr lang="en-US" sz="1300" dirty="0"/>
          </a:p>
          <a:p>
            <a:pPr indent="0" marL="0">
              <a:lnSpc>
                <a:spcPct val="115000"/>
              </a:lnSpc>
              <a:buNone/>
            </a:pP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then, in wp-admin, click together:</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Field group "Service details"</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summary   textarea, required, max 240</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icon      select: code / design / …</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order     number</a:t>
            </a:r>
            <a:endParaRPr lang="en-US" sz="1300" dirty="0"/>
          </a:p>
        </p:txBody>
      </p:sp>
      <p:sp>
        <p:nvSpPr>
          <p:cNvPr id="15" name="Shape 12"/>
          <p:cNvSpPr/>
          <p:nvPr/>
        </p:nvSpPr>
        <p:spPr>
          <a:xfrm>
            <a:off x="6323076" y="1874520"/>
            <a:ext cx="5225796" cy="45720"/>
          </a:xfrm>
          <a:prstGeom prst="rect">
            <a:avLst/>
          </a:prstGeom>
          <a:solidFill>
            <a:srgbClr val="FFCF3F"/>
          </a:solidFill>
          <a:ln w="12700">
            <a:solidFill>
              <a:srgbClr val="FFCF3F"/>
            </a:solidFill>
            <a:prstDash val="solid"/>
          </a:ln>
        </p:spPr>
      </p:sp>
      <p:sp>
        <p:nvSpPr>
          <p:cNvPr id="16" name="Text 13"/>
          <p:cNvSpPr txBox="1"/>
          <p:nvPr/>
        </p:nvSpPr>
        <p:spPr>
          <a:xfrm>
            <a:off x="6323076" y="2002536"/>
            <a:ext cx="5225796" cy="274320"/>
          </a:xfrm>
          <a:prstGeom prst="rect">
            <a:avLst/>
          </a:prstGeom>
          <a:noFill/>
          <a:ln/>
        </p:spPr>
        <p:txBody>
          <a:bodyPr wrap="square" lIns="0" tIns="0" rIns="0" bIns="0" rtlCol="0" anchor="t"/>
          <a:lstStyle/>
          <a:p>
            <a:pPr indent="0" marL="0">
              <a:buNone/>
            </a:pPr>
            <a:r>
              <a:rPr lang="en-US" sz="1100" spc="150" kern="0" dirty="0">
                <a:solidFill>
                  <a:srgbClr val="FFCF3F"/>
                </a:solidFill>
                <a:latin typeface="IBM Plex Mono" pitchFamily="34" charset="0"/>
                <a:ea typeface="IBM Plex Mono" pitchFamily="34" charset="-122"/>
                <a:cs typeface="IBM Plex Mono" pitchFamily="34" charset="-120"/>
              </a:rPr>
              <a:t>PAYLOAD</a:t>
            </a:r>
            <a:endParaRPr lang="en-US" sz="1100" dirty="0"/>
          </a:p>
        </p:txBody>
      </p:sp>
      <p:sp>
        <p:nvSpPr>
          <p:cNvPr id="17" name="Text 14"/>
          <p:cNvSpPr txBox="1"/>
          <p:nvPr/>
        </p:nvSpPr>
        <p:spPr>
          <a:xfrm>
            <a:off x="6323076"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apps/cms/src/collections/Services.ts</a:t>
            </a:r>
            <a:endParaRPr lang="en-US" sz="1100" dirty="0"/>
          </a:p>
        </p:txBody>
      </p:sp>
      <p:sp>
        <p:nvSpPr>
          <p:cNvPr id="18" name="Shape 15"/>
          <p:cNvSpPr/>
          <p:nvPr/>
        </p:nvSpPr>
        <p:spPr>
          <a:xfrm>
            <a:off x="6323076" y="2606040"/>
            <a:ext cx="5225796" cy="2985897"/>
          </a:xfrm>
          <a:prstGeom prst="rect">
            <a:avLst/>
          </a:prstGeom>
          <a:solidFill>
            <a:srgbClr val="0E1014"/>
          </a:solidFill>
          <a:ln w="9525">
            <a:solidFill>
              <a:srgbClr val="2A2F3A"/>
            </a:solidFill>
            <a:prstDash val="solid"/>
          </a:ln>
        </p:spPr>
      </p:sp>
      <p:sp>
        <p:nvSpPr>
          <p:cNvPr id="19" name="Text 16"/>
          <p:cNvSpPr txBox="1"/>
          <p:nvPr/>
        </p:nvSpPr>
        <p:spPr>
          <a:xfrm>
            <a:off x="6505956" y="2752344"/>
            <a:ext cx="4860036" cy="2693289"/>
          </a:xfrm>
          <a:prstGeom prst="rect">
            <a:avLst/>
          </a:prstGeom>
          <a:noFill/>
          <a:ln/>
        </p:spPr>
        <p:txBody>
          <a:bodyPr wrap="square" lIns="0" tIns="0" rIns="0" bIns="0" rtlCol="0" anchor="t"/>
          <a:lstStyle/>
          <a:p>
            <a:pPr indent="0" marL="0">
              <a:lnSpc>
                <a:spcPct val="115000"/>
              </a:lnSpc>
              <a:buNone/>
            </a:pPr>
            <a:r>
              <a:rPr lang="en-US" sz="1150" dirty="0">
                <a:solidFill>
                  <a:srgbClr val="5AA9D6"/>
                </a:solidFill>
                <a:latin typeface="IBM Plex Mono" pitchFamily="34" charset="0"/>
                <a:ea typeface="IBM Plex Mono" pitchFamily="34" charset="-122"/>
                <a:cs typeface="IBM Plex Mono" pitchFamily="34" charset="-120"/>
              </a:rPr>
              <a:t>export const</a:t>
            </a:r>
            <a:r>
              <a:rPr lang="en-US" sz="1150" dirty="0">
                <a:solidFill>
                  <a:srgbClr val="ECEEF3"/>
                </a:solidFill>
                <a:latin typeface="IBM Plex Mono" pitchFamily="34" charset="0"/>
                <a:ea typeface="IBM Plex Mono" pitchFamily="34" charset="-122"/>
                <a:cs typeface="IBM Plex Mono" pitchFamily="34" charset="-120"/>
              </a:rPr>
              <a:t> Services: CollectionConfig =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slug: </a:t>
            </a:r>
            <a:r>
              <a:rPr lang="en-US" sz="1150" dirty="0">
                <a:solidFill>
                  <a:srgbClr val="7ED3A0"/>
                </a:solidFill>
                <a:latin typeface="IBM Plex Mono" pitchFamily="34" charset="0"/>
                <a:ea typeface="IBM Plex Mono" pitchFamily="34" charset="-122"/>
                <a:cs typeface="IBM Plex Mono" pitchFamily="34" charset="-120"/>
              </a:rPr>
              <a:t>'services'</a:t>
            </a:r>
            <a:r>
              <a:rPr lang="en-US" sz="1150" dirty="0">
                <a:solidFill>
                  <a:srgbClr val="ECEEF3"/>
                </a:solidFill>
                <a:latin typeface="IBM Plex Mono" pitchFamily="34" charset="0"/>
                <a:ea typeface="IBM Plex Mono" pitchFamily="34" charset="-122"/>
                <a:cs typeface="IBM Plex Mono" pitchFamily="34" charset="-120"/>
              </a:rPr>
              <a: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admin: { useAsTitle: </a:t>
            </a:r>
            <a:r>
              <a:rPr lang="en-US" sz="1150" dirty="0">
                <a:solidFill>
                  <a:srgbClr val="7ED3A0"/>
                </a:solidFill>
                <a:latin typeface="IBM Plex Mono" pitchFamily="34" charset="0"/>
                <a:ea typeface="IBM Plex Mono" pitchFamily="34" charset="-122"/>
                <a:cs typeface="IBM Plex Mono" pitchFamily="34" charset="-120"/>
              </a:rPr>
              <a:t>'title'</a:t>
            </a:r>
            <a:r>
              <a:rPr lang="en-US" sz="1150" dirty="0">
                <a:solidFill>
                  <a:srgbClr val="ECEEF3"/>
                </a:solidFill>
                <a:latin typeface="IBM Plex Mono" pitchFamily="34" charset="0"/>
                <a:ea typeface="IBM Plex Mono" pitchFamily="34" charset="-122"/>
                <a:cs typeface="IBM Plex Mono" pitchFamily="34" charset="-120"/>
              </a:rPr>
              <a:t>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access: { read: () =&gt; true, </a:t>
            </a:r>
            <a:r>
              <a:rPr lang="en-US" sz="1150" dirty="0">
                <a:solidFill>
                  <a:srgbClr val="6B7385"/>
                </a:solidFill>
                <a:latin typeface="IBM Plex Mono" pitchFamily="34" charset="0"/>
                <a:ea typeface="IBM Plex Mono" pitchFamily="34" charset="-122"/>
                <a:cs typeface="IBM Plex Mono" pitchFamily="34" charset="-120"/>
              </a:rPr>
              <a:t>/* … */</a:t>
            </a:r>
            <a:r>
              <a:rPr lang="en-US" sz="1150" dirty="0">
                <a:solidFill>
                  <a:srgbClr val="ECEEF3"/>
                </a:solidFill>
                <a:latin typeface="IBM Plex Mono" pitchFamily="34" charset="0"/>
                <a:ea typeface="IBM Plex Mono" pitchFamily="34" charset="-122"/>
                <a:cs typeface="IBM Plex Mono" pitchFamily="34" charset="-120"/>
              </a:rPr>
              <a:t>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fields: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 name: </a:t>
            </a:r>
            <a:r>
              <a:rPr lang="en-US" sz="1150" dirty="0">
                <a:solidFill>
                  <a:srgbClr val="7ED3A0"/>
                </a:solidFill>
                <a:latin typeface="IBM Plex Mono" pitchFamily="34" charset="0"/>
                <a:ea typeface="IBM Plex Mono" pitchFamily="34" charset="-122"/>
                <a:cs typeface="IBM Plex Mono" pitchFamily="34" charset="-120"/>
              </a:rPr>
              <a:t>'title'</a:t>
            </a:r>
            <a:r>
              <a:rPr lang="en-US" sz="1150" dirty="0">
                <a:solidFill>
                  <a:srgbClr val="ECEEF3"/>
                </a:solidFill>
                <a:latin typeface="IBM Plex Mono" pitchFamily="34" charset="0"/>
                <a:ea typeface="IBM Plex Mono" pitchFamily="34" charset="-122"/>
                <a:cs typeface="IBM Plex Mono" pitchFamily="34" charset="-120"/>
              </a:rPr>
              <a:t>,   type: </a:t>
            </a:r>
            <a:r>
              <a:rPr lang="en-US" sz="1150" dirty="0">
                <a:solidFill>
                  <a:srgbClr val="7ED3A0"/>
                </a:solidFill>
                <a:latin typeface="IBM Plex Mono" pitchFamily="34" charset="0"/>
                <a:ea typeface="IBM Plex Mono" pitchFamily="34" charset="-122"/>
                <a:cs typeface="IBM Plex Mono" pitchFamily="34" charset="-120"/>
              </a:rPr>
              <a:t>'text'</a:t>
            </a:r>
            <a:r>
              <a:rPr lang="en-US" sz="1150" dirty="0">
                <a:solidFill>
                  <a:srgbClr val="ECEEF3"/>
                </a:solidFill>
                <a:latin typeface="IBM Plex Mono" pitchFamily="34" charset="0"/>
                <a:ea typeface="IBM Plex Mono" pitchFamily="34" charset="-122"/>
                <a:cs typeface="IBM Plex Mono" pitchFamily="34" charset="-120"/>
              </a:rPr>
              <a:t>, required: true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 name: </a:t>
            </a:r>
            <a:r>
              <a:rPr lang="en-US" sz="1150" dirty="0">
                <a:solidFill>
                  <a:srgbClr val="7ED3A0"/>
                </a:solidFill>
                <a:latin typeface="IBM Plex Mono" pitchFamily="34" charset="0"/>
                <a:ea typeface="IBM Plex Mono" pitchFamily="34" charset="-122"/>
                <a:cs typeface="IBM Plex Mono" pitchFamily="34" charset="-120"/>
              </a:rPr>
              <a:t>'slug'</a:t>
            </a:r>
            <a:r>
              <a:rPr lang="en-US" sz="1150" dirty="0">
                <a:solidFill>
                  <a:srgbClr val="ECEEF3"/>
                </a:solidFill>
                <a:latin typeface="IBM Plex Mono" pitchFamily="34" charset="0"/>
                <a:ea typeface="IBM Plex Mono" pitchFamily="34" charset="-122"/>
                <a:cs typeface="IBM Plex Mono" pitchFamily="34" charset="-120"/>
              </a:rPr>
              <a:t>,    type: </a:t>
            </a:r>
            <a:r>
              <a:rPr lang="en-US" sz="1150" dirty="0">
                <a:solidFill>
                  <a:srgbClr val="7ED3A0"/>
                </a:solidFill>
                <a:latin typeface="IBM Plex Mono" pitchFamily="34" charset="0"/>
                <a:ea typeface="IBM Plex Mono" pitchFamily="34" charset="-122"/>
                <a:cs typeface="IBM Plex Mono" pitchFamily="34" charset="-120"/>
              </a:rPr>
              <a:t>'text'</a:t>
            </a:r>
            <a:r>
              <a:rPr lang="en-US" sz="1150" dirty="0">
                <a:solidFill>
                  <a:srgbClr val="ECEEF3"/>
                </a:solidFill>
                <a:latin typeface="IBM Plex Mono" pitchFamily="34" charset="0"/>
                <a:ea typeface="IBM Plex Mono" pitchFamily="34" charset="-122"/>
                <a:cs typeface="IBM Plex Mono" pitchFamily="34" charset="-120"/>
              </a:rPr>
              <a:t>, unique: true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 name: </a:t>
            </a:r>
            <a:r>
              <a:rPr lang="en-US" sz="1150" dirty="0">
                <a:solidFill>
                  <a:srgbClr val="7ED3A0"/>
                </a:solidFill>
                <a:latin typeface="IBM Plex Mono" pitchFamily="34" charset="0"/>
                <a:ea typeface="IBM Plex Mono" pitchFamily="34" charset="-122"/>
                <a:cs typeface="IBM Plex Mono" pitchFamily="34" charset="-120"/>
              </a:rPr>
              <a:t>'summary'</a:t>
            </a:r>
            <a:r>
              <a:rPr lang="en-US" sz="1150" dirty="0">
                <a:solidFill>
                  <a:srgbClr val="ECEEF3"/>
                </a:solidFill>
                <a:latin typeface="IBM Plex Mono" pitchFamily="34" charset="0"/>
                <a:ea typeface="IBM Plex Mono" pitchFamily="34" charset="-122"/>
                <a:cs typeface="IBM Plex Mono" pitchFamily="34" charset="-120"/>
              </a:rPr>
              <a:t>, type: </a:t>
            </a:r>
            <a:r>
              <a:rPr lang="en-US" sz="1150" dirty="0">
                <a:solidFill>
                  <a:srgbClr val="7ED3A0"/>
                </a:solidFill>
                <a:latin typeface="IBM Plex Mono" pitchFamily="34" charset="0"/>
                <a:ea typeface="IBM Plex Mono" pitchFamily="34" charset="-122"/>
                <a:cs typeface="IBM Plex Mono" pitchFamily="34" charset="-120"/>
              </a:rPr>
              <a:t>'textarea'</a:t>
            </a:r>
            <a:r>
              <a:rPr lang="en-US" sz="1150" dirty="0">
                <a:solidFill>
                  <a:srgbClr val="ECEEF3"/>
                </a:solidFill>
                <a:latin typeface="IBM Plex Mono" pitchFamily="34" charset="0"/>
                <a:ea typeface="IBM Plex Mono" pitchFamily="34" charset="-122"/>
                <a:cs typeface="IBM Plex Mono" pitchFamily="34" charset="-120"/>
              </a:rPr>
              <a: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required: true, maxLength: 240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 name: </a:t>
            </a:r>
            <a:r>
              <a:rPr lang="en-US" sz="1150" dirty="0">
                <a:solidFill>
                  <a:srgbClr val="7ED3A0"/>
                </a:solidFill>
                <a:latin typeface="IBM Plex Mono" pitchFamily="34" charset="0"/>
                <a:ea typeface="IBM Plex Mono" pitchFamily="34" charset="-122"/>
                <a:cs typeface="IBM Plex Mono" pitchFamily="34" charset="-120"/>
              </a:rPr>
              <a:t>'icon'</a:t>
            </a:r>
            <a:r>
              <a:rPr lang="en-US" sz="1150" dirty="0">
                <a:solidFill>
                  <a:srgbClr val="ECEEF3"/>
                </a:solidFill>
                <a:latin typeface="IBM Plex Mono" pitchFamily="34" charset="0"/>
                <a:ea typeface="IBM Plex Mono" pitchFamily="34" charset="-122"/>
                <a:cs typeface="IBM Plex Mono" pitchFamily="34" charset="-120"/>
              </a:rPr>
              <a:t>,    type: </a:t>
            </a:r>
            <a:r>
              <a:rPr lang="en-US" sz="1150" dirty="0">
                <a:solidFill>
                  <a:srgbClr val="7ED3A0"/>
                </a:solidFill>
                <a:latin typeface="IBM Plex Mono" pitchFamily="34" charset="0"/>
                <a:ea typeface="IBM Plex Mono" pitchFamily="34" charset="-122"/>
                <a:cs typeface="IBM Plex Mono" pitchFamily="34" charset="-120"/>
              </a:rPr>
              <a:t>'select'</a:t>
            </a:r>
            <a:r>
              <a:rPr lang="en-US" sz="1150" dirty="0">
                <a:solidFill>
                  <a:srgbClr val="ECEEF3"/>
                </a:solidFill>
                <a:latin typeface="IBM Plex Mono" pitchFamily="34" charset="0"/>
                <a:ea typeface="IBM Plex Mono" pitchFamily="34" charset="-122"/>
                <a:cs typeface="IBM Plex Mono" pitchFamily="34" charset="-120"/>
              </a:rPr>
              <a:t>, options: […]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 name: </a:t>
            </a:r>
            <a:r>
              <a:rPr lang="en-US" sz="1150" dirty="0">
                <a:solidFill>
                  <a:srgbClr val="7ED3A0"/>
                </a:solidFill>
                <a:latin typeface="IBM Plex Mono" pitchFamily="34" charset="0"/>
                <a:ea typeface="IBM Plex Mono" pitchFamily="34" charset="-122"/>
                <a:cs typeface="IBM Plex Mono" pitchFamily="34" charset="-120"/>
              </a:rPr>
              <a:t>'order'</a:t>
            </a:r>
            <a:r>
              <a:rPr lang="en-US" sz="1150" dirty="0">
                <a:solidFill>
                  <a:srgbClr val="ECEEF3"/>
                </a:solidFill>
                <a:latin typeface="IBM Plex Mono" pitchFamily="34" charset="0"/>
                <a:ea typeface="IBM Plex Mono" pitchFamily="34" charset="-122"/>
                <a:cs typeface="IBM Plex Mono" pitchFamily="34" charset="-120"/>
              </a:rPr>
              <a:t>,   type: </a:t>
            </a:r>
            <a:r>
              <a:rPr lang="en-US" sz="1150" dirty="0">
                <a:solidFill>
                  <a:srgbClr val="7ED3A0"/>
                </a:solidFill>
                <a:latin typeface="IBM Plex Mono" pitchFamily="34" charset="0"/>
                <a:ea typeface="IBM Plex Mono" pitchFamily="34" charset="-122"/>
                <a:cs typeface="IBM Plex Mono" pitchFamily="34" charset="-120"/>
              </a:rPr>
              <a:t>'number'</a:t>
            </a:r>
            <a:r>
              <a:rPr lang="en-US" sz="1150" dirty="0">
                <a:solidFill>
                  <a:srgbClr val="ECEEF3"/>
                </a:solidFill>
                <a:latin typeface="IBM Plex Mono" pitchFamily="34" charset="0"/>
                <a:ea typeface="IBM Plex Mono" pitchFamily="34" charset="-122"/>
                <a:cs typeface="IBM Plex Mono" pitchFamily="34" charset="-120"/>
              </a:rPr>
              <a:t>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PAYLOAD IN WORDPRESS VOCABULARY</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8 / 27  ·  7:00 – 13:00</a:t>
            </a:r>
            <a:endParaRPr lang="en-US" sz="1000" dirty="0"/>
          </a:p>
        </p:txBody>
      </p:sp>
      <p:sp>
        <p:nvSpPr>
          <p:cNvPr id="8" name="Shape 5"/>
          <p:cNvSpPr/>
          <p:nvPr/>
        </p:nvSpPr>
        <p:spPr>
          <a:xfrm>
            <a:off x="0" y="6821424"/>
            <a:ext cx="3612354"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One collection file generates three things</a:t>
            </a:r>
            <a:endParaRPr lang="en-US" sz="3800" dirty="0"/>
          </a:p>
        </p:txBody>
      </p:sp>
      <p:sp>
        <p:nvSpPr>
          <p:cNvPr id="10" name="Text 7"/>
          <p:cNvSpPr txBox="1"/>
          <p:nvPr/>
        </p:nvSpPr>
        <p:spPr>
          <a:xfrm>
            <a:off x="640080"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1</a:t>
            </a:r>
            <a:endParaRPr lang="en-US" sz="3000" dirty="0"/>
          </a:p>
        </p:txBody>
      </p:sp>
      <p:sp>
        <p:nvSpPr>
          <p:cNvPr id="11" name="Text 8"/>
          <p:cNvSpPr txBox="1"/>
          <p:nvPr/>
        </p:nvSpPr>
        <p:spPr>
          <a:xfrm>
            <a:off x="1325880" y="1874520"/>
            <a:ext cx="4539996" cy="365760"/>
          </a:xfrm>
          <a:prstGeom prst="rect">
            <a:avLst/>
          </a:prstGeom>
          <a:noFill/>
          <a:ln/>
        </p:spPr>
        <p:txBody>
          <a:bodyPr wrap="square" lIns="0" tIns="0" rIns="0" bIns="0" rtlCol="0" anchor="t"/>
          <a:lstStyle/>
          <a:p>
            <a:pPr indent="0" marL="0">
              <a:buNone/>
            </a:pPr>
            <a:r>
              <a:rPr lang="en-US" sz="1900" b="1" dirty="0">
                <a:solidFill>
                  <a:srgbClr val="ECEEF3"/>
                </a:solidFill>
                <a:latin typeface="IBM Plex Sans" pitchFamily="34" charset="0"/>
                <a:ea typeface="IBM Plex Sans" pitchFamily="34" charset="-122"/>
                <a:cs typeface="IBM Plex Sans" pitchFamily="34" charset="-120"/>
              </a:rPr>
              <a:t>An admin panel</a:t>
            </a:r>
            <a:endParaRPr lang="en-US" sz="1900" dirty="0"/>
          </a:p>
        </p:txBody>
      </p:sp>
      <p:sp>
        <p:nvSpPr>
          <p:cNvPr id="12" name="Text 9"/>
          <p:cNvSpPr txBox="1"/>
          <p:nvPr/>
        </p:nvSpPr>
        <p:spPr>
          <a:xfrm>
            <a:off x="1325880" y="2240280"/>
            <a:ext cx="4539996" cy="1188720"/>
          </a:xfrm>
          <a:prstGeom prst="rect">
            <a:avLst/>
          </a:prstGeom>
          <a:noFill/>
          <a:ln/>
        </p:spPr>
        <p:txBody>
          <a:bodyPr wrap="square" lIns="0" tIns="0" rIns="0" bIns="0" rtlCol="0" anchor="t"/>
          <a:lstStyle/>
          <a:p>
            <a:pPr indent="0" marL="0">
              <a:lnSpc>
                <a:spcPct val="110000"/>
              </a:lnSpc>
              <a:buNone/>
            </a:pPr>
            <a:r>
              <a:rPr lang="en-US" sz="1500" dirty="0">
                <a:solidFill>
                  <a:srgbClr val="9EA7B8"/>
                </a:solidFill>
                <a:latin typeface="IBM Plex Sans" pitchFamily="34" charset="0"/>
                <a:ea typeface="IBM Plex Sans" pitchFamily="34" charset="-122"/>
                <a:cs typeface="IBM Plex Sans" pitchFamily="34" charset="-120"/>
              </a:rPr>
              <a:t>Every field becomes a form control at </a:t>
            </a:r>
            <a:r>
              <a:rPr lang="en-US" sz="1380" dirty="0">
                <a:solidFill>
                  <a:srgbClr val="FFCF3F"/>
                </a:solidFill>
                <a:latin typeface="IBM Plex Mono" pitchFamily="34" charset="0"/>
                <a:ea typeface="IBM Plex Mono" pitchFamily="34" charset="-122"/>
                <a:cs typeface="IBM Plex Mono" pitchFamily="34" charset="-120"/>
              </a:rPr>
              <a:t>/admin</a:t>
            </a:r>
            <a:r>
              <a:rPr lang="en-US" sz="1500" dirty="0">
                <a:solidFill>
                  <a:srgbClr val="9EA7B8"/>
                </a:solidFill>
                <a:latin typeface="IBM Plex Sans" pitchFamily="34" charset="0"/>
                <a:ea typeface="IBM Plex Sans" pitchFamily="34" charset="-122"/>
                <a:cs typeface="IBM Plex Sans" pitchFamily="34" charset="-120"/>
              </a:rPr>
              <a:t>. Change the file, restart, the form changes. No screen to click through.</a:t>
            </a:r>
            <a:endParaRPr lang="en-US" sz="1500" dirty="0"/>
          </a:p>
        </p:txBody>
      </p:sp>
      <p:sp>
        <p:nvSpPr>
          <p:cNvPr id="13" name="Text 10"/>
          <p:cNvSpPr txBox="1"/>
          <p:nvPr/>
        </p:nvSpPr>
        <p:spPr>
          <a:xfrm>
            <a:off x="6323076"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2</a:t>
            </a:r>
            <a:endParaRPr lang="en-US" sz="3000" dirty="0"/>
          </a:p>
        </p:txBody>
      </p:sp>
      <p:sp>
        <p:nvSpPr>
          <p:cNvPr id="14" name="Text 11"/>
          <p:cNvSpPr txBox="1"/>
          <p:nvPr/>
        </p:nvSpPr>
        <p:spPr>
          <a:xfrm>
            <a:off x="7008876" y="1874520"/>
            <a:ext cx="4539996" cy="365760"/>
          </a:xfrm>
          <a:prstGeom prst="rect">
            <a:avLst/>
          </a:prstGeom>
          <a:noFill/>
          <a:ln/>
        </p:spPr>
        <p:txBody>
          <a:bodyPr wrap="square" lIns="0" tIns="0" rIns="0" bIns="0" rtlCol="0" anchor="t"/>
          <a:lstStyle/>
          <a:p>
            <a:pPr indent="0" marL="0">
              <a:buNone/>
            </a:pPr>
            <a:r>
              <a:rPr lang="en-US" sz="1900" b="1" dirty="0">
                <a:solidFill>
                  <a:srgbClr val="ECEEF3"/>
                </a:solidFill>
                <a:latin typeface="IBM Plex Sans" pitchFamily="34" charset="0"/>
                <a:ea typeface="IBM Plex Sans" pitchFamily="34" charset="-122"/>
                <a:cs typeface="IBM Plex Sans" pitchFamily="34" charset="-120"/>
              </a:rPr>
              <a:t>A REST API</a:t>
            </a:r>
            <a:endParaRPr lang="en-US" sz="1900" dirty="0"/>
          </a:p>
        </p:txBody>
      </p:sp>
      <p:sp>
        <p:nvSpPr>
          <p:cNvPr id="15" name="Text 12"/>
          <p:cNvSpPr txBox="1"/>
          <p:nvPr/>
        </p:nvSpPr>
        <p:spPr>
          <a:xfrm>
            <a:off x="7008876" y="2240280"/>
            <a:ext cx="4539996" cy="1188720"/>
          </a:xfrm>
          <a:prstGeom prst="rect">
            <a:avLst/>
          </a:prstGeom>
          <a:noFill/>
          <a:ln/>
        </p:spPr>
        <p:txBody>
          <a:bodyPr wrap="square" lIns="0" tIns="0" rIns="0" bIns="0" rtlCol="0" anchor="t"/>
          <a:lstStyle/>
          <a:p>
            <a:pPr indent="0" marL="0">
              <a:lnSpc>
                <a:spcPct val="110000"/>
              </a:lnSpc>
              <a:buNone/>
            </a:pPr>
            <a:r>
              <a:rPr lang="en-US" sz="1380" dirty="0">
                <a:solidFill>
                  <a:srgbClr val="FFCF3F"/>
                </a:solidFill>
                <a:latin typeface="IBM Plex Mono" pitchFamily="34" charset="0"/>
                <a:ea typeface="IBM Plex Mono" pitchFamily="34" charset="-122"/>
                <a:cs typeface="IBM Plex Mono" pitchFamily="34" charset="-120"/>
              </a:rPr>
              <a:t>/api/services</a:t>
            </a:r>
            <a:r>
              <a:rPr lang="en-US" sz="1500" dirty="0">
                <a:solidFill>
                  <a:srgbClr val="9EA7B8"/>
                </a:solidFill>
                <a:latin typeface="IBM Plex Sans" pitchFamily="34" charset="0"/>
                <a:ea typeface="IBM Plex Sans" pitchFamily="34" charset="-122"/>
                <a:cs typeface="IBM Plex Sans" pitchFamily="34" charset="-120"/>
              </a:rPr>
              <a:t> exists the moment the collection is registered. Filtering, sorting and pagination are query params.</a:t>
            </a:r>
            <a:endParaRPr lang="en-US" sz="1380" dirty="0"/>
          </a:p>
        </p:txBody>
      </p:sp>
      <p:sp>
        <p:nvSpPr>
          <p:cNvPr id="16" name="Text 13"/>
          <p:cNvSpPr txBox="1"/>
          <p:nvPr/>
        </p:nvSpPr>
        <p:spPr>
          <a:xfrm>
            <a:off x="640080" y="34290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3</a:t>
            </a:r>
            <a:endParaRPr lang="en-US" sz="3000" dirty="0"/>
          </a:p>
        </p:txBody>
      </p:sp>
      <p:sp>
        <p:nvSpPr>
          <p:cNvPr id="17" name="Text 14"/>
          <p:cNvSpPr txBox="1"/>
          <p:nvPr/>
        </p:nvSpPr>
        <p:spPr>
          <a:xfrm>
            <a:off x="1325880" y="3474720"/>
            <a:ext cx="4539996" cy="365760"/>
          </a:xfrm>
          <a:prstGeom prst="rect">
            <a:avLst/>
          </a:prstGeom>
          <a:noFill/>
          <a:ln/>
        </p:spPr>
        <p:txBody>
          <a:bodyPr wrap="square" lIns="0" tIns="0" rIns="0" bIns="0" rtlCol="0" anchor="t"/>
          <a:lstStyle/>
          <a:p>
            <a:pPr indent="0" marL="0">
              <a:buNone/>
            </a:pPr>
            <a:r>
              <a:rPr lang="en-US" sz="1900" b="1" dirty="0">
                <a:solidFill>
                  <a:srgbClr val="ECEEF3"/>
                </a:solidFill>
                <a:latin typeface="IBM Plex Sans" pitchFamily="34" charset="0"/>
                <a:ea typeface="IBM Plex Sans" pitchFamily="34" charset="-122"/>
                <a:cs typeface="IBM Plex Sans" pitchFamily="34" charset="-120"/>
              </a:rPr>
              <a:t>TypeScript types</a:t>
            </a:r>
            <a:endParaRPr lang="en-US" sz="1900" dirty="0"/>
          </a:p>
        </p:txBody>
      </p:sp>
      <p:sp>
        <p:nvSpPr>
          <p:cNvPr id="18" name="Text 15"/>
          <p:cNvSpPr txBox="1"/>
          <p:nvPr/>
        </p:nvSpPr>
        <p:spPr>
          <a:xfrm>
            <a:off x="1325880" y="3840480"/>
            <a:ext cx="4539996" cy="1188720"/>
          </a:xfrm>
          <a:prstGeom prst="rect">
            <a:avLst/>
          </a:prstGeom>
          <a:noFill/>
          <a:ln/>
        </p:spPr>
        <p:txBody>
          <a:bodyPr wrap="square" lIns="0" tIns="0" rIns="0" bIns="0" rtlCol="0" anchor="t"/>
          <a:lstStyle/>
          <a:p>
            <a:pPr indent="0" marL="0">
              <a:lnSpc>
                <a:spcPct val="110000"/>
              </a:lnSpc>
              <a:buNone/>
            </a:pPr>
            <a:r>
              <a:rPr lang="en-US" sz="1380" dirty="0">
                <a:solidFill>
                  <a:srgbClr val="FFCF3F"/>
                </a:solidFill>
                <a:latin typeface="IBM Plex Mono" pitchFamily="34" charset="0"/>
                <a:ea typeface="IBM Plex Mono" pitchFamily="34" charset="-122"/>
                <a:cs typeface="IBM Plex Mono" pitchFamily="34" charset="-120"/>
              </a:rPr>
              <a:t>pnpm generate:types</a:t>
            </a:r>
            <a:r>
              <a:rPr lang="en-US" sz="1500" dirty="0">
                <a:solidFill>
                  <a:srgbClr val="9EA7B8"/>
                </a:solidFill>
                <a:latin typeface="IBM Plex Sans" pitchFamily="34" charset="0"/>
                <a:ea typeface="IBM Plex Sans" pitchFamily="34" charset="-122"/>
                <a:cs typeface="IBM Plex Sans" pitchFamily="34" charset="-120"/>
              </a:rPr>
              <a:t> writes a </a:t>
            </a:r>
            <a:r>
              <a:rPr lang="en-US" sz="1380" dirty="0">
                <a:solidFill>
                  <a:srgbClr val="FFCF3F"/>
                </a:solidFill>
                <a:latin typeface="IBM Plex Mono" pitchFamily="34" charset="0"/>
                <a:ea typeface="IBM Plex Mono" pitchFamily="34" charset="-122"/>
                <a:cs typeface="IBM Plex Mono" pitchFamily="34" charset="-120"/>
              </a:rPr>
              <a:t>Service</a:t>
            </a:r>
            <a:r>
              <a:rPr lang="en-US" sz="1500" dirty="0">
                <a:solidFill>
                  <a:srgbClr val="9EA7B8"/>
                </a:solidFill>
                <a:latin typeface="IBM Plex Sans" pitchFamily="34" charset="0"/>
                <a:ea typeface="IBM Plex Sans" pitchFamily="34" charset="-122"/>
                <a:cs typeface="IBM Plex Sans" pitchFamily="34" charset="-120"/>
              </a:rPr>
              <a:t> type the frontend imports. Rename a field and the build finds every use.</a:t>
            </a:r>
            <a:endParaRPr lang="en-US" sz="1380" dirty="0"/>
          </a:p>
        </p:txBody>
      </p:sp>
      <p:sp>
        <p:nvSpPr>
          <p:cNvPr id="19" name="Text 16"/>
          <p:cNvSpPr txBox="1"/>
          <p:nvPr/>
        </p:nvSpPr>
        <p:spPr>
          <a:xfrm>
            <a:off x="6323076" y="34290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a:t>
            </a:r>
            <a:endParaRPr lang="en-US" sz="3000" dirty="0"/>
          </a:p>
        </p:txBody>
      </p:sp>
      <p:sp>
        <p:nvSpPr>
          <p:cNvPr id="20" name="Text 17"/>
          <p:cNvSpPr txBox="1"/>
          <p:nvPr/>
        </p:nvSpPr>
        <p:spPr>
          <a:xfrm>
            <a:off x="7008876" y="3474720"/>
            <a:ext cx="4539996" cy="365760"/>
          </a:xfrm>
          <a:prstGeom prst="rect">
            <a:avLst/>
          </a:prstGeom>
          <a:noFill/>
          <a:ln/>
        </p:spPr>
        <p:txBody>
          <a:bodyPr wrap="square" lIns="0" tIns="0" rIns="0" bIns="0" rtlCol="0" anchor="t"/>
          <a:lstStyle/>
          <a:p>
            <a:pPr indent="0" marL="0">
              <a:buNone/>
            </a:pPr>
            <a:r>
              <a:rPr lang="en-US" sz="1900" b="1" dirty="0">
                <a:solidFill>
                  <a:srgbClr val="ECEEF3"/>
                </a:solidFill>
                <a:latin typeface="IBM Plex Sans" pitchFamily="34" charset="0"/>
                <a:ea typeface="IBM Plex Sans" pitchFamily="34" charset="-122"/>
                <a:cs typeface="IBM Plex Sans" pitchFamily="34" charset="-120"/>
              </a:rPr>
              <a:t>Nothing until it is registered</a:t>
            </a:r>
            <a:endParaRPr lang="en-US" sz="1900" dirty="0"/>
          </a:p>
        </p:txBody>
      </p:sp>
      <p:sp>
        <p:nvSpPr>
          <p:cNvPr id="21" name="Text 18"/>
          <p:cNvSpPr txBox="1"/>
          <p:nvPr/>
        </p:nvSpPr>
        <p:spPr>
          <a:xfrm>
            <a:off x="7008876" y="3840480"/>
            <a:ext cx="4539996" cy="1188720"/>
          </a:xfrm>
          <a:prstGeom prst="rect">
            <a:avLst/>
          </a:prstGeom>
          <a:noFill/>
          <a:ln/>
        </p:spPr>
        <p:txBody>
          <a:bodyPr wrap="square" lIns="0" tIns="0" rIns="0" bIns="0" rtlCol="0" anchor="t"/>
          <a:lstStyle/>
          <a:p>
            <a:pPr indent="0" marL="0">
              <a:lnSpc>
                <a:spcPct val="110000"/>
              </a:lnSpc>
              <a:buNone/>
            </a:pPr>
            <a:r>
              <a:rPr lang="en-US" sz="1500" dirty="0">
                <a:solidFill>
                  <a:srgbClr val="9EA7B8"/>
                </a:solidFill>
                <a:latin typeface="IBM Plex Sans" pitchFamily="34" charset="0"/>
                <a:ea typeface="IBM Plex Sans" pitchFamily="34" charset="-122"/>
                <a:cs typeface="IBM Plex Sans" pitchFamily="34" charset="-120"/>
              </a:rPr>
              <a:t>Add the collection to the array in </a:t>
            </a:r>
            <a:r>
              <a:rPr lang="en-US" sz="1380" dirty="0">
                <a:solidFill>
                  <a:srgbClr val="FFCF3F"/>
                </a:solidFill>
                <a:latin typeface="IBM Plex Mono" pitchFamily="34" charset="0"/>
                <a:ea typeface="IBM Plex Mono" pitchFamily="34" charset="-122"/>
                <a:cs typeface="IBM Plex Mono" pitchFamily="34" charset="-120"/>
              </a:rPr>
              <a:t>payload.config.ts</a:t>
            </a:r>
            <a:r>
              <a:rPr lang="en-US" sz="1500" dirty="0">
                <a:solidFill>
                  <a:srgbClr val="9EA7B8"/>
                </a:solidFill>
                <a:latin typeface="IBM Plex Sans" pitchFamily="34" charset="0"/>
                <a:ea typeface="IBM Plex Sans" pitchFamily="34" charset="-122"/>
                <a:cs typeface="IBM Plex Sans" pitchFamily="34" charset="-120"/>
              </a:rPr>
              <a:t> or it does not exist. The most common step-1 failure.</a:t>
            </a:r>
            <a:endParaRPr lang="en-US" sz="1500" dirty="0"/>
          </a:p>
        </p:txBody>
      </p:sp>
      <p:sp>
        <p:nvSpPr>
          <p:cNvPr id="22" name="Shape 19"/>
          <p:cNvSpPr/>
          <p:nvPr/>
        </p:nvSpPr>
        <p:spPr>
          <a:xfrm>
            <a:off x="640080" y="5303520"/>
            <a:ext cx="10908792" cy="806958"/>
          </a:xfrm>
          <a:prstGeom prst="rect">
            <a:avLst/>
          </a:prstGeom>
          <a:solidFill>
            <a:srgbClr val="1B1F27"/>
          </a:solidFill>
          <a:ln w="12700">
            <a:solidFill>
              <a:srgbClr val="1B1F27"/>
            </a:solidFill>
            <a:prstDash val="solid"/>
          </a:ln>
        </p:spPr>
      </p:sp>
      <p:sp>
        <p:nvSpPr>
          <p:cNvPr id="23" name="Shape 20"/>
          <p:cNvSpPr/>
          <p:nvPr/>
        </p:nvSpPr>
        <p:spPr>
          <a:xfrm>
            <a:off x="640080" y="5303520"/>
            <a:ext cx="54864" cy="806958"/>
          </a:xfrm>
          <a:prstGeom prst="rect">
            <a:avLst/>
          </a:prstGeom>
          <a:solidFill>
            <a:srgbClr val="FFCF3F"/>
          </a:solidFill>
          <a:ln w="12700">
            <a:solidFill>
              <a:srgbClr val="FFCF3F"/>
            </a:solidFill>
            <a:prstDash val="solid"/>
          </a:ln>
        </p:spPr>
      </p:sp>
      <p:sp>
        <p:nvSpPr>
          <p:cNvPr id="24" name="Text 21"/>
          <p:cNvSpPr txBox="1"/>
          <p:nvPr/>
        </p:nvSpPr>
        <p:spPr>
          <a:xfrm>
            <a:off x="914400" y="5449824"/>
            <a:ext cx="10451592" cy="514350"/>
          </a:xfrm>
          <a:prstGeom prst="rect">
            <a:avLst/>
          </a:prstGeom>
          <a:noFill/>
          <a:ln/>
        </p:spPr>
        <p:txBody>
          <a:bodyPr wrap="square" lIns="0" tIns="0" rIns="0" bIns="0" rtlCol="0" anchor="t"/>
          <a:lstStyle/>
          <a:p>
            <a:pPr indent="0" marL="0">
              <a:buNone/>
            </a:pPr>
            <a:r>
              <a:rPr lang="en-US" sz="1500" dirty="0">
                <a:solidFill>
                  <a:srgbClr val="ECEEF3"/>
                </a:solidFill>
                <a:latin typeface="IBM Plex Sans" pitchFamily="34" charset="0"/>
                <a:ea typeface="IBM Plex Sans" pitchFamily="34" charset="-122"/>
                <a:cs typeface="IBM Plex Sans" pitchFamily="34" charset="-120"/>
              </a:rPr>
              <a:t>Live demo: add </a:t>
            </a:r>
            <a:r>
              <a:rPr lang="en-US" sz="1380" dirty="0">
                <a:solidFill>
                  <a:srgbClr val="FFCF3F"/>
                </a:solidFill>
                <a:latin typeface="IBM Plex Mono" pitchFamily="34" charset="0"/>
                <a:ea typeface="IBM Plex Mono" pitchFamily="34" charset="-122"/>
                <a:cs typeface="IBM Plex Mono" pitchFamily="34" charset="-120"/>
              </a:rPr>
              <a:t>{ name: 'tagline', type: 'text' }</a:t>
            </a:r>
            <a:r>
              <a:rPr lang="en-US" sz="1500" dirty="0">
                <a:solidFill>
                  <a:srgbClr val="ECEEF3"/>
                </a:solidFill>
                <a:latin typeface="IBM Plex Sans" pitchFamily="34" charset="0"/>
                <a:ea typeface="IBM Plex Sans" pitchFamily="34" charset="-122"/>
                <a:cs typeface="IBM Plex Sans" pitchFamily="34" charset="-120"/>
              </a:rPr>
              <a:t> to Services.ts, restart the CMS, check </a:t>
            </a:r>
            <a:r>
              <a:rPr lang="en-US" sz="1380" dirty="0">
                <a:solidFill>
                  <a:srgbClr val="FFCF3F"/>
                </a:solidFill>
                <a:latin typeface="IBM Plex Mono" pitchFamily="34" charset="0"/>
                <a:ea typeface="IBM Plex Mono" pitchFamily="34" charset="-122"/>
                <a:cs typeface="IBM Plex Mono" pitchFamily="34" charset="-120"/>
              </a:rPr>
              <a:t>/admin</a:t>
            </a:r>
            <a:r>
              <a:rPr lang="en-US" sz="1500" dirty="0">
                <a:solidFill>
                  <a:srgbClr val="ECEEF3"/>
                </a:solidFill>
                <a:latin typeface="IBM Plex Sans" pitchFamily="34" charset="0"/>
                <a:ea typeface="IBM Plex Sans" pitchFamily="34" charset="-122"/>
                <a:cs typeface="IBM Plex Sans" pitchFamily="34" charset="-120"/>
              </a:rPr>
              <a:t>, then </a:t>
            </a:r>
            <a:r>
              <a:rPr lang="en-US" sz="1380" dirty="0">
                <a:solidFill>
                  <a:srgbClr val="FFCF3F"/>
                </a:solidFill>
                <a:latin typeface="IBM Plex Mono" pitchFamily="34" charset="0"/>
                <a:ea typeface="IBM Plex Mono" pitchFamily="34" charset="-122"/>
                <a:cs typeface="IBM Plex Mono" pitchFamily="34" charset="-120"/>
              </a:rPr>
              <a:t>GET /api/services</a:t>
            </a:r>
            <a:r>
              <a:rPr lang="en-US" sz="1500" dirty="0">
                <a:solidFill>
                  <a:srgbClr val="ECEEF3"/>
                </a:solidFill>
                <a:latin typeface="IBM Plex Sans" pitchFamily="34" charset="0"/>
                <a:ea typeface="IBM Plex Sans" pitchFamily="34" charset="-122"/>
                <a:cs typeface="IBM Plex Sans" pitchFamily="34" charset="-120"/>
              </a:rPr>
              <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THE VOCABULARY MAP</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9 / 27  ·  7:00 – 13:00</a:t>
            </a:r>
            <a:endParaRPr lang="en-US" sz="1000" dirty="0"/>
          </a:p>
        </p:txBody>
      </p:sp>
      <p:sp>
        <p:nvSpPr>
          <p:cNvPr id="8" name="Shape 5"/>
          <p:cNvSpPr/>
          <p:nvPr/>
        </p:nvSpPr>
        <p:spPr>
          <a:xfrm>
            <a:off x="0" y="6821424"/>
            <a:ext cx="4063898"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The vocabulary map</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50" spc="120" kern="0" dirty="0">
                          <a:solidFill>
                            <a:srgbClr val="5AA9D6"/>
                          </a:solidFill>
                          <a:latin typeface="IBM Plex Mono" pitchFamily="34" charset="0"/>
                          <a:ea typeface="IBM Plex Mono" pitchFamily="34" charset="-122"/>
                          <a:cs typeface="IBM Plex Mono" pitchFamily="34" charset="-120"/>
                        </a:rPr>
                        <a:t>WORDPRESS</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50" spc="120" kern="0" dirty="0">
                          <a:solidFill>
                            <a:srgbClr val="FFCF3F"/>
                          </a:solidFill>
                          <a:latin typeface="IBM Plex Mono" pitchFamily="34" charset="0"/>
                          <a:ea typeface="IBM Plex Mono" pitchFamily="34" charset="-122"/>
                          <a:cs typeface="IBM Plex Mono" pitchFamily="34" charset="-120"/>
                        </a:rPr>
                        <a:t>PAYLOAD</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50" spc="120" kern="0" dirty="0">
                          <a:solidFill>
                            <a:srgbClr val="FFCF3F"/>
                          </a:solidFill>
                          <a:latin typeface="IBM Plex Mono" pitchFamily="34" charset="0"/>
                          <a:ea typeface="IBM Plex Mono" pitchFamily="34" charset="-122"/>
                          <a:cs typeface="IBM Plex Mono" pitchFamily="34" charset="-120"/>
                        </a:rPr>
                        <a:t>ASTRO</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31089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Custom Post Type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collection</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31089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ACF field group</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fields: [ … ]</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31089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ACF Options Page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global</a:t>
                      </a:r>
                      <a:r>
                        <a:rPr lang="en-US" sz="1200" dirty="0">
                          <a:solidFill>
                            <a:srgbClr val="FFCF3F"/>
                          </a:solidFill>
                          <a:latin typeface="IBM Plex Sans" pitchFamily="34" charset="0"/>
                          <a:ea typeface="IBM Plex Sans" pitchFamily="34" charset="-122"/>
                          <a:cs typeface="IBM Plex Sans" pitchFamily="34" charset="-120"/>
                        </a:rPr>
                        <a:t>: one document, no list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Repeater / Post Object / Image / WYSIWYG</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array</a:t>
                      </a:r>
                      <a:r>
                        <a:rPr lang="en-US" sz="1200" dirty="0">
                          <a:solidFill>
                            <a:srgbClr val="FFCF3F"/>
                          </a:solidFill>
                          <a:latin typeface="IBM Plex Sans" pitchFamily="34" charset="0"/>
                          <a:ea typeface="IBM Plex Sans" pitchFamily="34" charset="-122"/>
                          <a:cs typeface="IBM Plex Sans" pitchFamily="34" charset="-120"/>
                        </a:rPr>
                        <a:t> / </a:t>
                      </a:r>
                      <a:r>
                        <a:rPr lang="en-US" sz="1100" dirty="0">
                          <a:solidFill>
                            <a:srgbClr val="FFCF3F"/>
                          </a:solidFill>
                          <a:latin typeface="IBM Plex Mono" pitchFamily="34" charset="0"/>
                          <a:ea typeface="IBM Plex Mono" pitchFamily="34" charset="-122"/>
                          <a:cs typeface="IBM Plex Mono" pitchFamily="34" charset="-120"/>
                        </a:rPr>
                        <a:t>relationship</a:t>
                      </a:r>
                      <a:r>
                        <a:rPr lang="en-US" sz="1200" dirty="0">
                          <a:solidFill>
                            <a:srgbClr val="FFCF3F"/>
                          </a:solidFill>
                          <a:latin typeface="IBM Plex Sans" pitchFamily="34" charset="0"/>
                          <a:ea typeface="IBM Plex Sans" pitchFamily="34" charset="-122"/>
                          <a:cs typeface="IBM Plex Sans" pitchFamily="34" charset="-120"/>
                        </a:rPr>
                        <a:t> / </a:t>
                      </a:r>
                      <a:r>
                        <a:rPr lang="en-US" sz="1100" dirty="0">
                          <a:solidFill>
                            <a:srgbClr val="FFCF3F"/>
                          </a:solidFill>
                          <a:latin typeface="IBM Plex Mono" pitchFamily="34" charset="0"/>
                          <a:ea typeface="IBM Plex Mono" pitchFamily="34" charset="-122"/>
                          <a:cs typeface="IBM Plex Mono" pitchFamily="34" charset="-120"/>
                        </a:rPr>
                        <a:t>upload</a:t>
                      </a:r>
                      <a:r>
                        <a:rPr lang="en-US" sz="1200" dirty="0">
                          <a:solidFill>
                            <a:srgbClr val="FFCF3F"/>
                          </a:solidFill>
                          <a:latin typeface="IBM Plex Sans" pitchFamily="34" charset="0"/>
                          <a:ea typeface="IBM Plex Sans" pitchFamily="34" charset="-122"/>
                          <a:cs typeface="IBM Plex Sans" pitchFamily="34" charset="-120"/>
                        </a:rPr>
                        <a:t> / </a:t>
                      </a:r>
                      <a:r>
                        <a:rPr lang="en-US" sz="1100" dirty="0">
                          <a:solidFill>
                            <a:srgbClr val="FFCF3F"/>
                          </a:solidFill>
                          <a:latin typeface="IBM Plex Mono" pitchFamily="34" charset="0"/>
                          <a:ea typeface="IBM Plex Mono" pitchFamily="34" charset="-122"/>
                          <a:cs typeface="IBM Plex Mono" pitchFamily="34" charset="-120"/>
                        </a:rPr>
                        <a:t>richText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Gutenberg blocks, Flexible Content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blocks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one component per block type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310896">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save_post</a:t>
                      </a:r>
                      <a:r>
                        <a:rPr lang="en-US" sz="1200" dirty="0">
                          <a:solidFill>
                            <a:srgbClr val="ECEEF3"/>
                          </a:solidFill>
                          <a:latin typeface="IBM Plex Sans" pitchFamily="34" charset="0"/>
                          <a:ea typeface="IBM Plex Sans" pitchFamily="34" charset="-122"/>
                          <a:cs typeface="IBM Plex Sans" pitchFamily="34" charset="-120"/>
                        </a:rPr>
                        <a:t>, </a:t>
                      </a:r>
                      <a:r>
                        <a:rPr lang="en-US" sz="1100" dirty="0">
                          <a:solidFill>
                            <a:srgbClr val="ECEEF3"/>
                          </a:solidFill>
                          <a:latin typeface="IBM Plex Mono" pitchFamily="34" charset="0"/>
                          <a:ea typeface="IBM Plex Mono" pitchFamily="34" charset="-122"/>
                          <a:cs typeface="IBM Plex Mono" pitchFamily="34" charset="-120"/>
                        </a:rPr>
                        <a:t>sanitize_title()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beforeChange</a:t>
                      </a:r>
                      <a:r>
                        <a:rPr lang="en-US" sz="1200" dirty="0">
                          <a:solidFill>
                            <a:srgbClr val="FFCF3F"/>
                          </a:solidFill>
                          <a:latin typeface="IBM Plex Sans" pitchFamily="34" charset="0"/>
                          <a:ea typeface="IBM Plex Sans" pitchFamily="34" charset="-122"/>
                          <a:cs typeface="IBM Plex Sans" pitchFamily="34" charset="-120"/>
                        </a:rPr>
                        <a:t>, </a:t>
                      </a:r>
                      <a:r>
                        <a:rPr lang="en-US" sz="1100" dirty="0">
                          <a:solidFill>
                            <a:srgbClr val="FFCF3F"/>
                          </a:solidFill>
                          <a:latin typeface="IBM Plex Mono" pitchFamily="34" charset="0"/>
                          <a:ea typeface="IBM Plex Mono" pitchFamily="34" charset="-122"/>
                          <a:cs typeface="IBM Plex Mono" pitchFamily="34" charset="-120"/>
                        </a:rPr>
                        <a:t>beforeValidate</a:t>
                      </a:r>
                      <a:r>
                        <a:rPr lang="en-US" sz="1200" dirty="0">
                          <a:solidFill>
                            <a:srgbClr val="FFCF3F"/>
                          </a:solidFill>
                          <a:latin typeface="IBM Plex Sans" pitchFamily="34" charset="0"/>
                          <a:ea typeface="IBM Plex Sans" pitchFamily="34" charset="-122"/>
                          <a:cs typeface="IBM Plex Sans" pitchFamily="34" charset="-120"/>
                        </a:rPr>
                        <a:t> hooks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310896">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WP_Query</a:t>
                      </a:r>
                      <a:r>
                        <a:rPr lang="en-US" sz="1200" dirty="0">
                          <a:solidFill>
                            <a:srgbClr val="ECEEF3"/>
                          </a:solidFill>
                          <a:latin typeface="IBM Plex Sans" pitchFamily="34" charset="0"/>
                          <a:ea typeface="IBM Plex Sans" pitchFamily="34" charset="-122"/>
                          <a:cs typeface="IBM Plex Sans" pitchFamily="34" charset="-120"/>
                        </a:rPr>
                        <a:t> args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?where[slug][equals]=x&amp;sort=-date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getDocs('services', {…})</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archive-*.php</a:t>
                      </a:r>
                      <a:r>
                        <a:rPr lang="en-US" sz="1200" dirty="0">
                          <a:solidFill>
                            <a:srgbClr val="ECEEF3"/>
                          </a:solidFill>
                          <a:latin typeface="IBM Plex Sans" pitchFamily="34" charset="0"/>
                          <a:ea typeface="IBM Plex Sans" pitchFamily="34" charset="-122"/>
                          <a:cs typeface="IBM Plex Sans" pitchFamily="34" charset="-120"/>
                        </a:rPr>
                        <a:t> / </a:t>
                      </a:r>
                      <a:r>
                        <a:rPr lang="en-US" sz="1100" dirty="0">
                          <a:solidFill>
                            <a:srgbClr val="ECEEF3"/>
                          </a:solidFill>
                          <a:latin typeface="IBM Plex Mono" pitchFamily="34" charset="0"/>
                          <a:ea typeface="IBM Plex Mono" pitchFamily="34" charset="-122"/>
                          <a:cs typeface="IBM Plex Mono" pitchFamily="34" charset="-120"/>
                        </a:rPr>
                        <a:t>single-*.php</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pages/services/index.astro</a:t>
                      </a:r>
                      <a:r>
                        <a:rPr lang="en-US" sz="1200" dirty="0">
                          <a:solidFill>
                            <a:srgbClr val="ECEEF3"/>
                          </a:solidFill>
                          <a:latin typeface="IBM Plex Sans" pitchFamily="34" charset="0"/>
                          <a:ea typeface="IBM Plex Sans" pitchFamily="34" charset="-122"/>
                          <a:cs typeface="IBM Plex Sans" pitchFamily="34" charset="-120"/>
                        </a:rPr>
                        <a:t>, </a:t>
                      </a:r>
                      <a:r>
                        <a:rPr lang="en-US" sz="1100" dirty="0">
                          <a:solidFill>
                            <a:srgbClr val="ECEEF3"/>
                          </a:solidFill>
                          <a:latin typeface="IBM Plex Mono" pitchFamily="34" charset="0"/>
                          <a:ea typeface="IBM Plex Mono" pitchFamily="34" charset="-122"/>
                          <a:cs typeface="IBM Plex Mono" pitchFamily="34" charset="-120"/>
                        </a:rPr>
                        <a:t>[slug].astro</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header.php</a:t>
                      </a:r>
                      <a:r>
                        <a:rPr lang="en-US" sz="1200" dirty="0">
                          <a:solidFill>
                            <a:srgbClr val="ECEEF3"/>
                          </a:solidFill>
                          <a:latin typeface="IBM Plex Sans" pitchFamily="34" charset="0"/>
                          <a:ea typeface="IBM Plex Sans" pitchFamily="34" charset="-122"/>
                          <a:cs typeface="IBM Plex Sans" pitchFamily="34" charset="-120"/>
                        </a:rPr>
                        <a:t>, </a:t>
                      </a:r>
                      <a:r>
                        <a:rPr lang="en-US" sz="1100" dirty="0">
                          <a:solidFill>
                            <a:srgbClr val="ECEEF3"/>
                          </a:solidFill>
                          <a:latin typeface="IBM Plex Mono" pitchFamily="34" charset="0"/>
                          <a:ea typeface="IBM Plex Mono" pitchFamily="34" charset="-122"/>
                          <a:cs typeface="IBM Plex Mono" pitchFamily="34" charset="-120"/>
                        </a:rPr>
                        <a:t>footer.php</a:t>
                      </a:r>
                      <a:r>
                        <a:rPr lang="en-US" sz="1200" dirty="0">
                          <a:solidFill>
                            <a:srgbClr val="ECEEF3"/>
                          </a:solidFill>
                          <a:latin typeface="IBM Plex Sans" pitchFamily="34" charset="0"/>
                          <a:ea typeface="IBM Plex Sans" pitchFamily="34" charset="-122"/>
                          <a:cs typeface="IBM Plex Sans" pitchFamily="34" charset="-120"/>
                        </a:rPr>
                        <a:t> / </a:t>
                      </a:r>
                      <a:r>
                        <a:rPr lang="en-US" sz="1100" dirty="0">
                          <a:solidFill>
                            <a:srgbClr val="ECEEF3"/>
                          </a:solidFill>
                          <a:latin typeface="IBM Plex Mono" pitchFamily="34" charset="0"/>
                          <a:ea typeface="IBM Plex Mono" pitchFamily="34" charset="-122"/>
                          <a:cs typeface="IBM Plex Mono" pitchFamily="34" charset="-120"/>
                        </a:rPr>
                        <a:t>template-parts/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layouts/Base.astro</a:t>
                      </a:r>
                      <a:r>
                        <a:rPr lang="en-US" sz="1200" dirty="0">
                          <a:solidFill>
                            <a:srgbClr val="ECEEF3"/>
                          </a:solidFill>
                          <a:latin typeface="IBM Plex Sans" pitchFamily="34" charset="0"/>
                          <a:ea typeface="IBM Plex Sans" pitchFamily="34" charset="-122"/>
                          <a:cs typeface="IBM Plex Sans" pitchFamily="34" charset="-120"/>
                        </a:rPr>
                        <a:t> / </a:t>
                      </a:r>
                      <a:r>
                        <a:rPr lang="en-US" sz="1100" dirty="0">
                          <a:solidFill>
                            <a:srgbClr val="ECEEF3"/>
                          </a:solidFill>
                          <a:latin typeface="IBM Plex Mono" pitchFamily="34" charset="0"/>
                          <a:ea typeface="IBM Plex Mono" pitchFamily="34" charset="-122"/>
                          <a:cs typeface="IBM Plex Mono" pitchFamily="34" charset="-120"/>
                        </a:rPr>
                        <a:t>components/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310896">
                <a:tc>
                  <a:txBody>
                    <a:bodyPr/>
                    <a:lstStyle/>
                    <a:p>
                      <a:pPr indent="0" marL="0">
                        <a:buNone/>
                      </a:pPr>
                      <a:r>
                        <a:rPr lang="en-US" sz="1200" i="1" dirty="0">
                          <a:solidFill>
                            <a:srgbClr val="ECEEF3"/>
                          </a:solidFill>
                          <a:latin typeface="IBM Plex Sans" pitchFamily="34" charset="0"/>
                          <a:ea typeface="IBM Plex Sans" pitchFamily="34" charset="-122"/>
                          <a:cs typeface="IBM Plex Sans" pitchFamily="34" charset="-120"/>
                        </a:rPr>
                        <a:t>no equivalent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depth</a:t>
                      </a:r>
                      <a:r>
                        <a:rPr lang="en-US" sz="1200" dirty="0">
                          <a:solidFill>
                            <a:srgbClr val="FFCF3F"/>
                          </a:solidFill>
                          <a:latin typeface="IBM Plex Sans" pitchFamily="34" charset="0"/>
                          <a:ea typeface="IBM Plex Sans" pitchFamily="34" charset="-122"/>
                          <a:cs typeface="IBM Plex Sans" pitchFamily="34" charset="-120"/>
                        </a:rPr>
                        <a:t>: how far to populate relationships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i="1" dirty="0">
                          <a:solidFill>
                            <a:srgbClr val="6B7385"/>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PAYLOAD, THE MODEL</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10 / 27  ·  7:00 – 13:00</a:t>
            </a:r>
            <a:endParaRPr lang="en-US" sz="1000" dirty="0"/>
          </a:p>
        </p:txBody>
      </p:sp>
      <p:sp>
        <p:nvSpPr>
          <p:cNvPr id="8" name="Shape 5"/>
          <p:cNvSpPr/>
          <p:nvPr/>
        </p:nvSpPr>
        <p:spPr>
          <a:xfrm>
            <a:off x="0" y="6821424"/>
            <a:ext cx="4515443"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Payload terms: collections and config</a:t>
            </a:r>
            <a:endParaRPr lang="en-US" sz="3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Collection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content type in one TypeScript file. Table, admin screen and API endpoint come free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CPT + ACF field group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Global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single document, not a list. /api/globals/profile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Options page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Document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row in a collection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post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Field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column: name, type, options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An ACF field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slug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Two meanings: the collection's id (slug: 'projects'), or a field you define for URLs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Post type name / post_name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useAsTitle, admin.group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What the list shows as the title; which sidebar heading it sits under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post_title, menu position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admin.position: 'sidebar'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Field goes in the right-hand column of the edit screen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sidebar meta box</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Access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read, create, update, delete. Functions returning true/false. read: () =&gt; true is public</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current_user_can()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Hooks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beforeValidate, beforeChange, afterChange, afterRead. Collection or field level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save_post, the_content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payload.config.ts, registering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root config. A collection not in the collections array does not exist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functions.php, register_post_type()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Auth / upload collection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auth: true: documents can log in (users). upload: true: documents are files (media)</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wp_users, Media Library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5168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PAYLOAD, THE FIELDS</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11 / 27  ·  7:00 – 13:00</a:t>
            </a:r>
            <a:endParaRPr lang="en-US" sz="1000" dirty="0"/>
          </a:p>
        </p:txBody>
      </p:sp>
      <p:sp>
        <p:nvSpPr>
          <p:cNvPr id="8" name="Shape 5"/>
          <p:cNvSpPr/>
          <p:nvPr/>
        </p:nvSpPr>
        <p:spPr>
          <a:xfrm>
            <a:off x="0" y="6821424"/>
            <a:ext cx="4966987"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Payload terms: field types</a:t>
            </a:r>
            <a:endParaRPr lang="en-US" sz="3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4328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text, textarea, number, select, checkbox, date, email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simple ones. select takes options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The matching ACF types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array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Repeatable group of sub-fields. Nested fields: [ … ], minRows, maxRows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Repeater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group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Sub-fields under one name, once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Group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relationship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Link to another collection. relationTo, hasMany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Post Object / Relationship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upload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Link to a file in the media collection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Image / File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richText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Formatted content, edited with Lexical, stored as JSON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WYSIWYG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blocks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list where each item is one of several named shapes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Gutenberg / Flexible Content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tabs, row, collapsible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Layout only. Arrange the edit screen, store nothing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Tab / Accordion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328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required, unique, defaultValue, maxLength</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Validation and defaults, as words in the file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ACF settings checkboxes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index: true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database index. Use on fields you filter by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Lexical, convertLexicalToHTML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editor, and the function that turns its JSON into HTML for Astro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TinyMCE, the_content filter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8216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PAYLOAD, THE API</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7 – 13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12 / 27  ·  7:00 – 13:00</a:t>
            </a:r>
            <a:endParaRPr lang="en-US" sz="1000" dirty="0"/>
          </a:p>
        </p:txBody>
      </p:sp>
      <p:sp>
        <p:nvSpPr>
          <p:cNvPr id="8" name="Shape 5"/>
          <p:cNvSpPr/>
          <p:nvPr/>
        </p:nvSpPr>
        <p:spPr>
          <a:xfrm>
            <a:off x="0" y="6821424"/>
            <a:ext cx="5418531"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Payload terms: REST API and data</a:t>
            </a:r>
            <a:endParaRPr lang="en-US" sz="3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GET /api/&lt;slug&gt;, /api/&lt;slug&gt;/&lt;id&gt;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List (paginated) and one by id. Generated, no code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/wp-json/wp/v2/…</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GET /api/globals/&lt;slug&gt;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document, no list. Globals have their own path</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/wp-json/acf/v3/options/…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where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filter: ?where[slug][equals]=x. Operators: equals, contains, in, like, greater_than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WP_Query args, meta_query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sort, limit, page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sort=-completedOn (minus means descending). Page size defaults to 10</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orderby, posts_per_page, paged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Paginated response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 docs, totalDocs, page, totalPages, hasNextPage }. Your data is in docs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$query-&gt;posts, found_posts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depth</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How many levels of relationships to populate. 0 = ids, 1 = documents inline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populated, number | Service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relationship returned as a document. The type says it may be either; guard with typeof</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generate:types, payload-types.ts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type per collection, from the config. Run after every field change; Astro imports them</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Database adapter, push: true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db-sqlite here. push syncs the schema on boot, dev only; real projects use migrations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Seed, payload run, Local API</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pnpm seed runs seed.ts with Payload booted; payload.create() directly, no HTTP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WP-CLI import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Versions, drafts, _status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versions: { drafts: true } adds draft/published and a history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Post status, revisions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5168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ASTRO IN WORDPRESS VOCABULARY</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13 / 27  ·  13:00 – 19:00</a:t>
            </a:r>
            <a:endParaRPr lang="en-US" sz="1000" dirty="0"/>
          </a:p>
        </p:txBody>
      </p:sp>
      <p:sp>
        <p:nvSpPr>
          <p:cNvPr id="8" name="Shape 5"/>
          <p:cNvSpPr/>
          <p:nvPr/>
        </p:nvSpPr>
        <p:spPr>
          <a:xfrm>
            <a:off x="0" y="6821424"/>
            <a:ext cx="5870075"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000" b="1" dirty="0">
                <a:solidFill>
                  <a:srgbClr val="ECEEF3"/>
                </a:solidFill>
                <a:latin typeface="IBM Plex Sans" pitchFamily="34" charset="0"/>
                <a:ea typeface="IBM Plex Sans" pitchFamily="34" charset="-122"/>
                <a:cs typeface="IBM Plex Sans" pitchFamily="34" charset="-120"/>
              </a:rPr>
              <a:t>The PHP at the top of the template is now the frontmatter</a:t>
            </a:r>
            <a:endParaRPr lang="en-US" sz="3000" dirty="0"/>
          </a:p>
        </p:txBody>
      </p:sp>
      <p:sp>
        <p:nvSpPr>
          <p:cNvPr id="10" name="Shape 7"/>
          <p:cNvSpPr/>
          <p:nvPr/>
        </p:nvSpPr>
        <p:spPr>
          <a:xfrm>
            <a:off x="640080" y="1874520"/>
            <a:ext cx="5225796" cy="45720"/>
          </a:xfrm>
          <a:prstGeom prst="rect">
            <a:avLst/>
          </a:prstGeom>
          <a:solidFill>
            <a:srgbClr val="5AA9D6"/>
          </a:solidFill>
          <a:ln w="12700">
            <a:solidFill>
              <a:srgbClr val="5AA9D6"/>
            </a:solidFill>
            <a:prstDash val="solid"/>
          </a:ln>
        </p:spPr>
      </p:sp>
      <p:sp>
        <p:nvSpPr>
          <p:cNvPr id="11" name="Text 8"/>
          <p:cNvSpPr txBox="1"/>
          <p:nvPr/>
        </p:nvSpPr>
        <p:spPr>
          <a:xfrm>
            <a:off x="640080" y="2002536"/>
            <a:ext cx="5225796" cy="274320"/>
          </a:xfrm>
          <a:prstGeom prst="rect">
            <a:avLst/>
          </a:prstGeom>
          <a:noFill/>
          <a:ln/>
        </p:spPr>
        <p:txBody>
          <a:bodyPr wrap="square" lIns="0" tIns="0" rIns="0" bIns="0" rtlCol="0" anchor="t"/>
          <a:lstStyle/>
          <a:p>
            <a:pPr indent="0" marL="0">
              <a:buNone/>
            </a:pPr>
            <a:r>
              <a:rPr lang="en-US" sz="1100" spc="150" kern="0" dirty="0">
                <a:solidFill>
                  <a:srgbClr val="5AA9D6"/>
                </a:solidFill>
                <a:latin typeface="IBM Plex Mono" pitchFamily="34" charset="0"/>
                <a:ea typeface="IBM Plex Mono" pitchFamily="34" charset="-122"/>
                <a:cs typeface="IBM Plex Mono" pitchFamily="34" charset="-120"/>
              </a:rPr>
              <a:t>WORDPRESS</a:t>
            </a:r>
            <a:endParaRPr lang="en-US" sz="1100" dirty="0"/>
          </a:p>
        </p:txBody>
      </p:sp>
      <p:sp>
        <p:nvSpPr>
          <p:cNvPr id="12" name="Text 9"/>
          <p:cNvSpPr txBox="1"/>
          <p:nvPr/>
        </p:nvSpPr>
        <p:spPr>
          <a:xfrm>
            <a:off x="640080"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archive-service.php</a:t>
            </a:r>
            <a:endParaRPr lang="en-US" sz="1100" dirty="0"/>
          </a:p>
        </p:txBody>
      </p:sp>
      <p:sp>
        <p:nvSpPr>
          <p:cNvPr id="13" name="Shape 10"/>
          <p:cNvSpPr/>
          <p:nvPr/>
        </p:nvSpPr>
        <p:spPr>
          <a:xfrm>
            <a:off x="640080" y="2606040"/>
            <a:ext cx="5225796" cy="3064764"/>
          </a:xfrm>
          <a:prstGeom prst="rect">
            <a:avLst/>
          </a:prstGeom>
          <a:solidFill>
            <a:srgbClr val="0E1014"/>
          </a:solidFill>
          <a:ln w="9525">
            <a:solidFill>
              <a:srgbClr val="2A2F3A"/>
            </a:solidFill>
            <a:prstDash val="solid"/>
          </a:ln>
        </p:spPr>
      </p:sp>
      <p:sp>
        <p:nvSpPr>
          <p:cNvPr id="14" name="Text 11"/>
          <p:cNvSpPr txBox="1"/>
          <p:nvPr/>
        </p:nvSpPr>
        <p:spPr>
          <a:xfrm>
            <a:off x="822960" y="2752344"/>
            <a:ext cx="4860036" cy="2772156"/>
          </a:xfrm>
          <a:prstGeom prst="rect">
            <a:avLst/>
          </a:prstGeom>
          <a:noFill/>
          <a:ln/>
        </p:spPr>
        <p:txBody>
          <a:bodyPr wrap="square" lIns="0" tIns="0" rIns="0" bIns="0" rtlCol="0" anchor="t"/>
          <a:lstStyle/>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&lt;?php</a:t>
            </a:r>
            <a:r>
              <a:rPr lang="en-US" sz="1100" dirty="0">
                <a:solidFill>
                  <a:srgbClr val="ECEEF3"/>
                </a:solidFill>
                <a:latin typeface="IBM Plex Mono" pitchFamily="34" charset="0"/>
                <a:ea typeface="IBM Plex Mono" pitchFamily="34" charset="-122"/>
                <a:cs typeface="IBM Plex Mono" pitchFamily="34" charset="-120"/>
              </a:rPr>
              <a:t> get_header();</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$q = </a:t>
            </a:r>
            <a:r>
              <a:rPr lang="en-US" sz="1100" dirty="0">
                <a:solidFill>
                  <a:srgbClr val="5AA9D6"/>
                </a:solidFill>
                <a:latin typeface="IBM Plex Mono" pitchFamily="34" charset="0"/>
                <a:ea typeface="IBM Plex Mono" pitchFamily="34" charset="-122"/>
                <a:cs typeface="IBM Plex Mono" pitchFamily="34" charset="-120"/>
              </a:rPr>
              <a:t>new</a:t>
            </a:r>
            <a:r>
              <a:rPr lang="en-US" sz="1100" dirty="0">
                <a:solidFill>
                  <a:srgbClr val="ECEEF3"/>
                </a:solidFill>
                <a:latin typeface="IBM Plex Mono" pitchFamily="34" charset="0"/>
                <a:ea typeface="IBM Plex Mono" pitchFamily="34" charset="-122"/>
                <a:cs typeface="IBM Plex Mono" pitchFamily="34" charset="-120"/>
              </a:rPr>
              <a:t> WP_Query([</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'post_type'</a:t>
            </a:r>
            <a:r>
              <a:rPr lang="en-US" sz="1100" dirty="0">
                <a:solidFill>
                  <a:srgbClr val="ECEEF3"/>
                </a:solidFill>
                <a:latin typeface="IBM Plex Mono" pitchFamily="34" charset="0"/>
                <a:ea typeface="IBM Plex Mono" pitchFamily="34" charset="-122"/>
                <a:cs typeface="IBM Plex Mono" pitchFamily="34" charset="-120"/>
              </a:rPr>
              <a:t> =&gt; </a:t>
            </a:r>
            <a:r>
              <a:rPr lang="en-US" sz="1100" dirty="0">
                <a:solidFill>
                  <a:srgbClr val="7ED3A0"/>
                </a:solidFill>
                <a:latin typeface="IBM Plex Mono" pitchFamily="34" charset="0"/>
                <a:ea typeface="IBM Plex Mono" pitchFamily="34" charset="-122"/>
                <a:cs typeface="IBM Plex Mono" pitchFamily="34" charset="-120"/>
              </a:rPr>
              <a:t>'service'</a:t>
            </a: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'orderby'</a:t>
            </a:r>
            <a:r>
              <a:rPr lang="en-US" sz="1100" dirty="0">
                <a:solidFill>
                  <a:srgbClr val="ECEEF3"/>
                </a:solidFill>
                <a:latin typeface="IBM Plex Mono" pitchFamily="34" charset="0"/>
                <a:ea typeface="IBM Plex Mono" pitchFamily="34" charset="-122"/>
                <a:cs typeface="IBM Plex Mono" pitchFamily="34" charset="-120"/>
              </a:rPr>
              <a:t>   =&gt; </a:t>
            </a:r>
            <a:r>
              <a:rPr lang="en-US" sz="1100" dirty="0">
                <a:solidFill>
                  <a:srgbClr val="7ED3A0"/>
                </a:solidFill>
                <a:latin typeface="IBM Plex Mono" pitchFamily="34" charset="0"/>
                <a:ea typeface="IBM Plex Mono" pitchFamily="34" charset="-122"/>
                <a:cs typeface="IBM Plex Mono" pitchFamily="34" charset="-120"/>
              </a:rPr>
              <a:t>'menu_order'</a:t>
            </a: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5AA9D6"/>
                </a:solidFill>
                <a:latin typeface="IBM Plex Mono" pitchFamily="34" charset="0"/>
                <a:ea typeface="IBM Plex Mono" pitchFamily="34" charset="-122"/>
                <a:cs typeface="IBM Plex Mono" pitchFamily="34" charset="-120"/>
              </a:rPr>
              <a:t>?&gt;</a:t>
            </a:r>
            <a:endParaRPr lang="en-US" sz="1100" dirty="0"/>
          </a:p>
          <a:p>
            <a:pPr indent="0" marL="0">
              <a:lnSpc>
                <a:spcPct val="115000"/>
              </a:lnSpc>
              <a:buNone/>
            </a:pP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&lt;h1&gt;What we do&lt;/h1&gt;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&lt;div class="grid"&gt;</a:t>
            </a: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&lt;?php while</a:t>
            </a:r>
            <a:r>
              <a:rPr lang="en-US" sz="1100" dirty="0">
                <a:solidFill>
                  <a:srgbClr val="ECEEF3"/>
                </a:solidFill>
                <a:latin typeface="IBM Plex Mono" pitchFamily="34" charset="0"/>
                <a:ea typeface="IBM Plex Mono" pitchFamily="34" charset="-122"/>
                <a:cs typeface="IBM Plex Mono" pitchFamily="34" charset="-120"/>
              </a:rPr>
              <a:t> ($q-&gt;have_posts()): $q-&gt;the_post();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get_template_part(</a:t>
            </a:r>
            <a:r>
              <a:rPr lang="en-US" sz="1100" dirty="0">
                <a:solidFill>
                  <a:srgbClr val="7ED3A0"/>
                </a:solidFill>
                <a:latin typeface="IBM Plex Mono" pitchFamily="34" charset="0"/>
                <a:ea typeface="IBM Plex Mono" pitchFamily="34" charset="-122"/>
                <a:cs typeface="IBM Plex Mono" pitchFamily="34" charset="-120"/>
              </a:rPr>
              <a:t>'template-parts/content'</a:t>
            </a: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'service'</a:t>
            </a: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endwhile; ?&gt;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&lt;/div&gt;</a:t>
            </a:r>
            <a:endParaRPr lang="en-US" sz="1100" dirty="0"/>
          </a:p>
          <a:p>
            <a:pPr indent="0" marL="0">
              <a:lnSpc>
                <a:spcPct val="115000"/>
              </a:lnSpc>
              <a:buNone/>
            </a:pP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&lt;?php</a:t>
            </a:r>
            <a:r>
              <a:rPr lang="en-US" sz="1100" dirty="0">
                <a:solidFill>
                  <a:srgbClr val="ECEEF3"/>
                </a:solidFill>
                <a:latin typeface="IBM Plex Mono" pitchFamily="34" charset="0"/>
                <a:ea typeface="IBM Plex Mono" pitchFamily="34" charset="-122"/>
                <a:cs typeface="IBM Plex Mono" pitchFamily="34" charset="-120"/>
              </a:rPr>
              <a:t> get_footer();</a:t>
            </a:r>
            <a:endParaRPr lang="en-US" sz="1100" dirty="0"/>
          </a:p>
        </p:txBody>
      </p:sp>
      <p:sp>
        <p:nvSpPr>
          <p:cNvPr id="15" name="Shape 12"/>
          <p:cNvSpPr/>
          <p:nvPr/>
        </p:nvSpPr>
        <p:spPr>
          <a:xfrm>
            <a:off x="6323076" y="1874520"/>
            <a:ext cx="5225796" cy="45720"/>
          </a:xfrm>
          <a:prstGeom prst="rect">
            <a:avLst/>
          </a:prstGeom>
          <a:solidFill>
            <a:srgbClr val="FFCF3F"/>
          </a:solidFill>
          <a:ln w="12700">
            <a:solidFill>
              <a:srgbClr val="FFCF3F"/>
            </a:solidFill>
            <a:prstDash val="solid"/>
          </a:ln>
        </p:spPr>
      </p:sp>
      <p:sp>
        <p:nvSpPr>
          <p:cNvPr id="16" name="Text 13"/>
          <p:cNvSpPr txBox="1"/>
          <p:nvPr/>
        </p:nvSpPr>
        <p:spPr>
          <a:xfrm>
            <a:off x="6323076" y="2002536"/>
            <a:ext cx="5225796" cy="274320"/>
          </a:xfrm>
          <a:prstGeom prst="rect">
            <a:avLst/>
          </a:prstGeom>
          <a:noFill/>
          <a:ln/>
        </p:spPr>
        <p:txBody>
          <a:bodyPr wrap="square" lIns="0" tIns="0" rIns="0" bIns="0" rtlCol="0" anchor="t"/>
          <a:lstStyle/>
          <a:p>
            <a:pPr indent="0" marL="0">
              <a:buNone/>
            </a:pPr>
            <a:r>
              <a:rPr lang="en-US" sz="1100" spc="150" kern="0" dirty="0">
                <a:solidFill>
                  <a:srgbClr val="FFCF3F"/>
                </a:solidFill>
                <a:latin typeface="IBM Plex Mono" pitchFamily="34" charset="0"/>
                <a:ea typeface="IBM Plex Mono" pitchFamily="34" charset="-122"/>
                <a:cs typeface="IBM Plex Mono" pitchFamily="34" charset="-120"/>
              </a:rPr>
              <a:t>ASTRO</a:t>
            </a:r>
            <a:endParaRPr lang="en-US" sz="1100" dirty="0"/>
          </a:p>
        </p:txBody>
      </p:sp>
      <p:sp>
        <p:nvSpPr>
          <p:cNvPr id="17" name="Text 14"/>
          <p:cNvSpPr txBox="1"/>
          <p:nvPr/>
        </p:nvSpPr>
        <p:spPr>
          <a:xfrm>
            <a:off x="6323076"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apps/web/src/pages/index.astro</a:t>
            </a:r>
            <a:endParaRPr lang="en-US" sz="1100" dirty="0"/>
          </a:p>
        </p:txBody>
      </p:sp>
      <p:sp>
        <p:nvSpPr>
          <p:cNvPr id="18" name="Shape 15"/>
          <p:cNvSpPr/>
          <p:nvPr/>
        </p:nvSpPr>
        <p:spPr>
          <a:xfrm>
            <a:off x="6323076" y="2606040"/>
            <a:ext cx="5225796" cy="3611880"/>
          </a:xfrm>
          <a:prstGeom prst="rect">
            <a:avLst/>
          </a:prstGeom>
          <a:solidFill>
            <a:srgbClr val="0E1014"/>
          </a:solidFill>
          <a:ln w="9525">
            <a:solidFill>
              <a:srgbClr val="2A2F3A"/>
            </a:solidFill>
            <a:prstDash val="solid"/>
          </a:ln>
        </p:spPr>
      </p:sp>
      <p:sp>
        <p:nvSpPr>
          <p:cNvPr id="19" name="Text 16"/>
          <p:cNvSpPr txBox="1"/>
          <p:nvPr/>
        </p:nvSpPr>
        <p:spPr>
          <a:xfrm>
            <a:off x="6505956" y="2752344"/>
            <a:ext cx="4860036" cy="3319272"/>
          </a:xfrm>
          <a:prstGeom prst="rect">
            <a:avLst/>
          </a:prstGeom>
          <a:noFill/>
          <a:ln/>
        </p:spPr>
        <p:txBody>
          <a:bodyPr wrap="square" lIns="0" tIns="0" rIns="0" bIns="0" rtlCol="0" anchor="t"/>
          <a:lstStyle/>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import</a:t>
            </a:r>
            <a:r>
              <a:rPr lang="en-US" sz="1100" dirty="0">
                <a:solidFill>
                  <a:srgbClr val="ECEEF3"/>
                </a:solidFill>
                <a:latin typeface="IBM Plex Mono" pitchFamily="34" charset="0"/>
                <a:ea typeface="IBM Plex Mono" pitchFamily="34" charset="-122"/>
                <a:cs typeface="IBM Plex Mono" pitchFamily="34" charset="-120"/>
              </a:rPr>
              <a:t> Base </a:t>
            </a:r>
            <a:r>
              <a:rPr lang="en-US" sz="1100" dirty="0">
                <a:solidFill>
                  <a:srgbClr val="5AA9D6"/>
                </a:solidFill>
                <a:latin typeface="IBM Plex Mono" pitchFamily="34" charset="0"/>
                <a:ea typeface="IBM Plex Mono" pitchFamily="34" charset="-122"/>
                <a:cs typeface="IBM Plex Mono" pitchFamily="34" charset="-120"/>
              </a:rPr>
              <a:t>from</a:t>
            </a: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'@/layouts/Base.astro'</a:t>
            </a: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import</a:t>
            </a:r>
            <a:r>
              <a:rPr lang="en-US" sz="1100" dirty="0">
                <a:solidFill>
                  <a:srgbClr val="ECEEF3"/>
                </a:solidFill>
                <a:latin typeface="IBM Plex Mono" pitchFamily="34" charset="0"/>
                <a:ea typeface="IBM Plex Mono" pitchFamily="34" charset="-122"/>
                <a:cs typeface="IBM Plex Mono" pitchFamily="34" charset="-120"/>
              </a:rPr>
              <a:t> ServiceCard </a:t>
            </a:r>
            <a:r>
              <a:rPr lang="en-US" sz="1100" dirty="0">
                <a:solidFill>
                  <a:srgbClr val="5AA9D6"/>
                </a:solidFill>
                <a:latin typeface="IBM Plex Mono" pitchFamily="34" charset="0"/>
                <a:ea typeface="IBM Plex Mono" pitchFamily="34" charset="-122"/>
                <a:cs typeface="IBM Plex Mono" pitchFamily="34" charset="-120"/>
              </a:rPr>
              <a:t>from</a:t>
            </a: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'@/components/ServiceCard.astro'</a:t>
            </a: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import</a:t>
            </a:r>
            <a:r>
              <a:rPr lang="en-US" sz="1100" dirty="0">
                <a:solidFill>
                  <a:srgbClr val="ECEEF3"/>
                </a:solidFill>
                <a:latin typeface="IBM Plex Mono" pitchFamily="34" charset="0"/>
                <a:ea typeface="IBM Plex Mono" pitchFamily="34" charset="-122"/>
                <a:cs typeface="IBM Plex Mono" pitchFamily="34" charset="-120"/>
              </a:rPr>
              <a:t> { getDocs } </a:t>
            </a:r>
            <a:r>
              <a:rPr lang="en-US" sz="1100" dirty="0">
                <a:solidFill>
                  <a:srgbClr val="5AA9D6"/>
                </a:solidFill>
                <a:latin typeface="IBM Plex Mono" pitchFamily="34" charset="0"/>
                <a:ea typeface="IBM Plex Mono" pitchFamily="34" charset="-122"/>
                <a:cs typeface="IBM Plex Mono" pitchFamily="34" charset="-120"/>
              </a:rPr>
              <a:t>from</a:t>
            </a:r>
            <a:r>
              <a:rPr lang="en-US" sz="1100" dirty="0">
                <a:solidFill>
                  <a:srgbClr val="ECEEF3"/>
                </a:solidFill>
                <a:latin typeface="IBM Plex Mono" pitchFamily="34" charset="0"/>
                <a:ea typeface="IBM Plex Mono" pitchFamily="34" charset="-122"/>
                <a:cs typeface="IBM Plex Mono" pitchFamily="34" charset="-120"/>
              </a:rPr>
              <a:t> </a:t>
            </a:r>
            <a:r>
              <a:rPr lang="en-US" sz="1100" dirty="0">
                <a:solidFill>
                  <a:srgbClr val="7ED3A0"/>
                </a:solidFill>
                <a:latin typeface="IBM Plex Mono" pitchFamily="34" charset="0"/>
                <a:ea typeface="IBM Plex Mono" pitchFamily="34" charset="-122"/>
                <a:cs typeface="IBM Plex Mono" pitchFamily="34" charset="-120"/>
              </a:rPr>
              <a:t>'@/lib/payload'</a:t>
            </a:r>
            <a:endParaRPr lang="en-US" sz="1100" dirty="0"/>
          </a:p>
          <a:p>
            <a:pPr indent="0" marL="0">
              <a:lnSpc>
                <a:spcPct val="115000"/>
              </a:lnSpc>
              <a:buNone/>
            </a:pPr>
            <a:endParaRPr lang="en-US" sz="1100" dirty="0"/>
          </a:p>
          <a:p>
            <a:pPr indent="0" marL="0">
              <a:lnSpc>
                <a:spcPct val="115000"/>
              </a:lnSpc>
              <a:buNone/>
            </a:pPr>
            <a:r>
              <a:rPr lang="en-US" sz="1100" dirty="0">
                <a:solidFill>
                  <a:srgbClr val="5AA9D6"/>
                </a:solidFill>
                <a:latin typeface="IBM Plex Mono" pitchFamily="34" charset="0"/>
                <a:ea typeface="IBM Plex Mono" pitchFamily="34" charset="-122"/>
                <a:cs typeface="IBM Plex Mono" pitchFamily="34" charset="-120"/>
              </a:rPr>
              <a:t>const</a:t>
            </a:r>
            <a:r>
              <a:rPr lang="en-US" sz="1100" dirty="0">
                <a:solidFill>
                  <a:srgbClr val="ECEEF3"/>
                </a:solidFill>
                <a:latin typeface="IBM Plex Mono" pitchFamily="34" charset="0"/>
                <a:ea typeface="IBM Plex Mono" pitchFamily="34" charset="-122"/>
                <a:cs typeface="IBM Plex Mono" pitchFamily="34" charset="-120"/>
              </a:rPr>
              <a:t> { docs: services } = </a:t>
            </a:r>
            <a:r>
              <a:rPr lang="en-US" sz="1100" dirty="0">
                <a:solidFill>
                  <a:srgbClr val="5AA9D6"/>
                </a:solidFill>
                <a:latin typeface="IBM Plex Mono" pitchFamily="34" charset="0"/>
                <a:ea typeface="IBM Plex Mono" pitchFamily="34" charset="-122"/>
                <a:cs typeface="IBM Plex Mono" pitchFamily="34" charset="-120"/>
              </a:rPr>
              <a:t>await</a:t>
            </a:r>
            <a:r>
              <a:rPr lang="en-US" sz="1100" dirty="0">
                <a:solidFill>
                  <a:srgbClr val="ECEEF3"/>
                </a:solidFill>
                <a:latin typeface="IBM Plex Mono" pitchFamily="34" charset="0"/>
                <a:ea typeface="IBM Plex Mono" pitchFamily="34" charset="-122"/>
                <a:cs typeface="IBM Plex Mono" pitchFamily="34" charset="-120"/>
              </a:rPr>
              <a:t> getDocs(</a:t>
            </a:r>
            <a:r>
              <a:rPr lang="en-US" sz="1100" dirty="0">
                <a:solidFill>
                  <a:srgbClr val="7ED3A0"/>
                </a:solidFill>
                <a:latin typeface="IBM Plex Mono" pitchFamily="34" charset="0"/>
                <a:ea typeface="IBM Plex Mono" pitchFamily="34" charset="-122"/>
                <a:cs typeface="IBM Plex Mono" pitchFamily="34" charset="-120"/>
              </a:rPr>
              <a:t>'services'</a:t>
            </a:r>
            <a:r>
              <a:rPr lang="en-US" sz="1100" dirty="0">
                <a:solidFill>
                  <a:srgbClr val="ECEEF3"/>
                </a:solidFill>
                <a:latin typeface="IBM Plex Mono" pitchFamily="34" charset="0"/>
                <a:ea typeface="IBM Plex Mono" pitchFamily="34" charset="-122"/>
                <a:cs typeface="IBM Plex Mono" pitchFamily="34" charset="-120"/>
              </a:rPr>
              <a:t>, {</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sort: </a:t>
            </a:r>
            <a:r>
              <a:rPr lang="en-US" sz="1100" dirty="0">
                <a:solidFill>
                  <a:srgbClr val="7ED3A0"/>
                </a:solidFill>
                <a:latin typeface="IBM Plex Mono" pitchFamily="34" charset="0"/>
                <a:ea typeface="IBM Plex Mono" pitchFamily="34" charset="-122"/>
                <a:cs typeface="IBM Plex Mono" pitchFamily="34" charset="-120"/>
              </a:rPr>
              <a:t>'order'</a:t>
            </a: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&lt;Base title=</a:t>
            </a:r>
            <a:r>
              <a:rPr lang="en-US" sz="1100" dirty="0">
                <a:solidFill>
                  <a:srgbClr val="7ED3A0"/>
                </a:solidFill>
                <a:latin typeface="IBM Plex Mono" pitchFamily="34" charset="0"/>
                <a:ea typeface="IBM Plex Mono" pitchFamily="34" charset="-122"/>
                <a:cs typeface="IBM Plex Mono" pitchFamily="34" charset="-120"/>
              </a:rPr>
              <a:t>"Services"</a:t>
            </a:r>
            <a:r>
              <a:rPr lang="en-US" sz="1100" dirty="0">
                <a:solidFill>
                  <a:srgbClr val="ECEEF3"/>
                </a:solidFill>
                <a:latin typeface="IBM Plex Mono" pitchFamily="34" charset="0"/>
                <a:ea typeface="IBM Plex Mono" pitchFamily="34" charset="-122"/>
                <a:cs typeface="IBM Plex Mono" pitchFamily="34" charset="-120"/>
              </a:rPr>
              <a:t>&gt;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&lt;h1&gt;What we do&lt;/h1&gt;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&lt;div class="grid"&gt;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{services.map((service) =&gt; (</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&lt;ServiceCard service={service} /&gt;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  &lt;/div&gt;</a:t>
            </a:r>
            <a:endParaRPr lang="en-US" sz="1100" dirty="0"/>
          </a:p>
          <a:p>
            <a:pPr indent="0" marL="0">
              <a:lnSpc>
                <a:spcPct val="115000"/>
              </a:lnSpc>
              <a:buNone/>
            </a:pPr>
            <a:r>
              <a:rPr lang="en-US" sz="1100" dirty="0">
                <a:solidFill>
                  <a:srgbClr val="ECEEF3"/>
                </a:solidFill>
                <a:latin typeface="IBM Plex Mono" pitchFamily="34" charset="0"/>
                <a:ea typeface="IBM Plex Mono" pitchFamily="34" charset="-122"/>
                <a:cs typeface="IBM Plex Mono" pitchFamily="34" charset="-120"/>
              </a:rPr>
              <a:t>&lt;/Base&gt;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ASTRO IN WORDPRESS VOCABULARY</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14 / 27  ·  13:00 – 19:00</a:t>
            </a:r>
            <a:endParaRPr lang="en-US" sz="1000" dirty="0"/>
          </a:p>
        </p:txBody>
      </p:sp>
      <p:sp>
        <p:nvSpPr>
          <p:cNvPr id="8" name="Shape 5"/>
          <p:cNvSpPr/>
          <p:nvPr/>
        </p:nvSpPr>
        <p:spPr>
          <a:xfrm>
            <a:off x="0" y="6821424"/>
            <a:ext cx="6321620"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400" b="1" dirty="0">
                <a:solidFill>
                  <a:srgbClr val="ECEEF3"/>
                </a:solidFill>
                <a:latin typeface="IBM Plex Sans" pitchFamily="34" charset="0"/>
                <a:ea typeface="IBM Plex Sans" pitchFamily="34" charset="-122"/>
                <a:cs typeface="IBM Plex Sans" pitchFamily="34" charset="-120"/>
              </a:rPr>
              <a:t>File-based routing replaces the template hierarchy</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474643" cy="914400"/>
        </p:xfrm>
        <a:graphic>
          <a:graphicData uri="http://schemas.openxmlformats.org/drawingml/2006/table">
            <a:tbl>
              <a:tblPr/>
              <a:tblGrid>
                <a:gridCol w="2737322"/>
                <a:gridCol w="2737322"/>
              </a:tblGrid>
              <a:tr h="329184">
                <a:tc>
                  <a:txBody>
                    <a:bodyPr/>
                    <a:lstStyle/>
                    <a:p>
                      <a:pPr indent="0" marL="0">
                        <a:buNone/>
                      </a:pPr>
                      <a:r>
                        <a:rPr lang="en-US" sz="1050" spc="120" kern="0" dirty="0">
                          <a:solidFill>
                            <a:srgbClr val="5AA9D6"/>
                          </a:solidFill>
                          <a:latin typeface="IBM Plex Mono" pitchFamily="34" charset="0"/>
                          <a:ea typeface="IBM Plex Mono" pitchFamily="34" charset="-122"/>
                          <a:cs typeface="IBM Plex Mono" pitchFamily="34" charset="-120"/>
                        </a:rPr>
                        <a:t>WORDPRESS RESOLVES…</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50" spc="120" kern="0" dirty="0">
                          <a:solidFill>
                            <a:srgbClr val="FFCF3F"/>
                          </a:solidFill>
                          <a:latin typeface="IBM Plex Mono" pitchFamily="34" charset="0"/>
                          <a:ea typeface="IBM Plex Mono" pitchFamily="34" charset="-122"/>
                          <a:cs typeface="IBM Plex Mono" pitchFamily="34" charset="-120"/>
                        </a:rPr>
                        <a:t>ASTRO: THE FILE IS THE ROUTE</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478536">
                <a:tc>
                  <a:txBody>
                    <a:bodyPr/>
                    <a:lstStyle/>
                    <a:p>
                      <a:pPr indent="0" marL="0">
                        <a:buNone/>
                      </a:pPr>
                      <a:r>
                        <a:rPr lang="en-US" sz="1060" dirty="0">
                          <a:solidFill>
                            <a:srgbClr val="ECEEF3"/>
                          </a:solidFill>
                          <a:latin typeface="IBM Plex Mono" pitchFamily="34" charset="0"/>
                          <a:ea typeface="IBM Plex Mono" pitchFamily="34" charset="-122"/>
                          <a:cs typeface="IBM Plex Mono" pitchFamily="34" charset="-120"/>
                        </a:rPr>
                        <a:t>/services/</a:t>
                      </a:r>
                      <a:r>
                        <a:rPr lang="en-US" sz="1150" dirty="0">
                          <a:solidFill>
                            <a:srgbClr val="ECEEF3"/>
                          </a:solidFill>
                          <a:latin typeface="IBM Plex Sans" pitchFamily="34" charset="0"/>
                          <a:ea typeface="IBM Plex Sans" pitchFamily="34" charset="-122"/>
                          <a:cs typeface="IBM Plex Sans" pitchFamily="34" charset="-120"/>
                        </a:rPr>
                        <a:t> → </a:t>
                      </a:r>
                      <a:r>
                        <a:rPr lang="en-US" sz="1060" dirty="0">
                          <a:solidFill>
                            <a:srgbClr val="ECEEF3"/>
                          </a:solidFill>
                          <a:latin typeface="IBM Plex Mono" pitchFamily="34" charset="0"/>
                          <a:ea typeface="IBM Plex Mono" pitchFamily="34" charset="-122"/>
                          <a:cs typeface="IBM Plex Mono" pitchFamily="34" charset="-120"/>
                        </a:rPr>
                        <a:t>archive-service.php</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60" dirty="0">
                          <a:solidFill>
                            <a:srgbClr val="FFCF3F"/>
                          </a:solidFill>
                          <a:latin typeface="IBM Plex Mono" pitchFamily="34" charset="0"/>
                          <a:ea typeface="IBM Plex Mono" pitchFamily="34" charset="-122"/>
                          <a:cs typeface="IBM Plex Mono" pitchFamily="34" charset="-120"/>
                        </a:rPr>
                        <a:t>pages/services/index.astro</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78536">
                <a:tc>
                  <a:txBody>
                    <a:bodyPr/>
                    <a:lstStyle/>
                    <a:p>
                      <a:pPr indent="0" marL="0">
                        <a:buNone/>
                      </a:pPr>
                      <a:r>
                        <a:rPr lang="en-US" sz="1060" dirty="0">
                          <a:solidFill>
                            <a:srgbClr val="ECEEF3"/>
                          </a:solidFill>
                          <a:latin typeface="IBM Plex Mono" pitchFamily="34" charset="0"/>
                          <a:ea typeface="IBM Plex Mono" pitchFamily="34" charset="-122"/>
                          <a:cs typeface="IBM Plex Mono" pitchFamily="34" charset="-120"/>
                        </a:rPr>
                        <a:t>/services/web-dev/</a:t>
                      </a:r>
                      <a:r>
                        <a:rPr lang="en-US" sz="1150" dirty="0">
                          <a:solidFill>
                            <a:srgbClr val="ECEEF3"/>
                          </a:solidFill>
                          <a:latin typeface="IBM Plex Sans" pitchFamily="34" charset="0"/>
                          <a:ea typeface="IBM Plex Sans" pitchFamily="34" charset="-122"/>
                          <a:cs typeface="IBM Plex Sans" pitchFamily="34" charset="-120"/>
                        </a:rPr>
                        <a:t> → </a:t>
                      </a:r>
                      <a:r>
                        <a:rPr lang="en-US" sz="1060" dirty="0">
                          <a:solidFill>
                            <a:srgbClr val="ECEEF3"/>
                          </a:solidFill>
                          <a:latin typeface="IBM Plex Mono" pitchFamily="34" charset="0"/>
                          <a:ea typeface="IBM Plex Mono" pitchFamily="34" charset="-122"/>
                          <a:cs typeface="IBM Plex Mono" pitchFamily="34" charset="-120"/>
                        </a:rPr>
                        <a:t>single-service.php</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60" dirty="0">
                          <a:solidFill>
                            <a:srgbClr val="FFCF3F"/>
                          </a:solidFill>
                          <a:latin typeface="IBM Plex Mono" pitchFamily="34" charset="0"/>
                          <a:ea typeface="IBM Plex Mono" pitchFamily="34" charset="-122"/>
                          <a:cs typeface="IBM Plex Mono" pitchFamily="34" charset="-120"/>
                        </a:rPr>
                        <a:t>pages/services/[slug].astro</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78536">
                <a:tc>
                  <a:txBody>
                    <a:bodyPr/>
                    <a:lstStyle/>
                    <a:p>
                      <a:pPr indent="0" marL="0">
                        <a:buNone/>
                      </a:pPr>
                      <a:r>
                        <a:rPr lang="en-US" sz="1150" dirty="0">
                          <a:solidFill>
                            <a:srgbClr val="ECEEF3"/>
                          </a:solidFill>
                          <a:latin typeface="IBM Plex Sans" pitchFamily="34" charset="0"/>
                          <a:ea typeface="IBM Plex Sans" pitchFamily="34" charset="-122"/>
                          <a:cs typeface="IBM Plex Sans" pitchFamily="34" charset="-120"/>
                        </a:rPr>
                        <a:t>404 → </a:t>
                      </a:r>
                      <a:r>
                        <a:rPr lang="en-US" sz="1060" dirty="0">
                          <a:solidFill>
                            <a:srgbClr val="ECEEF3"/>
                          </a:solidFill>
                          <a:latin typeface="IBM Plex Mono" pitchFamily="34" charset="0"/>
                          <a:ea typeface="IBM Plex Mono" pitchFamily="34" charset="-122"/>
                          <a:cs typeface="IBM Plex Mono" pitchFamily="34" charset="-120"/>
                        </a:rPr>
                        <a:t>404.php</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60" dirty="0">
                          <a:solidFill>
                            <a:srgbClr val="FFCF3F"/>
                          </a:solidFill>
                          <a:latin typeface="IBM Plex Mono" pitchFamily="34" charset="0"/>
                          <a:ea typeface="IBM Plex Mono" pitchFamily="34" charset="-122"/>
                          <a:cs typeface="IBM Plex Mono" pitchFamily="34" charset="-120"/>
                        </a:rPr>
                        <a:t>404.astro</a:t>
                      </a:r>
                      <a:r>
                        <a:rPr lang="en-US" sz="1150" dirty="0">
                          <a:solidFill>
                            <a:srgbClr val="FFCF3F"/>
                          </a:solidFill>
                          <a:latin typeface="IBM Plex Sans" pitchFamily="34" charset="0"/>
                          <a:ea typeface="IBM Plex Sans" pitchFamily="34" charset="-122"/>
                          <a:cs typeface="IBM Plex Sans" pitchFamily="34" charset="-120"/>
                        </a:rPr>
                        <a:t>, or return a 404 </a:t>
                      </a:r>
                      <a:r>
                        <a:rPr lang="en-US" sz="1060" dirty="0">
                          <a:solidFill>
                            <a:srgbClr val="FFCF3F"/>
                          </a:solidFill>
                          <a:latin typeface="IBM Plex Mono" pitchFamily="34" charset="0"/>
                          <a:ea typeface="IBM Plex Mono" pitchFamily="34" charset="-122"/>
                          <a:cs typeface="IBM Plex Mono" pitchFamily="34" charset="-120"/>
                        </a:rPr>
                        <a:t>Response</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78536">
                <a:tc>
                  <a:txBody>
                    <a:bodyPr/>
                    <a:lstStyle/>
                    <a:p>
                      <a:pPr indent="0" marL="0">
                        <a:buNone/>
                      </a:pPr>
                      <a:r>
                        <a:rPr lang="en-US" sz="1150" dirty="0">
                          <a:solidFill>
                            <a:srgbClr val="ECEEF3"/>
                          </a:solidFill>
                          <a:latin typeface="IBM Plex Sans" pitchFamily="34" charset="0"/>
                          <a:ea typeface="IBM Plex Sans" pitchFamily="34" charset="-122"/>
                          <a:cs typeface="IBM Plex Sans" pitchFamily="34" charset="-120"/>
                        </a:rPr>
                        <a:t>rewrite rules, </a:t>
                      </a:r>
                      <a:r>
                        <a:rPr lang="en-US" sz="1060" dirty="0">
                          <a:solidFill>
                            <a:srgbClr val="ECEEF3"/>
                          </a:solidFill>
                          <a:latin typeface="IBM Plex Mono" pitchFamily="34" charset="0"/>
                          <a:ea typeface="IBM Plex Mono" pitchFamily="34" charset="-122"/>
                          <a:cs typeface="IBM Plex Mono" pitchFamily="34" charset="-120"/>
                        </a:rPr>
                        <a:t>flush_rewrite_rules()</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50" i="1" dirty="0">
                          <a:solidFill>
                            <a:srgbClr val="6B7385"/>
                          </a:solidFill>
                          <a:latin typeface="IBM Plex Sans" pitchFamily="34" charset="0"/>
                          <a:ea typeface="IBM Plex Sans" pitchFamily="34" charset="-122"/>
                          <a:cs typeface="IBM Plex Sans" pitchFamily="34" charset="-120"/>
                        </a:rPr>
                        <a:t>not a thing</a:t>
                      </a:r>
                      <a:endParaRPr lang="en-US" sz="115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Shape 7"/>
          <p:cNvSpPr/>
          <p:nvPr/>
        </p:nvSpPr>
        <p:spPr>
          <a:xfrm>
            <a:off x="640080" y="4282440"/>
            <a:ext cx="5474643" cy="772668"/>
          </a:xfrm>
          <a:prstGeom prst="rect">
            <a:avLst/>
          </a:prstGeom>
          <a:solidFill>
            <a:srgbClr val="1B1F27"/>
          </a:solidFill>
          <a:ln w="12700">
            <a:solidFill>
              <a:srgbClr val="1B1F27"/>
            </a:solidFill>
            <a:prstDash val="solid"/>
          </a:ln>
        </p:spPr>
      </p:sp>
      <p:sp>
        <p:nvSpPr>
          <p:cNvPr id="12" name="Shape 8"/>
          <p:cNvSpPr/>
          <p:nvPr/>
        </p:nvSpPr>
        <p:spPr>
          <a:xfrm>
            <a:off x="640080" y="4282440"/>
            <a:ext cx="54864" cy="772668"/>
          </a:xfrm>
          <a:prstGeom prst="rect">
            <a:avLst/>
          </a:prstGeom>
          <a:solidFill>
            <a:srgbClr val="FFCF3F"/>
          </a:solidFill>
          <a:ln w="12700">
            <a:solidFill>
              <a:srgbClr val="FFCF3F"/>
            </a:solidFill>
            <a:prstDash val="solid"/>
          </a:ln>
        </p:spPr>
      </p:sp>
      <p:sp>
        <p:nvSpPr>
          <p:cNvPr id="13" name="Text 9"/>
          <p:cNvSpPr txBox="1"/>
          <p:nvPr/>
        </p:nvSpPr>
        <p:spPr>
          <a:xfrm>
            <a:off x="914400" y="4428744"/>
            <a:ext cx="5017443" cy="480060"/>
          </a:xfrm>
          <a:prstGeom prst="rect">
            <a:avLst/>
          </a:prstGeom>
          <a:noFill/>
          <a:ln/>
        </p:spPr>
        <p:txBody>
          <a:bodyPr wrap="square" lIns="0" tIns="0" rIns="0" bIns="0" rtlCol="0" anchor="t"/>
          <a:lstStyle/>
          <a:p>
            <a:pPr indent="0" marL="0">
              <a:buNone/>
            </a:pPr>
            <a:r>
              <a:rPr lang="en-US" sz="1400" dirty="0">
                <a:solidFill>
                  <a:srgbClr val="ECEEF3"/>
                </a:solidFill>
                <a:latin typeface="IBM Plex Sans" pitchFamily="34" charset="0"/>
                <a:ea typeface="IBM Plex Sans" pitchFamily="34" charset="-122"/>
                <a:cs typeface="IBM Plex Sans" pitchFamily="34" charset="-120"/>
              </a:rPr>
              <a:t>The square brackets in </a:t>
            </a:r>
            <a:r>
              <a:rPr lang="en-US" sz="1290" dirty="0">
                <a:solidFill>
                  <a:srgbClr val="FFCF3F"/>
                </a:solidFill>
                <a:latin typeface="IBM Plex Mono" pitchFamily="34" charset="0"/>
                <a:ea typeface="IBM Plex Mono" pitchFamily="34" charset="-122"/>
                <a:cs typeface="IBM Plex Mono" pitchFamily="34" charset="-120"/>
              </a:rPr>
              <a:t>[slug].astro</a:t>
            </a:r>
            <a:r>
              <a:rPr lang="en-US" sz="1400" dirty="0">
                <a:solidFill>
                  <a:srgbClr val="ECEEF3"/>
                </a:solidFill>
                <a:latin typeface="IBM Plex Sans" pitchFamily="34" charset="0"/>
                <a:ea typeface="IBM Plex Sans" pitchFamily="34" charset="-122"/>
                <a:cs typeface="IBM Plex Sans" pitchFamily="34" charset="-120"/>
              </a:rPr>
              <a:t> are the dynamic segment. </a:t>
            </a:r>
            <a:r>
              <a:rPr lang="en-US" sz="1290" dirty="0">
                <a:solidFill>
                  <a:srgbClr val="FFCF3F"/>
                </a:solidFill>
                <a:latin typeface="IBM Plex Mono" pitchFamily="34" charset="0"/>
                <a:ea typeface="IBM Plex Mono" pitchFamily="34" charset="-122"/>
                <a:cs typeface="IBM Plex Mono" pitchFamily="34" charset="-120"/>
              </a:rPr>
              <a:t>Astro.params.slug</a:t>
            </a:r>
            <a:r>
              <a:rPr lang="en-US" sz="1400" dirty="0">
                <a:solidFill>
                  <a:srgbClr val="ECEEF3"/>
                </a:solidFill>
                <a:latin typeface="IBM Plex Sans" pitchFamily="34" charset="0"/>
                <a:ea typeface="IBM Plex Sans" pitchFamily="34" charset="-122"/>
                <a:cs typeface="IBM Plex Sans" pitchFamily="34" charset="-120"/>
              </a:rPr>
              <a:t> is the value.</a:t>
            </a:r>
            <a:endParaRPr lang="en-US" sz="1400" dirty="0"/>
          </a:p>
        </p:txBody>
      </p:sp>
      <p:sp>
        <p:nvSpPr>
          <p:cNvPr id="14" name="Text 10"/>
          <p:cNvSpPr txBox="1"/>
          <p:nvPr/>
        </p:nvSpPr>
        <p:spPr>
          <a:xfrm>
            <a:off x="6571923" y="1874520"/>
            <a:ext cx="4976949" cy="22733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pages/services/[slug].astro</a:t>
            </a:r>
            <a:endParaRPr lang="en-US" sz="1100" dirty="0"/>
          </a:p>
        </p:txBody>
      </p:sp>
      <p:sp>
        <p:nvSpPr>
          <p:cNvPr id="15" name="Shape 11"/>
          <p:cNvSpPr/>
          <p:nvPr/>
        </p:nvSpPr>
        <p:spPr>
          <a:xfrm>
            <a:off x="6571923" y="2175002"/>
            <a:ext cx="4976949" cy="2784348"/>
          </a:xfrm>
          <a:prstGeom prst="rect">
            <a:avLst/>
          </a:prstGeom>
          <a:solidFill>
            <a:srgbClr val="0E1014"/>
          </a:solidFill>
          <a:ln w="9525">
            <a:solidFill>
              <a:srgbClr val="2A2F3A"/>
            </a:solidFill>
            <a:prstDash val="solid"/>
          </a:ln>
        </p:spPr>
      </p:sp>
      <p:sp>
        <p:nvSpPr>
          <p:cNvPr id="16" name="Text 12"/>
          <p:cNvSpPr txBox="1"/>
          <p:nvPr/>
        </p:nvSpPr>
        <p:spPr>
          <a:xfrm>
            <a:off x="6754803" y="2321306"/>
            <a:ext cx="4611189" cy="2491740"/>
          </a:xfrm>
          <a:prstGeom prst="rect">
            <a:avLst/>
          </a:prstGeom>
          <a:noFill/>
          <a:ln/>
        </p:spPr>
        <p:txBody>
          <a:bodyPr wrap="square" lIns="0" tIns="0" rIns="0" bIns="0" rtlCol="0" anchor="t"/>
          <a:lstStyle/>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a:t>
            </a:r>
            <a:endParaRPr lang="en-US" sz="1150" dirty="0"/>
          </a:p>
          <a:p>
            <a:pPr indent="0" marL="0">
              <a:lnSpc>
                <a:spcPct val="115000"/>
              </a:lnSpc>
              <a:buNone/>
            </a:pPr>
            <a:r>
              <a:rPr lang="en-US" sz="1150" dirty="0">
                <a:solidFill>
                  <a:srgbClr val="5AA9D6"/>
                </a:solidFill>
                <a:latin typeface="IBM Plex Mono" pitchFamily="34" charset="0"/>
                <a:ea typeface="IBM Plex Mono" pitchFamily="34" charset="-122"/>
                <a:cs typeface="IBM Plex Mono" pitchFamily="34" charset="-120"/>
              </a:rPr>
              <a:t>const</a:t>
            </a:r>
            <a:r>
              <a:rPr lang="en-US" sz="1150" dirty="0">
                <a:solidFill>
                  <a:srgbClr val="ECEEF3"/>
                </a:solidFill>
                <a:latin typeface="IBM Plex Mono" pitchFamily="34" charset="0"/>
                <a:ea typeface="IBM Plex Mono" pitchFamily="34" charset="-122"/>
                <a:cs typeface="IBM Plex Mono" pitchFamily="34" charset="-120"/>
              </a:rPr>
              <a:t> { slug } = Astro.params</a:t>
            </a:r>
            <a:endParaRPr lang="en-US" sz="1150" dirty="0"/>
          </a:p>
          <a:p>
            <a:pPr indent="0" marL="0">
              <a:lnSpc>
                <a:spcPct val="115000"/>
              </a:lnSpc>
              <a:buNone/>
            </a:pPr>
            <a:r>
              <a:rPr lang="en-US" sz="1150" dirty="0">
                <a:solidFill>
                  <a:srgbClr val="5AA9D6"/>
                </a:solidFill>
                <a:latin typeface="IBM Plex Mono" pitchFamily="34" charset="0"/>
                <a:ea typeface="IBM Plex Mono" pitchFamily="34" charset="-122"/>
                <a:cs typeface="IBM Plex Mono" pitchFamily="34" charset="-120"/>
              </a:rPr>
              <a:t>const</a:t>
            </a:r>
            <a:r>
              <a:rPr lang="en-US" sz="1150" dirty="0">
                <a:solidFill>
                  <a:srgbClr val="ECEEF3"/>
                </a:solidFill>
                <a:latin typeface="IBM Plex Mono" pitchFamily="34" charset="0"/>
                <a:ea typeface="IBM Plex Mono" pitchFamily="34" charset="-122"/>
                <a:cs typeface="IBM Plex Mono" pitchFamily="34" charset="-120"/>
              </a:rPr>
              <a:t> service = </a:t>
            </a:r>
            <a:r>
              <a:rPr lang="en-US" sz="1150" dirty="0">
                <a:solidFill>
                  <a:srgbClr val="5AA9D6"/>
                </a:solidFill>
                <a:latin typeface="IBM Plex Mono" pitchFamily="34" charset="0"/>
                <a:ea typeface="IBM Plex Mono" pitchFamily="34" charset="-122"/>
                <a:cs typeface="IBM Plex Mono" pitchFamily="34" charset="-120"/>
              </a:rPr>
              <a:t>await</a:t>
            </a:r>
            <a:r>
              <a:rPr lang="en-US" sz="1150" dirty="0">
                <a:solidFill>
                  <a:srgbClr val="ECEEF3"/>
                </a:solidFill>
                <a:latin typeface="IBM Plex Mono" pitchFamily="34" charset="0"/>
                <a:ea typeface="IBM Plex Mono" pitchFamily="34" charset="-122"/>
                <a:cs typeface="IBM Plex Mono" pitchFamily="34" charset="-120"/>
              </a:rPr>
              <a:t> getDocBySlug(</a:t>
            </a:r>
            <a:r>
              <a:rPr lang="en-US" sz="1150" dirty="0">
                <a:solidFill>
                  <a:srgbClr val="7ED3A0"/>
                </a:solidFill>
                <a:latin typeface="IBM Plex Mono" pitchFamily="34" charset="0"/>
                <a:ea typeface="IBM Plex Mono" pitchFamily="34" charset="-122"/>
                <a:cs typeface="IBM Plex Mono" pitchFamily="34" charset="-120"/>
              </a:rPr>
              <a:t>'services'</a:t>
            </a:r>
            <a:r>
              <a:rPr lang="en-US" sz="1150" dirty="0">
                <a:solidFill>
                  <a:srgbClr val="ECEEF3"/>
                </a:solidFill>
                <a:latin typeface="IBM Plex Mono" pitchFamily="34" charset="0"/>
                <a:ea typeface="IBM Plex Mono" pitchFamily="34" charset="-122"/>
                <a:cs typeface="IBM Plex Mono" pitchFamily="34" charset="-120"/>
              </a:rPr>
              <a:t>, slug)</a:t>
            </a:r>
            <a:endParaRPr lang="en-US" sz="1150" dirty="0"/>
          </a:p>
          <a:p>
            <a:pPr indent="0" marL="0">
              <a:lnSpc>
                <a:spcPct val="115000"/>
              </a:lnSpc>
              <a:buNone/>
            </a:pPr>
            <a:endParaRPr lang="en-US" sz="1150" dirty="0"/>
          </a:p>
          <a:p>
            <a:pPr indent="0" marL="0">
              <a:lnSpc>
                <a:spcPct val="115000"/>
              </a:lnSpc>
              <a:buNone/>
            </a:pPr>
            <a:r>
              <a:rPr lang="en-US" sz="1150" dirty="0">
                <a:solidFill>
                  <a:srgbClr val="5AA9D6"/>
                </a:solidFill>
                <a:latin typeface="IBM Plex Mono" pitchFamily="34" charset="0"/>
                <a:ea typeface="IBM Plex Mono" pitchFamily="34" charset="-122"/>
                <a:cs typeface="IBM Plex Mono" pitchFamily="34" charset="-120"/>
              </a:rPr>
              <a:t>if</a:t>
            </a:r>
            <a:r>
              <a:rPr lang="en-US" sz="1150" dirty="0">
                <a:solidFill>
                  <a:srgbClr val="ECEEF3"/>
                </a:solidFill>
                <a:latin typeface="IBM Plex Mono" pitchFamily="34" charset="0"/>
                <a:ea typeface="IBM Plex Mono" pitchFamily="34" charset="-122"/>
                <a:cs typeface="IBM Plex Mono" pitchFamily="34" charset="-120"/>
              </a:rPr>
              <a:t> (!service)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a:t>
            </a:r>
            <a:r>
              <a:rPr lang="en-US" sz="1150" dirty="0">
                <a:solidFill>
                  <a:srgbClr val="5AA9D6"/>
                </a:solidFill>
                <a:latin typeface="IBM Plex Mono" pitchFamily="34" charset="0"/>
                <a:ea typeface="IBM Plex Mono" pitchFamily="34" charset="-122"/>
                <a:cs typeface="IBM Plex Mono" pitchFamily="34" charset="-120"/>
              </a:rPr>
              <a:t>return new</a:t>
            </a:r>
            <a:r>
              <a:rPr lang="en-US" sz="1150" dirty="0">
                <a:solidFill>
                  <a:srgbClr val="ECEEF3"/>
                </a:solidFill>
                <a:latin typeface="IBM Plex Mono" pitchFamily="34" charset="0"/>
                <a:ea typeface="IBM Plex Mono" pitchFamily="34" charset="-122"/>
                <a:cs typeface="IBM Plex Mono" pitchFamily="34" charset="-120"/>
              </a:rPr>
              <a:t> Response(null, { status: 404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&lt;Base title={service.title}&gt;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&lt;h1&gt;{service.title}&lt;/h1&gt;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  &lt;p&gt;{service.summary}&lt;/p&gt;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&lt;/Base&gt;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THE QUERY, AND THE ONE IDEA WITH NO WP NAME</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15 / 27  ·  13:00 – 19:00</a:t>
            </a:r>
            <a:endParaRPr lang="en-US" sz="1000" dirty="0"/>
          </a:p>
        </p:txBody>
      </p:sp>
      <p:sp>
        <p:nvSpPr>
          <p:cNvPr id="8" name="Shape 5"/>
          <p:cNvSpPr/>
          <p:nvPr/>
        </p:nvSpPr>
        <p:spPr>
          <a:xfrm>
            <a:off x="0" y="6821424"/>
            <a:ext cx="6773164"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2900" b="1" dirty="0">
                <a:solidFill>
                  <a:srgbClr val="ECEEF3"/>
                </a:solidFill>
                <a:latin typeface="IBM Plex Sans" pitchFamily="34" charset="0"/>
                <a:ea typeface="IBM Plex Sans" pitchFamily="34" charset="-122"/>
                <a:cs typeface="IBM Plex Sans" pitchFamily="34" charset="-120"/>
              </a:rPr>
              <a:t>Querying: </a:t>
            </a:r>
            <a:r>
              <a:rPr lang="en-US" sz="2900" b="1" dirty="0">
                <a:solidFill>
                  <a:srgbClr val="FFCF3F"/>
                </a:solidFill>
                <a:latin typeface="IBM Plex Sans" pitchFamily="34" charset="0"/>
                <a:ea typeface="IBM Plex Sans" pitchFamily="34" charset="-122"/>
                <a:cs typeface="IBM Plex Sans" pitchFamily="34" charset="-120"/>
              </a:rPr>
              <a:t>where</a:t>
            </a:r>
            <a:r>
              <a:rPr lang="en-US" sz="2900" b="1" dirty="0">
                <a:solidFill>
                  <a:srgbClr val="ECEEF3"/>
                </a:solidFill>
                <a:latin typeface="IBM Plex Sans" pitchFamily="34" charset="0"/>
                <a:ea typeface="IBM Plex Sans" pitchFamily="34" charset="-122"/>
                <a:cs typeface="IBM Plex Sans" pitchFamily="34" charset="-120"/>
              </a:rPr>
              <a:t> in the query string, </a:t>
            </a:r>
            <a:r>
              <a:rPr lang="en-US" sz="2900" b="1" dirty="0">
                <a:solidFill>
                  <a:srgbClr val="FFCF3F"/>
                </a:solidFill>
                <a:latin typeface="IBM Plex Sans" pitchFamily="34" charset="0"/>
                <a:ea typeface="IBM Plex Sans" pitchFamily="34" charset="-122"/>
                <a:cs typeface="IBM Plex Sans" pitchFamily="34" charset="-120"/>
              </a:rPr>
              <a:t>depth</a:t>
            </a:r>
            <a:r>
              <a:rPr lang="en-US" sz="2900" b="1" dirty="0">
                <a:solidFill>
                  <a:srgbClr val="ECEEF3"/>
                </a:solidFill>
                <a:latin typeface="IBM Plex Sans" pitchFamily="34" charset="0"/>
                <a:ea typeface="IBM Plex Sans" pitchFamily="34" charset="-122"/>
                <a:cs typeface="IBM Plex Sans" pitchFamily="34" charset="-120"/>
              </a:rPr>
              <a:t> for relationships</a:t>
            </a:r>
            <a:endParaRPr lang="en-US" sz="2900" dirty="0"/>
          </a:p>
        </p:txBody>
      </p:sp>
      <p:sp>
        <p:nvSpPr>
          <p:cNvPr id="10" name="Shape 7"/>
          <p:cNvSpPr/>
          <p:nvPr/>
        </p:nvSpPr>
        <p:spPr>
          <a:xfrm>
            <a:off x="640080" y="1874520"/>
            <a:ext cx="5225796" cy="45720"/>
          </a:xfrm>
          <a:prstGeom prst="rect">
            <a:avLst/>
          </a:prstGeom>
          <a:solidFill>
            <a:srgbClr val="5AA9D6"/>
          </a:solidFill>
          <a:ln w="12700">
            <a:solidFill>
              <a:srgbClr val="5AA9D6"/>
            </a:solidFill>
            <a:prstDash val="solid"/>
          </a:ln>
        </p:spPr>
      </p:sp>
      <p:sp>
        <p:nvSpPr>
          <p:cNvPr id="11" name="Text 8"/>
          <p:cNvSpPr txBox="1"/>
          <p:nvPr/>
        </p:nvSpPr>
        <p:spPr>
          <a:xfrm>
            <a:off x="640080" y="2002536"/>
            <a:ext cx="5225796" cy="274320"/>
          </a:xfrm>
          <a:prstGeom prst="rect">
            <a:avLst/>
          </a:prstGeom>
          <a:noFill/>
          <a:ln/>
        </p:spPr>
        <p:txBody>
          <a:bodyPr wrap="square" lIns="0" tIns="0" rIns="0" bIns="0" rtlCol="0" anchor="t"/>
          <a:lstStyle/>
          <a:p>
            <a:pPr indent="0" marL="0">
              <a:buNone/>
            </a:pPr>
            <a:r>
              <a:rPr lang="en-US" sz="1100" spc="150" kern="0" dirty="0">
                <a:solidFill>
                  <a:srgbClr val="5AA9D6"/>
                </a:solidFill>
                <a:latin typeface="IBM Plex Mono" pitchFamily="34" charset="0"/>
                <a:ea typeface="IBM Plex Mono" pitchFamily="34" charset="-122"/>
                <a:cs typeface="IBM Plex Mono" pitchFamily="34" charset="-120"/>
              </a:rPr>
              <a:t>WORDPRESS</a:t>
            </a:r>
            <a:endParaRPr lang="en-US" sz="1100" dirty="0"/>
          </a:p>
        </p:txBody>
      </p:sp>
      <p:sp>
        <p:nvSpPr>
          <p:cNvPr id="12" name="Text 9"/>
          <p:cNvSpPr txBox="1"/>
          <p:nvPr/>
        </p:nvSpPr>
        <p:spPr>
          <a:xfrm>
            <a:off x="640080"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 relationship field gives you IDs</a:t>
            </a:r>
            <a:endParaRPr lang="en-US" sz="1100" dirty="0"/>
          </a:p>
        </p:txBody>
      </p:sp>
      <p:sp>
        <p:nvSpPr>
          <p:cNvPr id="13" name="Shape 10"/>
          <p:cNvSpPr/>
          <p:nvPr/>
        </p:nvSpPr>
        <p:spPr>
          <a:xfrm>
            <a:off x="640080" y="2606040"/>
            <a:ext cx="5225796" cy="1461135"/>
          </a:xfrm>
          <a:prstGeom prst="rect">
            <a:avLst/>
          </a:prstGeom>
          <a:solidFill>
            <a:srgbClr val="0E1014"/>
          </a:solidFill>
          <a:ln w="9525">
            <a:solidFill>
              <a:srgbClr val="2A2F3A"/>
            </a:solidFill>
            <a:prstDash val="solid"/>
          </a:ln>
        </p:spPr>
      </p:sp>
      <p:sp>
        <p:nvSpPr>
          <p:cNvPr id="14" name="Text 11"/>
          <p:cNvSpPr txBox="1"/>
          <p:nvPr/>
        </p:nvSpPr>
        <p:spPr>
          <a:xfrm>
            <a:off x="822960" y="2752344"/>
            <a:ext cx="4860036" cy="1168527"/>
          </a:xfrm>
          <a:prstGeom prst="rect">
            <a:avLst/>
          </a:prstGeom>
          <a:noFill/>
          <a:ln/>
        </p:spPr>
        <p:txBody>
          <a:bodyPr wrap="square" lIns="0" tIns="0" rIns="0" bIns="0" rtlCol="0" anchor="t"/>
          <a:lstStyle/>
          <a:p>
            <a:pPr indent="0" marL="0">
              <a:lnSpc>
                <a:spcPct val="115000"/>
              </a:lnSpc>
              <a:buNone/>
            </a:pPr>
            <a:r>
              <a:rPr lang="en-US" sz="1250" dirty="0">
                <a:solidFill>
                  <a:srgbClr val="ECEEF3"/>
                </a:solidFill>
                <a:latin typeface="IBM Plex Mono" pitchFamily="34" charset="0"/>
                <a:ea typeface="IBM Plex Mono" pitchFamily="34" charset="-122"/>
                <a:cs typeface="IBM Plex Mono" pitchFamily="34" charset="-120"/>
              </a:rPr>
              <a:t>$ids = get_field(</a:t>
            </a:r>
            <a:r>
              <a:rPr lang="en-US" sz="1250" dirty="0">
                <a:solidFill>
                  <a:srgbClr val="7ED3A0"/>
                </a:solidFill>
                <a:latin typeface="IBM Plex Mono" pitchFamily="34" charset="0"/>
                <a:ea typeface="IBM Plex Mono" pitchFamily="34" charset="-122"/>
                <a:cs typeface="IBM Plex Mono" pitchFamily="34" charset="-120"/>
              </a:rPr>
              <a:t>'services'</a:t>
            </a:r>
            <a:r>
              <a:rPr lang="en-US" sz="1250" dirty="0">
                <a:solidFill>
                  <a:srgbClr val="ECEEF3"/>
                </a:solidFill>
                <a:latin typeface="IBM Plex Mono" pitchFamily="34" charset="0"/>
                <a:ea typeface="IBM Plex Mono" pitchFamily="34" charset="-122"/>
                <a:cs typeface="IBM Plex Mono" pitchFamily="34" charset="-120"/>
              </a:rPr>
              <a:t>);   </a:t>
            </a:r>
            <a:r>
              <a:rPr lang="en-US" sz="1250" dirty="0">
                <a:solidFill>
                  <a:srgbClr val="6B7385"/>
                </a:solidFill>
                <a:latin typeface="IBM Plex Mono" pitchFamily="34" charset="0"/>
                <a:ea typeface="IBM Plex Mono" pitchFamily="34" charset="-122"/>
                <a:cs typeface="IBM Plex Mono" pitchFamily="34" charset="-120"/>
              </a:rPr>
              <a:t>// [3, 1]</a:t>
            </a:r>
            <a:endParaRPr lang="en-US" sz="1250" dirty="0"/>
          </a:p>
          <a:p>
            <a:pPr indent="0" marL="0">
              <a:lnSpc>
                <a:spcPct val="115000"/>
              </a:lnSpc>
              <a:buNone/>
            </a:pPr>
            <a:r>
              <a:rPr lang="en-US" sz="1250" dirty="0">
                <a:solidFill>
                  <a:srgbClr val="5AA9D6"/>
                </a:solidFill>
                <a:latin typeface="IBM Plex Mono" pitchFamily="34" charset="0"/>
                <a:ea typeface="IBM Plex Mono" pitchFamily="34" charset="-122"/>
                <a:cs typeface="IBM Plex Mono" pitchFamily="34" charset="-120"/>
              </a:rPr>
              <a:t>foreach</a:t>
            </a:r>
            <a:r>
              <a:rPr lang="en-US" sz="1250" dirty="0">
                <a:solidFill>
                  <a:srgbClr val="ECEEF3"/>
                </a:solidFill>
                <a:latin typeface="IBM Plex Mono" pitchFamily="34" charset="0"/>
                <a:ea typeface="IBM Plex Mono" pitchFamily="34" charset="-122"/>
                <a:cs typeface="IBM Plex Mono" pitchFamily="34" charset="-120"/>
              </a:rPr>
              <a:t> ($ids </a:t>
            </a:r>
            <a:r>
              <a:rPr lang="en-US" sz="1250" dirty="0">
                <a:solidFill>
                  <a:srgbClr val="5AA9D6"/>
                </a:solidFill>
                <a:latin typeface="IBM Plex Mono" pitchFamily="34" charset="0"/>
                <a:ea typeface="IBM Plex Mono" pitchFamily="34" charset="-122"/>
                <a:cs typeface="IBM Plex Mono" pitchFamily="34" charset="-120"/>
              </a:rPr>
              <a:t>as</a:t>
            </a:r>
            <a:r>
              <a:rPr lang="en-US" sz="1250" dirty="0">
                <a:solidFill>
                  <a:srgbClr val="ECEEF3"/>
                </a:solidFill>
                <a:latin typeface="IBM Plex Mono" pitchFamily="34" charset="0"/>
                <a:ea typeface="IBM Plex Mono" pitchFamily="34" charset="-122"/>
                <a:cs typeface="IBM Plex Mono" pitchFamily="34" charset="-120"/>
              </a:rPr>
              <a:t> $id) {</a:t>
            </a:r>
            <a:endParaRPr lang="en-US" sz="1250" dirty="0"/>
          </a:p>
          <a:p>
            <a:pPr indent="0" marL="0">
              <a:lnSpc>
                <a:spcPct val="115000"/>
              </a:lnSpc>
              <a:buNone/>
            </a:pPr>
            <a:r>
              <a:rPr lang="en-US" sz="1250" dirty="0">
                <a:solidFill>
                  <a:srgbClr val="ECEEF3"/>
                </a:solidFill>
                <a:latin typeface="IBM Plex Mono" pitchFamily="34" charset="0"/>
                <a:ea typeface="IBM Plex Mono" pitchFamily="34" charset="-122"/>
                <a:cs typeface="IBM Plex Mono" pitchFamily="34" charset="-120"/>
              </a:rPr>
              <a:t>  $post = get_post($id);          </a:t>
            </a:r>
            <a:r>
              <a:rPr lang="en-US" sz="1250" dirty="0">
                <a:solidFill>
                  <a:srgbClr val="6B7385"/>
                </a:solidFill>
                <a:latin typeface="IBM Plex Mono" pitchFamily="34" charset="0"/>
                <a:ea typeface="IBM Plex Mono" pitchFamily="34" charset="-122"/>
                <a:cs typeface="IBM Plex Mono" pitchFamily="34" charset="-120"/>
              </a:rPr>
              <a:t>// one query each</a:t>
            </a:r>
            <a:endParaRPr lang="en-US" sz="1250" dirty="0"/>
          </a:p>
          <a:p>
            <a:pPr indent="0" marL="0">
              <a:lnSpc>
                <a:spcPct val="115000"/>
              </a:lnSpc>
              <a:buNone/>
            </a:pPr>
            <a:r>
              <a:rPr lang="en-US" sz="1250" dirty="0">
                <a:solidFill>
                  <a:srgbClr val="ECEEF3"/>
                </a:solidFill>
                <a:latin typeface="IBM Plex Mono" pitchFamily="34" charset="0"/>
                <a:ea typeface="IBM Plex Mono" pitchFamily="34" charset="-122"/>
                <a:cs typeface="IBM Plex Mono" pitchFamily="34" charset="-120"/>
              </a:rPr>
              <a:t>  echo $post-&gt;post_title;</a:t>
            </a:r>
            <a:endParaRPr lang="en-US" sz="1250" dirty="0"/>
          </a:p>
          <a:p>
            <a:pPr indent="0" marL="0">
              <a:lnSpc>
                <a:spcPct val="115000"/>
              </a:lnSpc>
              <a:buNone/>
            </a:pPr>
            <a:r>
              <a:rPr lang="en-US" sz="1250" dirty="0">
                <a:solidFill>
                  <a:srgbClr val="ECEEF3"/>
                </a:solidFill>
                <a:latin typeface="IBM Plex Mono" pitchFamily="34" charset="0"/>
                <a:ea typeface="IBM Plex Mono" pitchFamily="34" charset="-122"/>
                <a:cs typeface="IBM Plex Mono" pitchFamily="34" charset="-120"/>
              </a:rPr>
              <a:t>}</a:t>
            </a:r>
            <a:endParaRPr lang="en-US" sz="1250" dirty="0"/>
          </a:p>
        </p:txBody>
      </p:sp>
      <p:sp>
        <p:nvSpPr>
          <p:cNvPr id="15" name="Text 12"/>
          <p:cNvSpPr txBox="1"/>
          <p:nvPr/>
        </p:nvSpPr>
        <p:spPr>
          <a:xfrm>
            <a:off x="640080" y="4176903"/>
            <a:ext cx="5225796" cy="59944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Each related post is a separate </a:t>
            </a:r>
            <a:r>
              <a:rPr lang="en-US" sz="1290" dirty="0">
                <a:solidFill>
                  <a:srgbClr val="FFCF3F"/>
                </a:solidFill>
                <a:latin typeface="IBM Plex Mono" pitchFamily="34" charset="0"/>
                <a:ea typeface="IBM Plex Mono" pitchFamily="34" charset="-122"/>
                <a:cs typeface="IBM Plex Mono" pitchFamily="34" charset="-120"/>
              </a:rPr>
              <a:t>get_post()</a:t>
            </a:r>
            <a:r>
              <a:rPr lang="en-US" sz="1400" dirty="0">
                <a:solidFill>
                  <a:srgbClr val="9EA7B8"/>
                </a:solidFill>
                <a:latin typeface="IBM Plex Sans" pitchFamily="34" charset="0"/>
                <a:ea typeface="IBM Plex Sans" pitchFamily="34" charset="-122"/>
                <a:cs typeface="IBM Plex Sans" pitchFamily="34" charset="-120"/>
              </a:rPr>
              <a:t> call and a separate query.</a:t>
            </a:r>
            <a:endParaRPr lang="en-US" sz="1400" dirty="0"/>
          </a:p>
        </p:txBody>
      </p:sp>
      <p:sp>
        <p:nvSpPr>
          <p:cNvPr id="16" name="Shape 13"/>
          <p:cNvSpPr/>
          <p:nvPr/>
        </p:nvSpPr>
        <p:spPr>
          <a:xfrm>
            <a:off x="6323076" y="1874520"/>
            <a:ext cx="5225796" cy="45720"/>
          </a:xfrm>
          <a:prstGeom prst="rect">
            <a:avLst/>
          </a:prstGeom>
          <a:solidFill>
            <a:srgbClr val="FFCF3F"/>
          </a:solidFill>
          <a:ln w="12700">
            <a:solidFill>
              <a:srgbClr val="FFCF3F"/>
            </a:solidFill>
            <a:prstDash val="solid"/>
          </a:ln>
        </p:spPr>
      </p:sp>
      <p:sp>
        <p:nvSpPr>
          <p:cNvPr id="17" name="Text 14"/>
          <p:cNvSpPr txBox="1"/>
          <p:nvPr/>
        </p:nvSpPr>
        <p:spPr>
          <a:xfrm>
            <a:off x="6323076" y="2002536"/>
            <a:ext cx="5225796" cy="274320"/>
          </a:xfrm>
          <a:prstGeom prst="rect">
            <a:avLst/>
          </a:prstGeom>
          <a:noFill/>
          <a:ln/>
        </p:spPr>
        <p:txBody>
          <a:bodyPr wrap="square" lIns="0" tIns="0" rIns="0" bIns="0" rtlCol="0" anchor="t"/>
          <a:lstStyle/>
          <a:p>
            <a:pPr indent="0" marL="0">
              <a:buNone/>
            </a:pPr>
            <a:r>
              <a:rPr lang="en-US" sz="1100" spc="150" kern="0" dirty="0">
                <a:solidFill>
                  <a:srgbClr val="FFCF3F"/>
                </a:solidFill>
                <a:latin typeface="IBM Plex Mono" pitchFamily="34" charset="0"/>
                <a:ea typeface="IBM Plex Mono" pitchFamily="34" charset="-122"/>
                <a:cs typeface="IBM Plex Mono" pitchFamily="34" charset="-120"/>
              </a:rPr>
              <a:t>PAYLOAD</a:t>
            </a:r>
            <a:endParaRPr lang="en-US" sz="1100" dirty="0"/>
          </a:p>
        </p:txBody>
      </p:sp>
      <p:sp>
        <p:nvSpPr>
          <p:cNvPr id="18" name="Text 15"/>
          <p:cNvSpPr txBox="1"/>
          <p:nvPr/>
        </p:nvSpPr>
        <p:spPr>
          <a:xfrm>
            <a:off x="6323076" y="2313432"/>
            <a:ext cx="5225796"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GET /api/projects?depth=1</a:t>
            </a:r>
            <a:endParaRPr lang="en-US" sz="1100" dirty="0"/>
          </a:p>
        </p:txBody>
      </p:sp>
      <p:sp>
        <p:nvSpPr>
          <p:cNvPr id="19" name="Shape 16"/>
          <p:cNvSpPr/>
          <p:nvPr/>
        </p:nvSpPr>
        <p:spPr>
          <a:xfrm>
            <a:off x="6323076" y="2606040"/>
            <a:ext cx="5225796" cy="2416302"/>
          </a:xfrm>
          <a:prstGeom prst="rect">
            <a:avLst/>
          </a:prstGeom>
          <a:solidFill>
            <a:srgbClr val="0E1014"/>
          </a:solidFill>
          <a:ln w="9525">
            <a:solidFill>
              <a:srgbClr val="2A2F3A"/>
            </a:solidFill>
            <a:prstDash val="solid"/>
          </a:ln>
        </p:spPr>
      </p:sp>
      <p:sp>
        <p:nvSpPr>
          <p:cNvPr id="20" name="Text 17"/>
          <p:cNvSpPr txBox="1"/>
          <p:nvPr/>
        </p:nvSpPr>
        <p:spPr>
          <a:xfrm>
            <a:off x="6505956" y="2752344"/>
            <a:ext cx="4860036" cy="2123694"/>
          </a:xfrm>
          <a:prstGeom prst="rect">
            <a:avLst/>
          </a:prstGeom>
          <a:noFill/>
          <a:ln/>
        </p:spPr>
        <p:txBody>
          <a:bodyPr wrap="square" lIns="0" tIns="0" rIns="0" bIns="0" rtlCol="0" anchor="t"/>
          <a:lstStyle/>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"title"</a:t>
            </a: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"Harbour Ferries Booking"</a:t>
            </a:r>
            <a:r>
              <a:rPr lang="en-US" sz="1300" dirty="0">
                <a:solidFill>
                  <a:srgbClr val="ECEEF3"/>
                </a:solidFill>
                <a:latin typeface="IBM Plex Mono" pitchFamily="34" charset="0"/>
                <a:ea typeface="IBM Plex Mono" pitchFamily="34" charset="-122"/>
                <a:cs typeface="IBM Plex Mono" pitchFamily="34" charset="-120"/>
              </a:rPr>
              <a:t>,</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"services"</a:t>
            </a:r>
            <a:r>
              <a:rPr lang="en-US" sz="1300" dirty="0">
                <a:solidFill>
                  <a:srgbClr val="ECEEF3"/>
                </a:solidFill>
                <a:latin typeface="IBM Plex Mono" pitchFamily="34" charset="0"/>
                <a:ea typeface="IBM Plex Mono" pitchFamily="34" charset="-122"/>
                <a:cs typeface="IBM Plex Mono" pitchFamily="34" charset="-120"/>
              </a:rPr>
              <a:t>: [</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 </a:t>
            </a:r>
            <a:r>
              <a:rPr lang="en-US" sz="1300" dirty="0">
                <a:solidFill>
                  <a:srgbClr val="7ED3A0"/>
                </a:solidFill>
                <a:latin typeface="IBM Plex Mono" pitchFamily="34" charset="0"/>
                <a:ea typeface="IBM Plex Mono" pitchFamily="34" charset="-122"/>
                <a:cs typeface="IBM Plex Mono" pitchFamily="34" charset="-120"/>
              </a:rPr>
              <a:t>"id"</a:t>
            </a:r>
            <a:r>
              <a:rPr lang="en-US" sz="1300" dirty="0">
                <a:solidFill>
                  <a:srgbClr val="ECEEF3"/>
                </a:solidFill>
                <a:latin typeface="IBM Plex Mono" pitchFamily="34" charset="0"/>
                <a:ea typeface="IBM Plex Mono" pitchFamily="34" charset="-122"/>
                <a:cs typeface="IBM Plex Mono" pitchFamily="34" charset="-120"/>
              </a:rPr>
              <a:t>: 1, </a:t>
            </a:r>
            <a:r>
              <a:rPr lang="en-US" sz="1300" dirty="0">
                <a:solidFill>
                  <a:srgbClr val="7ED3A0"/>
                </a:solidFill>
                <a:latin typeface="IBM Plex Mono" pitchFamily="34" charset="0"/>
                <a:ea typeface="IBM Plex Mono" pitchFamily="34" charset="-122"/>
                <a:cs typeface="IBM Plex Mono" pitchFamily="34" charset="-120"/>
              </a:rPr>
              <a:t>"slug"</a:t>
            </a: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"web-development"</a:t>
            </a:r>
            <a:r>
              <a:rPr lang="en-US" sz="1300" dirty="0">
                <a:solidFill>
                  <a:srgbClr val="ECEEF3"/>
                </a:solidFill>
                <a:latin typeface="IBM Plex Mono" pitchFamily="34" charset="0"/>
                <a:ea typeface="IBM Plex Mono" pitchFamily="34" charset="-122"/>
                <a:cs typeface="IBM Plex Mono" pitchFamily="34" charset="-120"/>
              </a:rPr>
              <a:t>,</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"title"</a:t>
            </a:r>
            <a:r>
              <a:rPr lang="en-US" sz="1300" dirty="0">
                <a:solidFill>
                  <a:srgbClr val="ECEEF3"/>
                </a:solidFill>
                <a:latin typeface="IBM Plex Mono" pitchFamily="34" charset="0"/>
                <a:ea typeface="IBM Plex Mono" pitchFamily="34" charset="-122"/>
                <a:cs typeface="IBM Plex Mono" pitchFamily="34" charset="-120"/>
              </a:rPr>
              <a:t>: </a:t>
            </a:r>
            <a:r>
              <a:rPr lang="en-US" sz="1300" dirty="0">
                <a:solidFill>
                  <a:srgbClr val="7ED3A0"/>
                </a:solidFill>
                <a:latin typeface="IBM Plex Mono" pitchFamily="34" charset="0"/>
                <a:ea typeface="IBM Plex Mono" pitchFamily="34" charset="-122"/>
                <a:cs typeface="IBM Plex Mono" pitchFamily="34" charset="-120"/>
              </a:rPr>
              <a:t>"Web Development"</a:t>
            </a:r>
            <a:r>
              <a:rPr lang="en-US" sz="1300" dirty="0">
                <a:solidFill>
                  <a:srgbClr val="ECEEF3"/>
                </a:solidFill>
                <a:latin typeface="IBM Plex Mono" pitchFamily="34" charset="0"/>
                <a:ea typeface="IBM Plex Mono" pitchFamily="34" charset="-122"/>
                <a:cs typeface="IBM Plex Mono" pitchFamily="34" charset="-120"/>
              </a:rPr>
              <a:t>, … }</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  ]</a:t>
            </a:r>
            <a:endParaRPr lang="en-US" sz="1300" dirty="0"/>
          </a:p>
          <a:p>
            <a:pPr indent="0" marL="0">
              <a:lnSpc>
                <a:spcPct val="115000"/>
              </a:lnSpc>
              <a:buNone/>
            </a:pPr>
            <a:r>
              <a:rPr lang="en-US" sz="1300" dirty="0">
                <a:solidFill>
                  <a:srgbClr val="ECEEF3"/>
                </a:solidFill>
                <a:latin typeface="IBM Plex Mono" pitchFamily="34" charset="0"/>
                <a:ea typeface="IBM Plex Mono" pitchFamily="34" charset="-122"/>
                <a:cs typeface="IBM Plex Mono" pitchFamily="34" charset="-120"/>
              </a:rPr>
              <a:t>}</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depth=0 → "services": [1]</a:t>
            </a:r>
            <a:endParaRPr lang="en-US" sz="1300" dirty="0"/>
          </a:p>
          <a:p>
            <a:pPr indent="0" marL="0">
              <a:lnSpc>
                <a:spcPct val="115000"/>
              </a:lnSpc>
              <a:buNone/>
            </a:pPr>
            <a:r>
              <a:rPr lang="en-US" sz="1300" dirty="0">
                <a:solidFill>
                  <a:srgbClr val="6B7385"/>
                </a:solidFill>
                <a:latin typeface="IBM Plex Mono" pitchFamily="34" charset="0"/>
                <a:ea typeface="IBM Plex Mono" pitchFamily="34" charset="-122"/>
                <a:cs typeface="IBM Plex Mono" pitchFamily="34" charset="-120"/>
              </a:rPr>
              <a:t>// depth=1 → populated one level, as above</a:t>
            </a:r>
            <a:endParaRPr lang="en-US" sz="1300" dirty="0"/>
          </a:p>
        </p:txBody>
      </p:sp>
      <p:sp>
        <p:nvSpPr>
          <p:cNvPr id="21" name="Text 18"/>
          <p:cNvSpPr txBox="1"/>
          <p:nvPr/>
        </p:nvSpPr>
        <p:spPr>
          <a:xfrm>
            <a:off x="6323076" y="5132070"/>
            <a:ext cx="5225796" cy="59944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The generated type is </a:t>
            </a:r>
            <a:r>
              <a:rPr lang="en-US" sz="1290" dirty="0">
                <a:solidFill>
                  <a:srgbClr val="FFCF3F"/>
                </a:solidFill>
                <a:latin typeface="IBM Plex Mono" pitchFamily="34" charset="0"/>
                <a:ea typeface="IBM Plex Mono" pitchFamily="34" charset="-122"/>
                <a:cs typeface="IBM Plex Mono" pitchFamily="34" charset="-120"/>
              </a:rPr>
              <a:t>number | Service</a:t>
            </a:r>
            <a:r>
              <a:rPr lang="en-US" sz="1400" dirty="0">
                <a:solidFill>
                  <a:srgbClr val="9EA7B8"/>
                </a:solidFill>
                <a:latin typeface="IBM Plex Sans" pitchFamily="34" charset="0"/>
                <a:ea typeface="IBM Plex Sans" pitchFamily="34" charset="-122"/>
                <a:cs typeface="IBM Plex Sans" pitchFamily="34" charset="-120"/>
              </a:rPr>
              <a:t>: an id at depth 0, a document at depth 1. Guard with </a:t>
            </a:r>
            <a:r>
              <a:rPr lang="en-US" sz="1290" dirty="0">
                <a:solidFill>
                  <a:srgbClr val="FFCF3F"/>
                </a:solidFill>
                <a:latin typeface="IBM Plex Mono" pitchFamily="34" charset="0"/>
                <a:ea typeface="IBM Plex Mono" pitchFamily="34" charset="-122"/>
                <a:cs typeface="IBM Plex Mono" pitchFamily="34" charset="-120"/>
              </a:rPr>
              <a:t>typeof s === 'object'</a:t>
            </a:r>
            <a:r>
              <a:rPr lang="en-US" sz="1400" dirty="0">
                <a:solidFill>
                  <a:srgbClr val="9EA7B8"/>
                </a:solidFill>
                <a:latin typeface="IBM Plex Sans" pitchFamily="34" charset="0"/>
                <a:ea typeface="IBM Plex Sans" pitchFamily="34" charset="-122"/>
                <a:cs typeface="IBM Plex Sans" pitchFamily="34" charset="-120"/>
              </a:rPr>
              <a: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ASTRO, THE FILE</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16 / 27  ·  13:00 – 19:00</a:t>
            </a:r>
            <a:endParaRPr lang="en-US" sz="1000" dirty="0"/>
          </a:p>
        </p:txBody>
      </p:sp>
      <p:sp>
        <p:nvSpPr>
          <p:cNvPr id="8" name="Shape 5"/>
          <p:cNvSpPr/>
          <p:nvPr/>
        </p:nvSpPr>
        <p:spPr>
          <a:xfrm>
            <a:off x="0" y="6821424"/>
            <a:ext cx="7224708"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Astro terms: the .astro file</a:t>
            </a:r>
            <a:endParaRPr lang="en-US" sz="3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 file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component. Server code on top, HTML below. Pages and components are both .astro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.php template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Frontmatter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Between the --- fences. Runs on the server, never in the browser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The PHP at the top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Template, expression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Below the fence. HTML with {js} inside. {items.map(…)} is the loop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&lt;?= $x ?&gt;, foreach</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Component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.astro file in src/components, used as a tag with attributes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get_template_part()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Props, interface Props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The values passed in. Astro.props. Declare their types with interface Props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$args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 (the global)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Astro.props, Astro.params, Astro.url, Astro.request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$post, get_query_var()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Layout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component wrapping a whole page. &lt;Base title="…"&gt;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get_header() + get_footer()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Slot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Where children go. &lt;slot /&gt;. Named: &lt;slot name="head" /&gt;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wp_head(), roughly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Scoped &lt;style&gt;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Styles in a component only apply to that component's HTML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set:html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Render a string as HTML. For rich text. Trust the source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echo without escaping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 and @cms/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Import aliases: @/ is src/, @cms/payload-types is the CMS types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get_template_directory()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5168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ASTRO, ROUTES AND RENDERING</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17 / 27  ·  13:00 – 19:00</a:t>
            </a:r>
            <a:endParaRPr lang="en-US" sz="1000" dirty="0"/>
          </a:p>
        </p:txBody>
      </p:sp>
      <p:sp>
        <p:nvSpPr>
          <p:cNvPr id="8" name="Shape 5"/>
          <p:cNvSpPr/>
          <p:nvPr/>
        </p:nvSpPr>
        <p:spPr>
          <a:xfrm>
            <a:off x="0" y="6821424"/>
            <a:ext cx="7676253"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Astro terms: routing and rendering</a:t>
            </a:r>
            <a:endParaRPr lang="en-US" sz="3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Page, file-based routing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.astro file in src/pages. Its path is its URL. No hierarchy, no rewrite rules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Template hierarchy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[slug].astro, Astro.params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Dynamic segment in brackets; Astro.params.slug is the value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single-*.php, get_query_var()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[...path].astro</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Matches any depth</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Catch-all rewrite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Response, Astro.redirect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Return one from the frontmatter: new Response(null, { status: 404 })</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status_header(), wp_redirect()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Endpoint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 .ts file in pages/ exporting GET or POST. An API route in the web app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admin-ajax.php, a REST route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Middleware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src/middleware.ts. Runs before every request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template_redirect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SSR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Rendered per request. Content changes show on refresh. Our setting: output: 'server'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How WordPress always works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SSG, prerender, getStaticPaths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Built once to HTML files. prerender = true per page; getStaticPaths lists the URLs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full-page cache, done properly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Adapter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Lets an SSR site run somewhere: Node, Vercel, Cloudflare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The hosting-specific part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 dev / build / preview / check</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Dev server, production build, serve the build, typecheck</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 server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 7 daemon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Under an AI agent, astro dev backgrounds itself. astro dev logs / status / stop</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516880"/>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7ED3A0"/>
          </a:solidFill>
          <a:ln w="12700">
            <a:solidFill>
              <a:srgbClr val="7ED3A0"/>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JARGON · ASTRO, THE BROWSER SIDE</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18 / 27  ·  13:00 – 19:00</a:t>
            </a:r>
            <a:endParaRPr lang="en-US" sz="1000" dirty="0"/>
          </a:p>
        </p:txBody>
      </p:sp>
      <p:sp>
        <p:nvSpPr>
          <p:cNvPr id="8" name="Shape 5"/>
          <p:cNvSpPr/>
          <p:nvPr/>
        </p:nvSpPr>
        <p:spPr>
          <a:xfrm>
            <a:off x="0" y="6821424"/>
            <a:ext cx="8127797"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100" b="1" dirty="0">
                <a:solidFill>
                  <a:srgbClr val="ECEEF3"/>
                </a:solidFill>
                <a:latin typeface="IBM Plex Sans" pitchFamily="34" charset="0"/>
                <a:ea typeface="IBM Plex Sans" pitchFamily="34" charset="-122"/>
                <a:cs typeface="IBM Plex Sans" pitchFamily="34" charset="-120"/>
              </a:rPr>
              <a:t>Astro terms: client-side, and the collections name clash</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00" spc="120" kern="0" dirty="0">
                          <a:solidFill>
                            <a:srgbClr val="FFCF3F"/>
                          </a:solidFill>
                          <a:latin typeface="IBM Plex Mono" pitchFamily="34" charset="0"/>
                          <a:ea typeface="IBM Plex Mono" pitchFamily="34" charset="-122"/>
                          <a:cs typeface="IBM Plex Mono" pitchFamily="34" charset="-120"/>
                        </a:rPr>
                        <a:t>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9EA7B8"/>
                          </a:solidFill>
                          <a:latin typeface="IBM Plex Mono" pitchFamily="34" charset="0"/>
                          <a:ea typeface="IBM Plex Mono" pitchFamily="34" charset="-122"/>
                          <a:cs typeface="IBM Plex Mono" pitchFamily="34" charset="-120"/>
                        </a:rPr>
                        <a:t>WHAT IT IS</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00" spc="120" kern="0" dirty="0">
                          <a:solidFill>
                            <a:srgbClr val="5AA9D6"/>
                          </a:solidFill>
                          <a:latin typeface="IBM Plex Mono" pitchFamily="34" charset="0"/>
                          <a:ea typeface="IBM Plex Mono" pitchFamily="34" charset="-122"/>
                          <a:cs typeface="IBM Plex Mono" pitchFamily="34" charset="-120"/>
                        </a:rPr>
                        <a:t>WORDPRESS WORD</a:t>
                      </a:r>
                      <a:endParaRPr lang="en-US" sz="100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Zero JS by default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No JavaScript ships unless you ask. A page of .astro components is plain HTML</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The opposite of most themes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Island</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One interactive component on a static page. React, Svelte, Vue, or plain &lt;script&gt;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block with its own JS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Hydration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Loading the JS that makes an island interactive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wp_enqueue_script(), roughly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client:load / idle / visible / only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When to hydrate: now, when idle, when scrolled into view, or skip server rendering</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&lt;script&gt; in a component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Plain client JS. Astro bundles and dedupes it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wp_enqueue_script()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Integration</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Official add-ons: @astrojs/react, sitemap, node. Listed in astro.config.mjs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A plugin, frontend side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astro:assets, &lt;Image&gt;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Astro's image component. Resizes and optimises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wp_get_attachment_image()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import.meta.env, PUBLIC_</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Env vars. Only PUBLIC_-prefixed ones reach the browser</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5AA9D6"/>
                          </a:solidFill>
                          <a:latin typeface="IBM Plex Sans" pitchFamily="34" charset="0"/>
                          <a:ea typeface="IBM Plex Sans" pitchFamily="34" charset="-122"/>
                          <a:cs typeface="IBM Plex Sans" pitchFamily="34" charset="-120"/>
                        </a:rPr>
                        <a:t>getenv()</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328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Content collections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Name clash: Astro's own "collections" for local Markdown files. Not Payload's. We have none</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280416">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View transitions</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dirty="0">
                          <a:solidFill>
                            <a:srgbClr val="ECEEF3"/>
                          </a:solidFill>
                          <a:latin typeface="IBM Plex Sans" pitchFamily="34" charset="0"/>
                          <a:ea typeface="IBM Plex Sans" pitchFamily="34" charset="-122"/>
                          <a:cs typeface="IBM Plex Sans" pitchFamily="34" charset="-120"/>
                        </a:rPr>
                        <a:t>Animated navigation between pages. Opt-in. Not today</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000" i="1" dirty="0">
                          <a:solidFill>
                            <a:srgbClr val="6B7385"/>
                          </a:solidFill>
                          <a:latin typeface="IBM Plex Sans" pitchFamily="34" charset="0"/>
                          <a:ea typeface="IBM Plex Sans" pitchFamily="34" charset="-122"/>
                          <a:cs typeface="IBM Plex Sans" pitchFamily="34" charset="-120"/>
                        </a:rPr>
                        <a:t>no equivalent</a:t>
                      </a:r>
                      <a:endParaRPr lang="en-US" sz="10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388864"/>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Full list with longer definitions: docs/GLOSSARY.md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Shape 1"/>
          <p:cNvSpPr/>
          <p:nvPr/>
        </p:nvSpPr>
        <p:spPr>
          <a:xfrm>
            <a:off x="822960" y="566928"/>
            <a:ext cx="128016" cy="128016"/>
          </a:xfrm>
          <a:prstGeom prst="ellipse">
            <a:avLst/>
          </a:prstGeom>
          <a:solidFill>
            <a:srgbClr val="7ED3A0"/>
          </a:solidFill>
          <a:ln w="12700">
            <a:solidFill>
              <a:srgbClr val="7ED3A0"/>
            </a:solidFill>
            <a:prstDash val="solid"/>
          </a:ln>
        </p:spPr>
      </p:sp>
      <p:sp>
        <p:nvSpPr>
          <p:cNvPr id="5" name="Text 2"/>
          <p:cNvSpPr txBox="1"/>
          <p:nvPr/>
        </p:nvSpPr>
        <p:spPr>
          <a:xfrm>
            <a:off x="106984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1 · SIMILAR, DIFFERENT, NEW</a:t>
            </a:r>
            <a:endParaRPr lang="en-US" sz="1100" dirty="0"/>
          </a:p>
        </p:txBody>
      </p:sp>
      <p:sp>
        <p:nvSpPr>
          <p:cNvPr id="6" name="Text 3"/>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13 – 19 min</a:t>
            </a:r>
            <a:endParaRPr lang="en-US" sz="1100" dirty="0"/>
          </a:p>
        </p:txBody>
      </p:sp>
      <p:sp>
        <p:nvSpPr>
          <p:cNvPr id="7" name="Text 4"/>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8" name="Text 5"/>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19 / 27  ·  13:00 – 19:00</a:t>
            </a:r>
            <a:endParaRPr lang="en-US" sz="1000" dirty="0"/>
          </a:p>
        </p:txBody>
      </p:sp>
      <p:sp>
        <p:nvSpPr>
          <p:cNvPr id="9" name="Shape 6"/>
          <p:cNvSpPr/>
          <p:nvPr/>
        </p:nvSpPr>
        <p:spPr>
          <a:xfrm>
            <a:off x="0" y="6821424"/>
            <a:ext cx="8579341" cy="36576"/>
          </a:xfrm>
          <a:prstGeom prst="rect">
            <a:avLst/>
          </a:prstGeom>
          <a:solidFill>
            <a:srgbClr val="FFCF3F"/>
          </a:solidFill>
          <a:ln w="12700">
            <a:solidFill>
              <a:srgbClr val="FFCF3F"/>
            </a:solidFill>
            <a:prstDash val="solid"/>
          </a:ln>
        </p:spPr>
      </p:sp>
      <p:sp>
        <p:nvSpPr>
          <p:cNvPr id="10" name="Text 7"/>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100" b="1" dirty="0">
                <a:solidFill>
                  <a:srgbClr val="ECEEF3"/>
                </a:solidFill>
                <a:latin typeface="IBM Plex Sans" pitchFamily="34" charset="0"/>
                <a:ea typeface="IBM Plex Sans" pitchFamily="34" charset="-122"/>
                <a:cs typeface="IBM Plex Sans" pitchFamily="34" charset="-120"/>
              </a:rPr>
              <a:t>Same concepts, different architecture, three new terms</a:t>
            </a:r>
            <a:endParaRPr lang="en-US" sz="3100" dirty="0"/>
          </a:p>
        </p:txBody>
      </p:sp>
      <p:sp>
        <p:nvSpPr>
          <p:cNvPr id="11" name="Shape 8"/>
          <p:cNvSpPr/>
          <p:nvPr/>
        </p:nvSpPr>
        <p:spPr>
          <a:xfrm>
            <a:off x="640080" y="1874520"/>
            <a:ext cx="3422904" cy="45720"/>
          </a:xfrm>
          <a:prstGeom prst="rect">
            <a:avLst/>
          </a:prstGeom>
          <a:solidFill>
            <a:srgbClr val="7ED3A0"/>
          </a:solidFill>
          <a:ln w="12700">
            <a:solidFill>
              <a:srgbClr val="7ED3A0"/>
            </a:solidFill>
            <a:prstDash val="solid"/>
          </a:ln>
        </p:spPr>
      </p:sp>
      <p:sp>
        <p:nvSpPr>
          <p:cNvPr id="12" name="Text 9"/>
          <p:cNvSpPr txBox="1"/>
          <p:nvPr/>
        </p:nvSpPr>
        <p:spPr>
          <a:xfrm>
            <a:off x="640080"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MAPS ONE TO ONE</a:t>
            </a:r>
            <a:endParaRPr lang="en-US" sz="1050" dirty="0"/>
          </a:p>
        </p:txBody>
      </p:sp>
      <p:sp>
        <p:nvSpPr>
          <p:cNvPr id="13" name="Text 10"/>
          <p:cNvSpPr txBox="1"/>
          <p:nvPr/>
        </p:nvSpPr>
        <p:spPr>
          <a:xfrm>
            <a:off x="640080" y="2368296"/>
            <a:ext cx="3422904" cy="3849624"/>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CPT → </a:t>
            </a:r>
            <a:r>
              <a:rPr lang="en-US" sz="1380" dirty="0">
                <a:solidFill>
                  <a:srgbClr val="FFCF3F"/>
                </a:solidFill>
                <a:latin typeface="IBM Plex Mono" pitchFamily="34" charset="0"/>
                <a:ea typeface="IBM Plex Mono" pitchFamily="34" charset="-122"/>
                <a:cs typeface="IBM Plex Mono" pitchFamily="34" charset="-120"/>
              </a:rPr>
              <a:t>collection</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ACF field group → </a:t>
            </a:r>
            <a:r>
              <a:rPr lang="en-US" sz="1380" dirty="0">
                <a:solidFill>
                  <a:srgbClr val="FFCF3F"/>
                </a:solidFill>
                <a:latin typeface="IBM Plex Mono" pitchFamily="34" charset="0"/>
                <a:ea typeface="IBM Plex Mono" pitchFamily="34" charset="-122"/>
                <a:cs typeface="IBM Plex Mono" pitchFamily="34" charset="-120"/>
              </a:rPr>
              <a:t>fields</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Options page → </a:t>
            </a:r>
            <a:r>
              <a:rPr lang="en-US" sz="1380" dirty="0">
                <a:solidFill>
                  <a:srgbClr val="FFCF3F"/>
                </a:solidFill>
                <a:latin typeface="IBM Plex Mono" pitchFamily="34" charset="0"/>
                <a:ea typeface="IBM Plex Mono" pitchFamily="34" charset="-122"/>
                <a:cs typeface="IBM Plex Mono" pitchFamily="34" charset="-120"/>
              </a:rPr>
              <a:t>global</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Archive / single template → </a:t>
            </a:r>
            <a:r>
              <a:rPr lang="en-US" sz="1380" dirty="0">
                <a:solidFill>
                  <a:srgbClr val="FFCF3F"/>
                </a:solidFill>
                <a:latin typeface="IBM Plex Mono" pitchFamily="34" charset="0"/>
                <a:ea typeface="IBM Plex Mono" pitchFamily="34" charset="-122"/>
                <a:cs typeface="IBM Plex Mono" pitchFamily="34" charset="-120"/>
              </a:rPr>
              <a:t>pages/…/index.astro</a:t>
            </a:r>
            <a:r>
              <a:rPr lang="en-US" sz="1500" dirty="0">
                <a:solidFill>
                  <a:srgbClr val="ECEEF3"/>
                </a:solidFill>
                <a:latin typeface="IBM Plex Sans" pitchFamily="34" charset="0"/>
                <a:ea typeface="IBM Plex Sans" pitchFamily="34" charset="-122"/>
                <a:cs typeface="IBM Plex Sans" pitchFamily="34" charset="-120"/>
              </a:rPr>
              <a:t>, </a:t>
            </a:r>
            <a:r>
              <a:rPr lang="en-US" sz="1380" dirty="0">
                <a:solidFill>
                  <a:srgbClr val="FFCF3F"/>
                </a:solidFill>
                <a:latin typeface="IBM Plex Mono" pitchFamily="34" charset="0"/>
                <a:ea typeface="IBM Plex Mono" pitchFamily="34" charset="-122"/>
                <a:cs typeface="IBM Plex Mono" pitchFamily="34" charset="-120"/>
              </a:rPr>
              <a:t>[slug].astro</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Template part → component</a:t>
            </a:r>
            <a:endParaRPr lang="en-US" sz="1500" dirty="0"/>
          </a:p>
          <a:p>
            <a:pPr marL="177800" indent="-177800">
              <a:lnSpc>
                <a:spcPct val="110000"/>
              </a:lnSpc>
              <a:spcAft>
                <a:spcPts val="500"/>
              </a:spcAft>
              <a:buSzPct val="100000"/>
              <a:buChar char="•"/>
            </a:pPr>
            <a:r>
              <a:rPr lang="en-US" sz="1380" dirty="0">
                <a:solidFill>
                  <a:srgbClr val="FFCF3F"/>
                </a:solidFill>
                <a:latin typeface="IBM Plex Mono" pitchFamily="34" charset="0"/>
                <a:ea typeface="IBM Plex Mono" pitchFamily="34" charset="-122"/>
                <a:cs typeface="IBM Plex Mono" pitchFamily="34" charset="-120"/>
              </a:rPr>
              <a:t>save_post</a:t>
            </a:r>
            <a:r>
              <a:rPr lang="en-US" sz="1500" dirty="0">
                <a:solidFill>
                  <a:srgbClr val="ECEEF3"/>
                </a:solidFill>
                <a:latin typeface="IBM Plex Sans" pitchFamily="34" charset="0"/>
                <a:ea typeface="IBM Plex Sans" pitchFamily="34" charset="-122"/>
                <a:cs typeface="IBM Plex Sans" pitchFamily="34" charset="-120"/>
              </a:rPr>
              <a:t> → </a:t>
            </a:r>
            <a:r>
              <a:rPr lang="en-US" sz="1380" dirty="0">
                <a:solidFill>
                  <a:srgbClr val="FFCF3F"/>
                </a:solidFill>
                <a:latin typeface="IBM Plex Mono" pitchFamily="34" charset="0"/>
                <a:ea typeface="IBM Plex Mono" pitchFamily="34" charset="-122"/>
                <a:cs typeface="IBM Plex Mono" pitchFamily="34" charset="-120"/>
              </a:rPr>
              <a:t>beforeChange</a:t>
            </a:r>
            <a:endParaRPr lang="en-US" sz="1500" dirty="0"/>
          </a:p>
        </p:txBody>
      </p:sp>
      <p:sp>
        <p:nvSpPr>
          <p:cNvPr id="14" name="Shape 11"/>
          <p:cNvSpPr/>
          <p:nvPr/>
        </p:nvSpPr>
        <p:spPr>
          <a:xfrm>
            <a:off x="4383024" y="1874520"/>
            <a:ext cx="3422904" cy="45720"/>
          </a:xfrm>
          <a:prstGeom prst="rect">
            <a:avLst/>
          </a:prstGeom>
          <a:solidFill>
            <a:srgbClr val="FFCF3F"/>
          </a:solidFill>
          <a:ln w="12700">
            <a:solidFill>
              <a:srgbClr val="FFCF3F"/>
            </a:solidFill>
            <a:prstDash val="solid"/>
          </a:ln>
        </p:spPr>
      </p:sp>
      <p:sp>
        <p:nvSpPr>
          <p:cNvPr id="15" name="Text 12"/>
          <p:cNvSpPr txBox="1"/>
          <p:nvPr/>
        </p:nvSpPr>
        <p:spPr>
          <a:xfrm>
            <a:off x="4383024"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DIFFERENT</a:t>
            </a:r>
            <a:endParaRPr lang="en-US" sz="1050" dirty="0"/>
          </a:p>
        </p:txBody>
      </p:sp>
      <p:sp>
        <p:nvSpPr>
          <p:cNvPr id="16" name="Text 13"/>
          <p:cNvSpPr txBox="1"/>
          <p:nvPr/>
        </p:nvSpPr>
        <p:spPr>
          <a:xfrm>
            <a:off x="4383024" y="2368296"/>
            <a:ext cx="3422904" cy="3849624"/>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The content model is a file in git, not rows in a database</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Types flow from the CMS into the frontend</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The frontend has no database and no credentials</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No template hierarchy: the folder is the URL</a:t>
            </a:r>
            <a:endParaRPr lang="en-US" sz="150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npm packages in </a:t>
            </a:r>
            <a:r>
              <a:rPr lang="en-US" sz="1380" dirty="0">
                <a:solidFill>
                  <a:srgbClr val="FFCF3F"/>
                </a:solidFill>
                <a:latin typeface="IBM Plex Mono" pitchFamily="34" charset="0"/>
                <a:ea typeface="IBM Plex Mono" pitchFamily="34" charset="-122"/>
                <a:cs typeface="IBM Plex Mono" pitchFamily="34" charset="-120"/>
              </a:rPr>
              <a:t>package.json</a:t>
            </a:r>
            <a:r>
              <a:rPr lang="en-US" sz="1500" dirty="0">
                <a:solidFill>
                  <a:srgbClr val="ECEEF3"/>
                </a:solidFill>
                <a:latin typeface="IBM Plex Sans" pitchFamily="34" charset="0"/>
                <a:ea typeface="IBM Plex Sans" pitchFamily="34" charset="-122"/>
                <a:cs typeface="IBM Plex Sans" pitchFamily="34" charset="-120"/>
              </a:rPr>
              <a:t> instead of plugins</a:t>
            </a:r>
            <a:endParaRPr lang="en-US" sz="1500" dirty="0"/>
          </a:p>
        </p:txBody>
      </p:sp>
      <p:sp>
        <p:nvSpPr>
          <p:cNvPr id="17" name="Shape 14"/>
          <p:cNvSpPr/>
          <p:nvPr/>
        </p:nvSpPr>
        <p:spPr>
          <a:xfrm>
            <a:off x="8125968" y="1874520"/>
            <a:ext cx="3422904" cy="45720"/>
          </a:xfrm>
          <a:prstGeom prst="rect">
            <a:avLst/>
          </a:prstGeom>
          <a:solidFill>
            <a:srgbClr val="6EA3FF"/>
          </a:solidFill>
          <a:ln w="12700">
            <a:solidFill>
              <a:srgbClr val="6EA3FF"/>
            </a:solidFill>
            <a:prstDash val="solid"/>
          </a:ln>
        </p:spPr>
      </p:sp>
      <p:sp>
        <p:nvSpPr>
          <p:cNvPr id="18" name="Text 15"/>
          <p:cNvSpPr txBox="1"/>
          <p:nvPr/>
        </p:nvSpPr>
        <p:spPr>
          <a:xfrm>
            <a:off x="8125968" y="2039112"/>
            <a:ext cx="3422904" cy="274320"/>
          </a:xfrm>
          <a:prstGeom prst="rect">
            <a:avLst/>
          </a:prstGeom>
          <a:noFill/>
          <a:ln/>
        </p:spPr>
        <p:txBody>
          <a:bodyPr wrap="square" lIns="0" tIns="0" rIns="0" bIns="0" rtlCol="0" anchor="t"/>
          <a:lstStyle/>
          <a:p>
            <a:pPr indent="0" marL="0">
              <a:buNone/>
            </a:pPr>
            <a:r>
              <a:rPr lang="en-US" sz="1050" spc="150" kern="0" dirty="0">
                <a:solidFill>
                  <a:srgbClr val="9EA7B8"/>
                </a:solidFill>
                <a:latin typeface="IBM Plex Mono" pitchFamily="34" charset="0"/>
                <a:ea typeface="IBM Plex Mono" pitchFamily="34" charset="-122"/>
                <a:cs typeface="IBM Plex Mono" pitchFamily="34" charset="-120"/>
              </a:rPr>
              <a:t>NEW, NO WORDPRESS NAME</a:t>
            </a:r>
            <a:endParaRPr lang="en-US" sz="1050" dirty="0"/>
          </a:p>
        </p:txBody>
      </p:sp>
      <p:sp>
        <p:nvSpPr>
          <p:cNvPr id="19" name="Text 16"/>
          <p:cNvSpPr txBox="1"/>
          <p:nvPr/>
        </p:nvSpPr>
        <p:spPr>
          <a:xfrm>
            <a:off x="8125968" y="2368296"/>
            <a:ext cx="3422904" cy="3849624"/>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380" dirty="0">
                <a:solidFill>
                  <a:srgbClr val="FFCF3F"/>
                </a:solidFill>
                <a:latin typeface="IBM Plex Mono" pitchFamily="34" charset="0"/>
                <a:ea typeface="IBM Plex Mono" pitchFamily="34" charset="-122"/>
                <a:cs typeface="IBM Plex Mono" pitchFamily="34" charset="-120"/>
              </a:rPr>
              <a:t>depth</a:t>
            </a:r>
            <a:r>
              <a:rPr lang="en-US" sz="1500" dirty="0">
                <a:solidFill>
                  <a:srgbClr val="ECEEF3"/>
                </a:solidFill>
                <a:latin typeface="IBM Plex Sans" pitchFamily="34" charset="0"/>
                <a:ea typeface="IBM Plex Sans" pitchFamily="34" charset="-122"/>
                <a:cs typeface="IBM Plex Sans" pitchFamily="34" charset="-120"/>
              </a:rPr>
              <a:t>: how far relationships are populated</a:t>
            </a:r>
            <a:endParaRPr lang="en-US" sz="138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Generated types, and the </a:t>
            </a:r>
            <a:r>
              <a:rPr lang="en-US" sz="1380" dirty="0">
                <a:solidFill>
                  <a:srgbClr val="FFCF3F"/>
                </a:solidFill>
                <a:latin typeface="IBM Plex Mono" pitchFamily="34" charset="0"/>
                <a:ea typeface="IBM Plex Mono" pitchFamily="34" charset="-122"/>
                <a:cs typeface="IBM Plex Mono" pitchFamily="34" charset="-120"/>
              </a:rPr>
              <a:t>number | Service</a:t>
            </a:r>
            <a:r>
              <a:rPr lang="en-US" sz="1500" dirty="0">
                <a:solidFill>
                  <a:srgbClr val="ECEEF3"/>
                </a:solidFill>
                <a:latin typeface="IBM Plex Sans" pitchFamily="34" charset="0"/>
                <a:ea typeface="IBM Plex Sans" pitchFamily="34" charset="-122"/>
                <a:cs typeface="IBM Plex Sans" pitchFamily="34" charset="-120"/>
              </a:rPr>
              <a:t> guard</a:t>
            </a:r>
            <a:endParaRPr lang="en-US" sz="138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Global vs collection: one document vs a list</a:t>
            </a:r>
            <a:endParaRPr lang="en-US" sz="1380" dirty="0"/>
          </a:p>
          <a:p>
            <a:pPr marL="177800" indent="-177800">
              <a:lnSpc>
                <a:spcPct val="110000"/>
              </a:lnSpc>
              <a:spcAft>
                <a:spcPts val="500"/>
              </a:spcAft>
              <a:buSzPct val="100000"/>
              <a:buChar char="•"/>
            </a:pPr>
            <a:r>
              <a:rPr lang="en-US" sz="1500" dirty="0">
                <a:solidFill>
                  <a:srgbClr val="ECEEF3"/>
                </a:solidFill>
                <a:latin typeface="IBM Plex Sans" pitchFamily="34" charset="0"/>
                <a:ea typeface="IBM Plex Sans" pitchFamily="34" charset="-122"/>
                <a:cs typeface="IBM Plex Sans" pitchFamily="34" charset="-120"/>
              </a:rPr>
              <a:t>SSR vs SSG: per request, or built once</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EA3FF"/>
          </a:solidFill>
          <a:ln w="12700">
            <a:solidFill>
              <a:srgbClr val="6EA3F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2 · PREREQUISITES</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19 – 24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20 / 27  ·  19:00 – 24:00</a:t>
            </a:r>
            <a:endParaRPr lang="en-US" sz="1000" dirty="0"/>
          </a:p>
        </p:txBody>
      </p:sp>
      <p:sp>
        <p:nvSpPr>
          <p:cNvPr id="8" name="Shape 5"/>
          <p:cNvSpPr/>
          <p:nvPr/>
        </p:nvSpPr>
        <p:spPr>
          <a:xfrm>
            <a:off x="0" y="6821424"/>
            <a:ext cx="9030885"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Prerequisites</a:t>
            </a:r>
            <a:endParaRPr lang="en-US" sz="3800" dirty="0"/>
          </a:p>
        </p:txBody>
      </p:sp>
      <p:sp>
        <p:nvSpPr>
          <p:cNvPr id="10" name="Text 7"/>
          <p:cNvSpPr txBox="1"/>
          <p:nvPr/>
        </p:nvSpPr>
        <p:spPr>
          <a:xfrm>
            <a:off x="640080" y="1911096"/>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runtime</a:t>
            </a:r>
            <a:endParaRPr lang="en-US" sz="1100" dirty="0"/>
          </a:p>
        </p:txBody>
      </p:sp>
      <p:sp>
        <p:nvSpPr>
          <p:cNvPr id="11" name="Text 8"/>
          <p:cNvSpPr txBox="1"/>
          <p:nvPr/>
        </p:nvSpPr>
        <p:spPr>
          <a:xfrm>
            <a:off x="1828800" y="1874520"/>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Node 22+ </a:t>
            </a:r>
            <a:r>
              <a:rPr lang="en-US" sz="1500" dirty="0">
                <a:solidFill>
                  <a:srgbClr val="9EA7B8"/>
                </a:solidFill>
                <a:latin typeface="IBM Plex Sans" pitchFamily="34" charset="0"/>
                <a:ea typeface="IBM Plex Sans" pitchFamily="34" charset="-122"/>
                <a:cs typeface="IBM Plex Sans" pitchFamily="34" charset="-120"/>
              </a:rPr>
              <a:t>(</a:t>
            </a:r>
            <a:r>
              <a:rPr lang="en-US" sz="1380" dirty="0">
                <a:solidFill>
                  <a:srgbClr val="FFCF3F"/>
                </a:solidFill>
                <a:latin typeface="IBM Plex Mono" pitchFamily="34" charset="0"/>
                <a:ea typeface="IBM Plex Mono" pitchFamily="34" charset="-122"/>
                <a:cs typeface="IBM Plex Mono" pitchFamily="34" charset="-120"/>
              </a:rPr>
              <a:t>node -v</a:t>
            </a:r>
            <a:r>
              <a:rPr lang="en-US" sz="1500" dirty="0">
                <a:solidFill>
                  <a:srgbClr val="9EA7B8"/>
                </a:solidFill>
                <a:latin typeface="IBM Plex Sans" pitchFamily="34" charset="0"/>
                <a:ea typeface="IBM Plex Sans" pitchFamily="34" charset="-122"/>
                <a:cs typeface="IBM Plex Sans" pitchFamily="34" charset="-120"/>
              </a:rPr>
              <a:t>)</a:t>
            </a:r>
            <a:endParaRPr lang="en-US" sz="1500" dirty="0"/>
          </a:p>
        </p:txBody>
      </p:sp>
      <p:sp>
        <p:nvSpPr>
          <p:cNvPr id="12" name="Text 9"/>
          <p:cNvSpPr txBox="1"/>
          <p:nvPr/>
        </p:nvSpPr>
        <p:spPr>
          <a:xfrm>
            <a:off x="640080" y="2323338"/>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packages</a:t>
            </a:r>
            <a:endParaRPr lang="en-US" sz="1100" dirty="0"/>
          </a:p>
        </p:txBody>
      </p:sp>
      <p:sp>
        <p:nvSpPr>
          <p:cNvPr id="13" name="Text 10"/>
          <p:cNvSpPr txBox="1"/>
          <p:nvPr/>
        </p:nvSpPr>
        <p:spPr>
          <a:xfrm>
            <a:off x="1828800" y="2286762"/>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pnpm 9+ </a:t>
            </a:r>
            <a:r>
              <a:rPr lang="en-US" sz="1500" dirty="0">
                <a:solidFill>
                  <a:srgbClr val="9EA7B8"/>
                </a:solidFill>
                <a:latin typeface="IBM Plex Sans" pitchFamily="34" charset="0"/>
                <a:ea typeface="IBM Plex Sans" pitchFamily="34" charset="-122"/>
                <a:cs typeface="IBM Plex Sans" pitchFamily="34" charset="-120"/>
              </a:rPr>
              <a:t>(</a:t>
            </a:r>
            <a:r>
              <a:rPr lang="en-US" sz="1380" dirty="0">
                <a:solidFill>
                  <a:srgbClr val="FFCF3F"/>
                </a:solidFill>
                <a:latin typeface="IBM Plex Mono" pitchFamily="34" charset="0"/>
                <a:ea typeface="IBM Plex Mono" pitchFamily="34" charset="-122"/>
                <a:cs typeface="IBM Plex Mono" pitchFamily="34" charset="-120"/>
              </a:rPr>
              <a:t>corepack enable</a:t>
            </a:r>
            <a:r>
              <a:rPr lang="en-US" sz="1500" dirty="0">
                <a:solidFill>
                  <a:srgbClr val="9EA7B8"/>
                </a:solidFill>
                <a:latin typeface="IBM Plex Sans" pitchFamily="34" charset="0"/>
                <a:ea typeface="IBM Plex Sans" pitchFamily="34" charset="-122"/>
                <a:cs typeface="IBM Plex Sans" pitchFamily="34" charset="-120"/>
              </a:rPr>
              <a:t>)</a:t>
            </a:r>
            <a:endParaRPr lang="en-US" sz="1500" dirty="0"/>
          </a:p>
        </p:txBody>
      </p:sp>
      <p:sp>
        <p:nvSpPr>
          <p:cNvPr id="14" name="Text 11"/>
          <p:cNvSpPr txBox="1"/>
          <p:nvPr/>
        </p:nvSpPr>
        <p:spPr>
          <a:xfrm>
            <a:off x="640080" y="2735580"/>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vcs</a:t>
            </a:r>
            <a:endParaRPr lang="en-US" sz="1100" dirty="0"/>
          </a:p>
        </p:txBody>
      </p:sp>
      <p:sp>
        <p:nvSpPr>
          <p:cNvPr id="15" name="Text 12"/>
          <p:cNvSpPr txBox="1"/>
          <p:nvPr/>
        </p:nvSpPr>
        <p:spPr>
          <a:xfrm>
            <a:off x="1828800" y="2699004"/>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git, and </a:t>
            </a:r>
            <a:r>
              <a:rPr lang="en-US" sz="1380" dirty="0">
                <a:solidFill>
                  <a:srgbClr val="FFCF3F"/>
                </a:solidFill>
                <a:latin typeface="IBM Plex Mono" pitchFamily="34" charset="0"/>
                <a:ea typeface="IBM Plex Mono" pitchFamily="34" charset="-122"/>
                <a:cs typeface="IBM Plex Mono" pitchFamily="34" charset="-120"/>
              </a:rPr>
              <a:t>jq</a:t>
            </a:r>
            <a:r>
              <a:rPr lang="en-US" sz="1500" dirty="0">
                <a:solidFill>
                  <a:srgbClr val="ECEEF3"/>
                </a:solidFill>
                <a:latin typeface="IBM Plex Sans" pitchFamily="34" charset="0"/>
                <a:ea typeface="IBM Plex Sans" pitchFamily="34" charset="-122"/>
                <a:cs typeface="IBM Plex Sans" pitchFamily="34" charset="-120"/>
              </a:rPr>
              <a:t> for the safety hooks</a:t>
            </a:r>
            <a:endParaRPr lang="en-US" sz="1500" dirty="0"/>
          </a:p>
        </p:txBody>
      </p:sp>
      <p:sp>
        <p:nvSpPr>
          <p:cNvPr id="16" name="Text 13"/>
          <p:cNvSpPr txBox="1"/>
          <p:nvPr/>
        </p:nvSpPr>
        <p:spPr>
          <a:xfrm>
            <a:off x="640080" y="3147822"/>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editor</a:t>
            </a:r>
            <a:endParaRPr lang="en-US" sz="1100" dirty="0"/>
          </a:p>
        </p:txBody>
      </p:sp>
      <p:sp>
        <p:nvSpPr>
          <p:cNvPr id="17" name="Text 14"/>
          <p:cNvSpPr txBox="1"/>
          <p:nvPr/>
        </p:nvSpPr>
        <p:spPr>
          <a:xfrm>
            <a:off x="1828800" y="3111246"/>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VS Code + the Astro extension</a:t>
            </a:r>
            <a:endParaRPr lang="en-US" sz="1500" dirty="0"/>
          </a:p>
        </p:txBody>
      </p:sp>
      <p:sp>
        <p:nvSpPr>
          <p:cNvPr id="18" name="Text 15"/>
          <p:cNvSpPr txBox="1"/>
          <p:nvPr/>
        </p:nvSpPr>
        <p:spPr>
          <a:xfrm>
            <a:off x="640080" y="3560064"/>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assistant</a:t>
            </a:r>
            <a:endParaRPr lang="en-US" sz="1100" dirty="0"/>
          </a:p>
        </p:txBody>
      </p:sp>
      <p:sp>
        <p:nvSpPr>
          <p:cNvPr id="19" name="Text 16"/>
          <p:cNvSpPr txBox="1"/>
          <p:nvPr/>
        </p:nvSpPr>
        <p:spPr>
          <a:xfrm>
            <a:off x="1828800" y="3523488"/>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Claude Code, logged in with your Teams seat</a:t>
            </a:r>
            <a:endParaRPr lang="en-US" sz="1500" dirty="0"/>
          </a:p>
        </p:txBody>
      </p:sp>
      <p:sp>
        <p:nvSpPr>
          <p:cNvPr id="20" name="Text 17"/>
          <p:cNvSpPr txBox="1"/>
          <p:nvPr/>
        </p:nvSpPr>
        <p:spPr>
          <a:xfrm>
            <a:off x="640080" y="3972306"/>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knowledge</a:t>
            </a:r>
            <a:endParaRPr lang="en-US" sz="1100" dirty="0"/>
          </a:p>
        </p:txBody>
      </p:sp>
      <p:sp>
        <p:nvSpPr>
          <p:cNvPr id="21" name="Text 18"/>
          <p:cNvSpPr txBox="1"/>
          <p:nvPr/>
        </p:nvSpPr>
        <p:spPr>
          <a:xfrm>
            <a:off x="1828800" y="3935730"/>
            <a:ext cx="4285923" cy="55016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PHP and HTML. TypeScript basics help, but are not required.</a:t>
            </a:r>
            <a:endParaRPr lang="en-US" sz="1500" dirty="0"/>
          </a:p>
        </p:txBody>
      </p:sp>
      <p:sp>
        <p:nvSpPr>
          <p:cNvPr id="22" name="Shape 19"/>
          <p:cNvSpPr/>
          <p:nvPr/>
        </p:nvSpPr>
        <p:spPr>
          <a:xfrm>
            <a:off x="6571923" y="1874520"/>
            <a:ext cx="4976949" cy="1978152"/>
          </a:xfrm>
          <a:prstGeom prst="rect">
            <a:avLst/>
          </a:prstGeom>
          <a:solidFill>
            <a:srgbClr val="0E1014"/>
          </a:solidFill>
          <a:ln w="9525">
            <a:solidFill>
              <a:srgbClr val="2A2F3A"/>
            </a:solidFill>
            <a:prstDash val="solid"/>
          </a:ln>
        </p:spPr>
      </p:sp>
      <p:sp>
        <p:nvSpPr>
          <p:cNvPr id="23" name="Text 20"/>
          <p:cNvSpPr txBox="1"/>
          <p:nvPr/>
        </p:nvSpPr>
        <p:spPr>
          <a:xfrm>
            <a:off x="6754803" y="2020824"/>
            <a:ext cx="4611189" cy="1685544"/>
          </a:xfrm>
          <a:prstGeom prst="rect">
            <a:avLst/>
          </a:prstGeom>
          <a:noFill/>
          <a:ln/>
        </p:spPr>
        <p:txBody>
          <a:bodyPr wrap="square" lIns="0" tIns="0" rIns="0" bIns="0" rtlCol="0" anchor="t"/>
          <a:lstStyle/>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git clone …/astro-payload-workshop.git</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cd astro-payload-workshop</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pnpm install</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pnpm setup      </a:t>
            </a:r>
            <a:r>
              <a:rPr lang="en-US" sz="1150" dirty="0">
                <a:solidFill>
                  <a:srgbClr val="6B7385"/>
                </a:solidFill>
                <a:latin typeface="IBM Plex Mono" pitchFamily="34" charset="0"/>
                <a:ea typeface="IBM Plex Mono" pitchFamily="34" charset="-122"/>
                <a:cs typeface="IBM Plex Mono" pitchFamily="34" charset="-120"/>
              </a:rPr>
              <a:t># .env files, git hooks, types, seed</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pnpm doctor     </a:t>
            </a:r>
            <a:r>
              <a:rPr lang="en-US" sz="1150" dirty="0">
                <a:solidFill>
                  <a:srgbClr val="6B7385"/>
                </a:solidFill>
                <a:latin typeface="IBM Plex Mono" pitchFamily="34" charset="0"/>
                <a:ea typeface="IBM Plex Mono" pitchFamily="34" charset="-122"/>
                <a:cs typeface="IBM Plex Mono" pitchFamily="34" charset="-120"/>
              </a:rPr>
              <a:t># every line ✔</a:t>
            </a:r>
            <a:endParaRPr lang="en-US" sz="1150" dirty="0"/>
          </a:p>
          <a:p>
            <a:pPr indent="0" marL="0">
              <a:lnSpc>
                <a:spcPct val="115000"/>
              </a:lnSpc>
              <a:buNone/>
            </a:pPr>
            <a:r>
              <a:rPr lang="en-US" sz="1150" dirty="0">
                <a:solidFill>
                  <a:srgbClr val="ECEEF3"/>
                </a:solidFill>
                <a:latin typeface="IBM Plex Mono" pitchFamily="34" charset="0"/>
                <a:ea typeface="IBM Plex Mono" pitchFamily="34" charset="-122"/>
                <a:cs typeface="IBM Plex Mono" pitchFamily="34" charset="-120"/>
              </a:rPr>
              <a:t>pnpm dev        </a:t>
            </a:r>
            <a:r>
              <a:rPr lang="en-US" sz="1150" dirty="0">
                <a:solidFill>
                  <a:srgbClr val="6B7385"/>
                </a:solidFill>
                <a:latin typeface="IBM Plex Mono" pitchFamily="34" charset="0"/>
                <a:ea typeface="IBM Plex Mono" pitchFamily="34" charset="-122"/>
                <a:cs typeface="IBM Plex Mono" pitchFamily="34" charset="-120"/>
              </a:rPr>
              <a:t># cms :3300, web :4321</a:t>
            </a:r>
            <a:endParaRPr lang="en-US" sz="1150" dirty="0"/>
          </a:p>
          <a:p>
            <a:pPr indent="0" marL="0">
              <a:lnSpc>
                <a:spcPct val="115000"/>
              </a:lnSpc>
              <a:buNone/>
            </a:pPr>
            <a:endParaRPr lang="en-US" sz="1150" dirty="0"/>
          </a:p>
          <a:p>
            <a:pPr indent="0" marL="0">
              <a:lnSpc>
                <a:spcPct val="115000"/>
              </a:lnSpc>
              <a:buNone/>
            </a:pPr>
            <a:r>
              <a:rPr lang="en-US" sz="1150" dirty="0">
                <a:solidFill>
                  <a:srgbClr val="FFCF3F"/>
                </a:solidFill>
                <a:latin typeface="IBM Plex Mono" pitchFamily="34" charset="0"/>
                <a:ea typeface="IBM Plex Mono" pitchFamily="34" charset="-122"/>
                <a:cs typeface="IBM Plex Mono" pitchFamily="34" charset="-120"/>
              </a:rPr>
              <a:t>pnpm verify 0</a:t>
            </a:r>
            <a:r>
              <a:rPr lang="en-US" sz="1150" dirty="0">
                <a:solidFill>
                  <a:srgbClr val="ECEEF3"/>
                </a:solidFill>
                <a:latin typeface="IBM Plex Mono" pitchFamily="34" charset="0"/>
                <a:ea typeface="IBM Plex Mono" pitchFamily="34" charset="-122"/>
                <a:cs typeface="IBM Plex Mono" pitchFamily="34" charset="-120"/>
              </a:rPr>
              <a:t>   </a:t>
            </a:r>
            <a:r>
              <a:rPr lang="en-US" sz="1150" dirty="0">
                <a:solidFill>
                  <a:srgbClr val="6B7385"/>
                </a:solidFill>
                <a:latin typeface="IBM Plex Mono" pitchFamily="34" charset="0"/>
                <a:ea typeface="IBM Plex Mono" pitchFamily="34" charset="-122"/>
                <a:cs typeface="IBM Plex Mono" pitchFamily="34" charset="-120"/>
              </a:rPr>
              <a:t># the first gate</a:t>
            </a:r>
            <a:endParaRPr lang="en-US" sz="1150" dirty="0"/>
          </a:p>
        </p:txBody>
      </p:sp>
      <p:sp>
        <p:nvSpPr>
          <p:cNvPr id="24" name="Shape 21"/>
          <p:cNvSpPr/>
          <p:nvPr/>
        </p:nvSpPr>
        <p:spPr>
          <a:xfrm>
            <a:off x="6571923" y="4017264"/>
            <a:ext cx="4976949" cy="772668"/>
          </a:xfrm>
          <a:prstGeom prst="rect">
            <a:avLst/>
          </a:prstGeom>
          <a:solidFill>
            <a:srgbClr val="1B1F27"/>
          </a:solidFill>
          <a:ln w="12700">
            <a:solidFill>
              <a:srgbClr val="1B1F27"/>
            </a:solidFill>
            <a:prstDash val="solid"/>
          </a:ln>
        </p:spPr>
      </p:sp>
      <p:sp>
        <p:nvSpPr>
          <p:cNvPr id="25" name="Shape 22"/>
          <p:cNvSpPr/>
          <p:nvPr/>
        </p:nvSpPr>
        <p:spPr>
          <a:xfrm>
            <a:off x="6571923" y="4017264"/>
            <a:ext cx="54864" cy="772668"/>
          </a:xfrm>
          <a:prstGeom prst="rect">
            <a:avLst/>
          </a:prstGeom>
          <a:solidFill>
            <a:srgbClr val="FFCF3F"/>
          </a:solidFill>
          <a:ln w="12700">
            <a:solidFill>
              <a:srgbClr val="FFCF3F"/>
            </a:solidFill>
            <a:prstDash val="solid"/>
          </a:ln>
        </p:spPr>
      </p:sp>
      <p:sp>
        <p:nvSpPr>
          <p:cNvPr id="26" name="Text 23"/>
          <p:cNvSpPr txBox="1"/>
          <p:nvPr/>
        </p:nvSpPr>
        <p:spPr>
          <a:xfrm>
            <a:off x="6846243" y="4163568"/>
            <a:ext cx="4519749" cy="480060"/>
          </a:xfrm>
          <a:prstGeom prst="rect">
            <a:avLst/>
          </a:prstGeom>
          <a:noFill/>
          <a:ln/>
        </p:spPr>
        <p:txBody>
          <a:bodyPr wrap="square" lIns="0" tIns="0" rIns="0" bIns="0" rtlCol="0" anchor="t"/>
          <a:lstStyle/>
          <a:p>
            <a:pPr indent="0" marL="0">
              <a:buNone/>
            </a:pPr>
            <a:r>
              <a:rPr lang="en-US" sz="1290" dirty="0">
                <a:solidFill>
                  <a:srgbClr val="FFCF3F"/>
                </a:solidFill>
                <a:latin typeface="IBM Plex Mono" pitchFamily="34" charset="0"/>
                <a:ea typeface="IBM Plex Mono" pitchFamily="34" charset="-122"/>
                <a:cs typeface="IBM Plex Mono" pitchFamily="34" charset="-120"/>
              </a:rPr>
              <a:t>pnpm verify 0</a:t>
            </a:r>
            <a:r>
              <a:rPr lang="en-US" sz="1400" dirty="0">
                <a:solidFill>
                  <a:srgbClr val="ECEEF3"/>
                </a:solidFill>
                <a:latin typeface="IBM Plex Sans" pitchFamily="34" charset="0"/>
                <a:ea typeface="IBM Plex Sans" pitchFamily="34" charset="-122"/>
                <a:cs typeface="IBM Plex Sans" pitchFamily="34" charset="-120"/>
              </a:rPr>
              <a:t> must pass before step 1. Each ✘ line names the failing check and the fix.</a:t>
            </a:r>
            <a:endParaRPr lang="en-US" sz="129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EA3FF"/>
          </a:solidFill>
          <a:ln w="12700">
            <a:solidFill>
              <a:srgbClr val="6EA3F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2 · HOW YOU WILL WORK</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19 – 24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21 / 27  ·  19:00 – 24:00</a:t>
            </a:r>
            <a:endParaRPr lang="en-US" sz="1000" dirty="0"/>
          </a:p>
        </p:txBody>
      </p:sp>
      <p:sp>
        <p:nvSpPr>
          <p:cNvPr id="8" name="Shape 5"/>
          <p:cNvSpPr/>
          <p:nvPr/>
        </p:nvSpPr>
        <p:spPr>
          <a:xfrm>
            <a:off x="0" y="6821424"/>
            <a:ext cx="9482430"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Working rules, enforced by the gate</a:t>
            </a:r>
            <a:endParaRPr lang="en-US" sz="3800" dirty="0"/>
          </a:p>
        </p:txBody>
      </p:sp>
      <p:sp>
        <p:nvSpPr>
          <p:cNvPr id="10" name="Text 7"/>
          <p:cNvSpPr txBox="1"/>
          <p:nvPr/>
        </p:nvSpPr>
        <p:spPr>
          <a:xfrm>
            <a:off x="640080"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1</a:t>
            </a:r>
            <a:endParaRPr lang="en-US" sz="3000" dirty="0"/>
          </a:p>
        </p:txBody>
      </p:sp>
      <p:sp>
        <p:nvSpPr>
          <p:cNvPr id="11" name="Text 8"/>
          <p:cNvSpPr txBox="1"/>
          <p:nvPr/>
        </p:nvSpPr>
        <p:spPr>
          <a:xfrm>
            <a:off x="1325880" y="18745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Plan mode first</a:t>
            </a:r>
            <a:endParaRPr lang="en-US" sz="1700" dirty="0"/>
          </a:p>
        </p:txBody>
      </p:sp>
      <p:sp>
        <p:nvSpPr>
          <p:cNvPr id="12" name="Text 9"/>
          <p:cNvSpPr txBox="1"/>
          <p:nvPr/>
        </p:nvSpPr>
        <p:spPr>
          <a:xfrm>
            <a:off x="1325880" y="2240280"/>
            <a:ext cx="4539996" cy="1036320"/>
          </a:xfrm>
          <a:prstGeom prst="rect">
            <a:avLst/>
          </a:prstGeom>
          <a:noFill/>
          <a:ln/>
        </p:spPr>
        <p:txBody>
          <a:bodyPr wrap="square" lIns="0" tIns="0" rIns="0" bIns="0" rtlCol="0" anchor="t"/>
          <a:lstStyle/>
          <a:p>
            <a:pPr indent="0" marL="0">
              <a:lnSpc>
                <a:spcPct val="110000"/>
              </a:lnSpc>
              <a:buNone/>
            </a:pPr>
            <a:r>
              <a:rPr lang="en-US" sz="1240" dirty="0">
                <a:solidFill>
                  <a:srgbClr val="FFCF3F"/>
                </a:solidFill>
                <a:latin typeface="IBM Plex Mono" pitchFamily="34" charset="0"/>
                <a:ea typeface="IBM Plex Mono" pitchFamily="34" charset="-122"/>
                <a:cs typeface="IBM Plex Mono" pitchFamily="34" charset="-120"/>
              </a:rPr>
              <a:t>Shift+Tab</a:t>
            </a:r>
            <a:r>
              <a:rPr lang="en-US" sz="1350" dirty="0">
                <a:solidFill>
                  <a:srgbClr val="9EA7B8"/>
                </a:solidFill>
                <a:latin typeface="IBM Plex Sans" pitchFamily="34" charset="0"/>
                <a:ea typeface="IBM Plex Sans" pitchFamily="34" charset="-122"/>
                <a:cs typeface="IBM Plex Sans" pitchFamily="34" charset="-120"/>
              </a:rPr>
              <a:t> before anything that touches more than one file. You see the plan, then the diff.</a:t>
            </a:r>
            <a:endParaRPr lang="en-US" sz="1240" dirty="0"/>
          </a:p>
        </p:txBody>
      </p:sp>
      <p:sp>
        <p:nvSpPr>
          <p:cNvPr id="13" name="Text 10"/>
          <p:cNvSpPr txBox="1"/>
          <p:nvPr/>
        </p:nvSpPr>
        <p:spPr>
          <a:xfrm>
            <a:off x="6323076" y="18288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2</a:t>
            </a:r>
            <a:endParaRPr lang="en-US" sz="3000" dirty="0"/>
          </a:p>
        </p:txBody>
      </p:sp>
      <p:sp>
        <p:nvSpPr>
          <p:cNvPr id="14" name="Text 11"/>
          <p:cNvSpPr txBox="1"/>
          <p:nvPr/>
        </p:nvSpPr>
        <p:spPr>
          <a:xfrm>
            <a:off x="7008876" y="18745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Read every diff before you accept</a:t>
            </a:r>
            <a:endParaRPr lang="en-US" sz="1700" dirty="0"/>
          </a:p>
        </p:txBody>
      </p:sp>
      <p:sp>
        <p:nvSpPr>
          <p:cNvPr id="15" name="Text 12"/>
          <p:cNvSpPr txBox="1"/>
          <p:nvPr/>
        </p:nvSpPr>
        <p:spPr>
          <a:xfrm>
            <a:off x="7008876" y="2240280"/>
            <a:ext cx="4539996" cy="1036320"/>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Which files changed, and did I ask for all of them? What breaks without this? Could I do it by hand tomorrow?</a:t>
            </a:r>
            <a:endParaRPr lang="en-US" sz="1350" dirty="0"/>
          </a:p>
        </p:txBody>
      </p:sp>
      <p:sp>
        <p:nvSpPr>
          <p:cNvPr id="16" name="Text 13"/>
          <p:cNvSpPr txBox="1"/>
          <p:nvPr/>
        </p:nvSpPr>
        <p:spPr>
          <a:xfrm>
            <a:off x="640080" y="32766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3</a:t>
            </a:r>
            <a:endParaRPr lang="en-US" sz="3000" dirty="0"/>
          </a:p>
        </p:txBody>
      </p:sp>
      <p:sp>
        <p:nvSpPr>
          <p:cNvPr id="17" name="Text 14"/>
          <p:cNvSpPr txBox="1"/>
          <p:nvPr/>
        </p:nvSpPr>
        <p:spPr>
          <a:xfrm>
            <a:off x="1325880" y="33223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Ticket-style prompts</a:t>
            </a:r>
            <a:endParaRPr lang="en-US" sz="1700" dirty="0"/>
          </a:p>
        </p:txBody>
      </p:sp>
      <p:sp>
        <p:nvSpPr>
          <p:cNvPr id="18" name="Text 15"/>
          <p:cNvSpPr txBox="1"/>
          <p:nvPr/>
        </p:nvSpPr>
        <p:spPr>
          <a:xfrm>
            <a:off x="1325880" y="3688080"/>
            <a:ext cx="4539996" cy="1036320"/>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Paste the step from the brief, acceptance criteria included. Underspecified prompts produce underspecified diffs.</a:t>
            </a:r>
            <a:endParaRPr lang="en-US" sz="1350" dirty="0"/>
          </a:p>
        </p:txBody>
      </p:sp>
      <p:sp>
        <p:nvSpPr>
          <p:cNvPr id="19" name="Text 16"/>
          <p:cNvSpPr txBox="1"/>
          <p:nvPr/>
        </p:nvSpPr>
        <p:spPr>
          <a:xfrm>
            <a:off x="6323076" y="32766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4</a:t>
            </a:r>
            <a:endParaRPr lang="en-US" sz="3000" dirty="0"/>
          </a:p>
        </p:txBody>
      </p:sp>
      <p:sp>
        <p:nvSpPr>
          <p:cNvPr id="20" name="Text 17"/>
          <p:cNvSpPr txBox="1"/>
          <p:nvPr/>
        </p:nvSpPr>
        <p:spPr>
          <a:xfrm>
            <a:off x="7008876" y="33223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Commit only when the gate is green</a:t>
            </a:r>
            <a:endParaRPr lang="en-US" sz="1700" dirty="0"/>
          </a:p>
        </p:txBody>
      </p:sp>
      <p:sp>
        <p:nvSpPr>
          <p:cNvPr id="21" name="Text 18"/>
          <p:cNvSpPr txBox="1"/>
          <p:nvPr/>
        </p:nvSpPr>
        <p:spPr>
          <a:xfrm>
            <a:off x="7008876" y="3688080"/>
            <a:ext cx="4539996" cy="1036320"/>
          </a:xfrm>
          <a:prstGeom prst="rect">
            <a:avLst/>
          </a:prstGeom>
          <a:noFill/>
          <a:ln/>
        </p:spPr>
        <p:txBody>
          <a:bodyPr wrap="square" lIns="0" tIns="0" rIns="0" bIns="0" rtlCol="0" anchor="t"/>
          <a:lstStyle/>
          <a:p>
            <a:pPr indent="0" marL="0">
              <a:lnSpc>
                <a:spcPct val="110000"/>
              </a:lnSpc>
              <a:buNone/>
            </a:pPr>
            <a:r>
              <a:rPr lang="en-US" sz="1240" dirty="0">
                <a:solidFill>
                  <a:srgbClr val="FFCF3F"/>
                </a:solidFill>
                <a:latin typeface="IBM Plex Mono" pitchFamily="34" charset="0"/>
                <a:ea typeface="IBM Plex Mono" pitchFamily="34" charset="-122"/>
                <a:cs typeface="IBM Plex Mono" pitchFamily="34" charset="-120"/>
              </a:rPr>
              <a:t>pnpm verify N</a:t>
            </a:r>
            <a:r>
              <a:rPr lang="en-US" sz="1350" dirty="0">
                <a:solidFill>
                  <a:srgbClr val="9EA7B8"/>
                </a:solidFill>
                <a:latin typeface="IBM Plex Sans" pitchFamily="34" charset="0"/>
                <a:ea typeface="IBM Plex Sans" pitchFamily="34" charset="-122"/>
                <a:cs typeface="IBM Plex Sans" pitchFamily="34" charset="-120"/>
              </a:rPr>
              <a:t>, then the exact message with its </a:t>
            </a:r>
            <a:r>
              <a:rPr lang="en-US" sz="1240" dirty="0">
                <a:solidFill>
                  <a:srgbClr val="FFCF3F"/>
                </a:solidFill>
                <a:latin typeface="IBM Plex Mono" pitchFamily="34" charset="0"/>
                <a:ea typeface="IBM Plex Mono" pitchFamily="34" charset="-122"/>
                <a:cs typeface="IBM Plex Mono" pitchFamily="34" charset="-120"/>
              </a:rPr>
              <a:t>(step N)</a:t>
            </a:r>
            <a:r>
              <a:rPr lang="en-US" sz="1350" dirty="0">
                <a:solidFill>
                  <a:srgbClr val="9EA7B8"/>
                </a:solidFill>
                <a:latin typeface="IBM Plex Sans" pitchFamily="34" charset="0"/>
                <a:ea typeface="IBM Plex Sans" pitchFamily="34" charset="-122"/>
                <a:cs typeface="IBM Plex Sans" pitchFamily="34" charset="-120"/>
              </a:rPr>
              <a:t> tag. The commit hooks refuse a tagged commit while the step is red.</a:t>
            </a:r>
            <a:endParaRPr lang="en-US" sz="1240" dirty="0"/>
          </a:p>
        </p:txBody>
      </p:sp>
      <p:sp>
        <p:nvSpPr>
          <p:cNvPr id="22" name="Text 19"/>
          <p:cNvSpPr txBox="1"/>
          <p:nvPr/>
        </p:nvSpPr>
        <p:spPr>
          <a:xfrm>
            <a:off x="640080" y="47244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5</a:t>
            </a:r>
            <a:endParaRPr lang="en-US" sz="3000" dirty="0"/>
          </a:p>
        </p:txBody>
      </p:sp>
      <p:sp>
        <p:nvSpPr>
          <p:cNvPr id="23" name="Text 20"/>
          <p:cNvSpPr txBox="1"/>
          <p:nvPr/>
        </p:nvSpPr>
        <p:spPr>
          <a:xfrm>
            <a:off x="1325880" y="47701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Ask for the explanation</a:t>
            </a:r>
            <a:endParaRPr lang="en-US" sz="1700" dirty="0"/>
          </a:p>
        </p:txBody>
      </p:sp>
      <p:sp>
        <p:nvSpPr>
          <p:cNvPr id="24" name="Text 21"/>
          <p:cNvSpPr txBox="1"/>
          <p:nvPr/>
        </p:nvSpPr>
        <p:spPr>
          <a:xfrm>
            <a:off x="1325880" y="5135880"/>
            <a:ext cx="4539996" cy="1036320"/>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Anything you could not reproduce by hand tomorrow, ask "why" until you could.</a:t>
            </a:r>
            <a:endParaRPr lang="en-US" sz="1350" dirty="0"/>
          </a:p>
        </p:txBody>
      </p:sp>
      <p:sp>
        <p:nvSpPr>
          <p:cNvPr id="25" name="Text 22"/>
          <p:cNvSpPr txBox="1"/>
          <p:nvPr/>
        </p:nvSpPr>
        <p:spPr>
          <a:xfrm>
            <a:off x="6323076" y="4724400"/>
            <a:ext cx="640080" cy="640080"/>
          </a:xfrm>
          <a:prstGeom prst="rect">
            <a:avLst/>
          </a:prstGeom>
          <a:noFill/>
          <a:ln/>
        </p:spPr>
        <p:txBody>
          <a:bodyPr wrap="square" lIns="0" tIns="0" rIns="0" bIns="0" rtlCol="0" anchor="t"/>
          <a:lstStyle/>
          <a:p>
            <a:pPr indent="0" marL="0">
              <a:buNone/>
            </a:pPr>
            <a:r>
              <a:rPr lang="en-US" sz="3000" b="1" dirty="0">
                <a:solidFill>
                  <a:srgbClr val="FFCF3F"/>
                </a:solidFill>
                <a:latin typeface="IBM Plex Sans" pitchFamily="34" charset="0"/>
                <a:ea typeface="IBM Plex Sans" pitchFamily="34" charset="-122"/>
                <a:cs typeface="IBM Plex Sans" pitchFamily="34" charset="-120"/>
              </a:rPr>
              <a:t>!</a:t>
            </a:r>
            <a:endParaRPr lang="en-US" sz="3000" dirty="0"/>
          </a:p>
        </p:txBody>
      </p:sp>
      <p:sp>
        <p:nvSpPr>
          <p:cNvPr id="26" name="Text 23"/>
          <p:cNvSpPr txBox="1"/>
          <p:nvPr/>
        </p:nvSpPr>
        <p:spPr>
          <a:xfrm>
            <a:off x="7008876" y="4770120"/>
            <a:ext cx="4539996"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Never bypass the hooks</a:t>
            </a:r>
            <a:endParaRPr lang="en-US" sz="1700" dirty="0"/>
          </a:p>
        </p:txBody>
      </p:sp>
      <p:sp>
        <p:nvSpPr>
          <p:cNvPr id="27" name="Text 24"/>
          <p:cNvSpPr txBox="1"/>
          <p:nvPr/>
        </p:nvSpPr>
        <p:spPr>
          <a:xfrm>
            <a:off x="7008876" y="5135880"/>
            <a:ext cx="4539996" cy="1036320"/>
          </a:xfrm>
          <a:prstGeom prst="rect">
            <a:avLst/>
          </a:prstGeom>
          <a:noFill/>
          <a:ln/>
        </p:spPr>
        <p:txBody>
          <a:bodyPr wrap="square" lIns="0" tIns="0" rIns="0" bIns="0" rtlCol="0" anchor="t"/>
          <a:lstStyle/>
          <a:p>
            <a:pPr indent="0" marL="0">
              <a:lnSpc>
                <a:spcPct val="110000"/>
              </a:lnSpc>
              <a:buNone/>
            </a:pPr>
            <a:r>
              <a:rPr lang="en-US" sz="1350" dirty="0">
                <a:solidFill>
                  <a:srgbClr val="9EA7B8"/>
                </a:solidFill>
                <a:latin typeface="IBM Plex Sans" pitchFamily="34" charset="0"/>
                <a:ea typeface="IBM Plex Sans" pitchFamily="34" charset="-122"/>
                <a:cs typeface="IBM Plex Sans" pitchFamily="34" charset="-120"/>
              </a:rPr>
              <a:t>Never edit </a:t>
            </a:r>
            <a:r>
              <a:rPr lang="en-US" sz="1240" dirty="0">
                <a:solidFill>
                  <a:srgbClr val="FFCF3F"/>
                </a:solidFill>
                <a:latin typeface="IBM Plex Mono" pitchFamily="34" charset="0"/>
                <a:ea typeface="IBM Plex Mono" pitchFamily="34" charset="-122"/>
                <a:cs typeface="IBM Plex Mono" pitchFamily="34" charset="-120"/>
              </a:rPr>
              <a:t>.claude/hooks</a:t>
            </a:r>
            <a:r>
              <a:rPr lang="en-US" sz="1350" dirty="0">
                <a:solidFill>
                  <a:srgbClr val="9EA7B8"/>
                </a:solidFill>
                <a:latin typeface="IBM Plex Sans" pitchFamily="34" charset="0"/>
                <a:ea typeface="IBM Plex Sans" pitchFamily="34" charset="-122"/>
                <a:cs typeface="IBM Plex Sans" pitchFamily="34" charset="-120"/>
              </a:rPr>
              <a:t>, </a:t>
            </a:r>
            <a:r>
              <a:rPr lang="en-US" sz="1240" dirty="0">
                <a:solidFill>
                  <a:srgbClr val="FFCF3F"/>
                </a:solidFill>
                <a:latin typeface="IBM Plex Mono" pitchFamily="34" charset="0"/>
                <a:ea typeface="IBM Plex Mono" pitchFamily="34" charset="-122"/>
                <a:cs typeface="IBM Plex Mono" pitchFamily="34" charset="-120"/>
              </a:rPr>
              <a:t>scripts/verify.mjs</a:t>
            </a:r>
            <a:r>
              <a:rPr lang="en-US" sz="1350" dirty="0">
                <a:solidFill>
                  <a:srgbClr val="9EA7B8"/>
                </a:solidFill>
                <a:latin typeface="IBM Plex Sans" pitchFamily="34" charset="0"/>
                <a:ea typeface="IBM Plex Sans" pitchFamily="34" charset="-122"/>
                <a:cs typeface="IBM Plex Sans" pitchFamily="34" charset="-120"/>
              </a:rPr>
              <a:t> or </a:t>
            </a:r>
            <a:r>
              <a:rPr lang="en-US" sz="1240" dirty="0">
                <a:solidFill>
                  <a:srgbClr val="FFCF3F"/>
                </a:solidFill>
                <a:latin typeface="IBM Plex Mono" pitchFamily="34" charset="0"/>
                <a:ea typeface="IBM Plex Mono" pitchFamily="34" charset="-122"/>
                <a:cs typeface="IBM Plex Mono" pitchFamily="34" charset="-120"/>
              </a:rPr>
              <a:t>.env</a:t>
            </a:r>
            <a:r>
              <a:rPr lang="en-US" sz="1350" dirty="0">
                <a:solidFill>
                  <a:srgbClr val="9EA7B8"/>
                </a:solidFill>
                <a:latin typeface="IBM Plex Sans" pitchFamily="34" charset="0"/>
                <a:ea typeface="IBM Plex Sans" pitchFamily="34" charset="-122"/>
                <a:cs typeface="IBM Plex Sans" pitchFamily="34" charset="-120"/>
              </a:rPr>
              <a:t>, never add </a:t>
            </a:r>
            <a:r>
              <a:rPr lang="en-US" sz="1240" dirty="0">
                <a:solidFill>
                  <a:srgbClr val="FFCF3F"/>
                </a:solidFill>
                <a:latin typeface="IBM Plex Mono" pitchFamily="34" charset="0"/>
                <a:ea typeface="IBM Plex Mono" pitchFamily="34" charset="-122"/>
                <a:cs typeface="IBM Plex Mono" pitchFamily="34" charset="-120"/>
              </a:rPr>
              <a:t>--no-verify</a:t>
            </a:r>
            <a:r>
              <a:rPr lang="en-US" sz="1350" dirty="0">
                <a:solidFill>
                  <a:srgbClr val="9EA7B8"/>
                </a:solidFill>
                <a:latin typeface="IBM Plex Sans" pitchFamily="34" charset="0"/>
                <a:ea typeface="IBM Plex Sans" pitchFamily="34" charset="-122"/>
                <a:cs typeface="IBM Plex Sans" pitchFamily="34" charset="-120"/>
              </a:rPr>
              <a:t>. If Claude proposes that as the fix, the fix is wrong.</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EA3FF"/>
          </a:solidFill>
          <a:ln w="12700">
            <a:solidFill>
              <a:srgbClr val="6EA3F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2 · WHAT THE REPO ALREADY GIVES YOU</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19 – 24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22 / 27  ·  19:00 – 24:00</a:t>
            </a:r>
            <a:endParaRPr lang="en-US" sz="1000" dirty="0"/>
          </a:p>
        </p:txBody>
      </p:sp>
      <p:sp>
        <p:nvSpPr>
          <p:cNvPr id="8" name="Shape 5"/>
          <p:cNvSpPr/>
          <p:nvPr/>
        </p:nvSpPr>
        <p:spPr>
          <a:xfrm>
            <a:off x="0" y="6821424"/>
            <a:ext cx="9933974"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What is already in the repo</a:t>
            </a:r>
            <a:endParaRPr lang="en-US" sz="3800" dirty="0"/>
          </a:p>
        </p:txBody>
      </p:sp>
      <p:sp>
        <p:nvSpPr>
          <p:cNvPr id="10" name="Shape 7"/>
          <p:cNvSpPr/>
          <p:nvPr/>
        </p:nvSpPr>
        <p:spPr>
          <a:xfrm>
            <a:off x="640080" y="1892808"/>
            <a:ext cx="818388" cy="237744"/>
          </a:xfrm>
          <a:prstGeom prst="roundRect">
            <a:avLst>
              <a:gd name="adj" fmla="val 50000"/>
            </a:avLst>
          </a:prstGeom>
          <a:solidFill>
            <a:srgbClr val="14171D"/>
          </a:solidFill>
          <a:ln w="9525">
            <a:solidFill>
              <a:srgbClr val="F0883E"/>
            </a:solidFill>
            <a:prstDash val="solid"/>
          </a:ln>
        </p:spPr>
      </p:sp>
      <p:sp>
        <p:nvSpPr>
          <p:cNvPr id="11" name="Text 8"/>
          <p:cNvSpPr txBox="1"/>
          <p:nvPr/>
        </p:nvSpPr>
        <p:spPr>
          <a:xfrm>
            <a:off x="640080" y="1933956"/>
            <a:ext cx="818388" cy="182880"/>
          </a:xfrm>
          <a:prstGeom prst="rect">
            <a:avLst/>
          </a:prstGeom>
          <a:noFill/>
          <a:ln/>
        </p:spPr>
        <p:txBody>
          <a:bodyPr wrap="square" lIns="0" tIns="0" rIns="0" bIns="0" rtlCol="0" anchor="t"/>
          <a:lstStyle/>
          <a:p>
            <a:pPr algn="ctr" indent="0" marL="0">
              <a:buNone/>
            </a:pPr>
            <a:r>
              <a:rPr lang="en-US" sz="900" dirty="0">
                <a:solidFill>
                  <a:srgbClr val="F0883E"/>
                </a:solidFill>
                <a:latin typeface="IBM Plex Mono" pitchFamily="34" charset="0"/>
                <a:ea typeface="IBM Plex Mono" pitchFamily="34" charset="-122"/>
                <a:cs typeface="IBM Plex Mono" pitchFamily="34" charset="-120"/>
              </a:rPr>
              <a:t>CLAUDE.md</a:t>
            </a:r>
            <a:endParaRPr lang="en-US" sz="900" dirty="0"/>
          </a:p>
        </p:txBody>
      </p:sp>
      <p:sp>
        <p:nvSpPr>
          <p:cNvPr id="12" name="Text 9"/>
          <p:cNvSpPr txBox="1"/>
          <p:nvPr/>
        </p:nvSpPr>
        <p:spPr>
          <a:xfrm>
            <a:off x="1737360" y="1874520"/>
            <a:ext cx="4377363" cy="723519"/>
          </a:xfrm>
          <a:prstGeom prst="rect">
            <a:avLst/>
          </a:prstGeom>
          <a:noFill/>
          <a:ln/>
        </p:spPr>
        <p:txBody>
          <a:bodyPr wrap="square" lIns="0" tIns="0" rIns="0" bIns="0" rtlCol="0" anchor="t"/>
          <a:lstStyle/>
          <a:p>
            <a:pPr indent="0" marL="0">
              <a:lnSpc>
                <a:spcPct val="105000"/>
              </a:lnSpc>
              <a:buNone/>
            </a:pPr>
            <a:r>
              <a:rPr lang="en-US" sz="1350" dirty="0">
                <a:solidFill>
                  <a:srgbClr val="ECEEF3"/>
                </a:solidFill>
                <a:latin typeface="IBM Plex Sans" pitchFamily="34" charset="0"/>
                <a:ea typeface="IBM Plex Sans" pitchFamily="34" charset="-122"/>
                <a:cs typeface="IBM Plex Sans" pitchFamily="34" charset="-120"/>
              </a:rPr>
              <a:t>The layout, commands, conventions and the vocabulary map. What Claude reads every session. Read it once.</a:t>
            </a:r>
            <a:endParaRPr lang="en-US" sz="1350" dirty="0"/>
          </a:p>
        </p:txBody>
      </p:sp>
      <p:sp>
        <p:nvSpPr>
          <p:cNvPr id="13" name="Shape 10"/>
          <p:cNvSpPr/>
          <p:nvPr/>
        </p:nvSpPr>
        <p:spPr>
          <a:xfrm>
            <a:off x="640080" y="2744343"/>
            <a:ext cx="612648" cy="237744"/>
          </a:xfrm>
          <a:prstGeom prst="roundRect">
            <a:avLst>
              <a:gd name="adj" fmla="val 50000"/>
            </a:avLst>
          </a:prstGeom>
          <a:solidFill>
            <a:srgbClr val="14171D"/>
          </a:solidFill>
          <a:ln w="9525">
            <a:solidFill>
              <a:srgbClr val="F0883E"/>
            </a:solidFill>
            <a:prstDash val="solid"/>
          </a:ln>
        </p:spPr>
      </p:sp>
      <p:sp>
        <p:nvSpPr>
          <p:cNvPr id="14" name="Text 11"/>
          <p:cNvSpPr txBox="1"/>
          <p:nvPr/>
        </p:nvSpPr>
        <p:spPr>
          <a:xfrm>
            <a:off x="640080" y="2785491"/>
            <a:ext cx="612648" cy="182880"/>
          </a:xfrm>
          <a:prstGeom prst="rect">
            <a:avLst/>
          </a:prstGeom>
          <a:noFill/>
          <a:ln/>
        </p:spPr>
        <p:txBody>
          <a:bodyPr wrap="square" lIns="0" tIns="0" rIns="0" bIns="0" rtlCol="0" anchor="t"/>
          <a:lstStyle/>
          <a:p>
            <a:pPr algn="ctr" indent="0" marL="0">
              <a:buNone/>
            </a:pPr>
            <a:r>
              <a:rPr lang="en-US" sz="900" dirty="0">
                <a:solidFill>
                  <a:srgbClr val="F0883E"/>
                </a:solidFill>
                <a:latin typeface="IBM Plex Mono" pitchFamily="34" charset="0"/>
                <a:ea typeface="IBM Plex Mono" pitchFamily="34" charset="-122"/>
                <a:cs typeface="IBM Plex Mono" pitchFamily="34" charset="-120"/>
              </a:rPr>
              <a:t>skills</a:t>
            </a:r>
            <a:endParaRPr lang="en-US" sz="900" dirty="0"/>
          </a:p>
        </p:txBody>
      </p:sp>
      <p:sp>
        <p:nvSpPr>
          <p:cNvPr id="15" name="Text 12"/>
          <p:cNvSpPr txBox="1"/>
          <p:nvPr/>
        </p:nvSpPr>
        <p:spPr>
          <a:xfrm>
            <a:off x="1737360" y="2726055"/>
            <a:ext cx="4377363" cy="723519"/>
          </a:xfrm>
          <a:prstGeom prst="rect">
            <a:avLst/>
          </a:prstGeom>
          <a:noFill/>
          <a:ln/>
        </p:spPr>
        <p:txBody>
          <a:bodyPr wrap="square" lIns="0" tIns="0" rIns="0" bIns="0" rtlCol="0" anchor="t"/>
          <a:lstStyle/>
          <a:p>
            <a:pPr indent="0" marL="0">
              <a:lnSpc>
                <a:spcPct val="105000"/>
              </a:lnSpc>
              <a:buNone/>
            </a:pPr>
            <a:r>
              <a:rPr lang="en-US" sz="1240" dirty="0">
                <a:solidFill>
                  <a:srgbClr val="FFCF3F"/>
                </a:solidFill>
                <a:latin typeface="IBM Plex Mono" pitchFamily="34" charset="0"/>
                <a:ea typeface="IBM Plex Mono" pitchFamily="34" charset="-122"/>
                <a:cs typeface="IBM Plex Mono" pitchFamily="34" charset="-120"/>
              </a:rPr>
              <a:t>/payload-new-collection projects</a:t>
            </a:r>
            <a:r>
              <a:rPr lang="en-US" sz="1350" dirty="0">
                <a:solidFill>
                  <a:srgbClr val="ECEEF3"/>
                </a:solidFill>
                <a:latin typeface="IBM Plex Sans" pitchFamily="34" charset="0"/>
                <a:ea typeface="IBM Plex Sans" pitchFamily="34" charset="-122"/>
                <a:cs typeface="IBM Plex Sans" pitchFamily="34" charset="-120"/>
              </a:rPr>
              <a:t> for step 1, </a:t>
            </a:r>
            <a:r>
              <a:rPr lang="en-US" sz="1240" dirty="0">
                <a:solidFill>
                  <a:srgbClr val="FFCF3F"/>
                </a:solidFill>
                <a:latin typeface="IBM Plex Mono" pitchFamily="34" charset="0"/>
                <a:ea typeface="IBM Plex Mono" pitchFamily="34" charset="-122"/>
                <a:cs typeface="IBM Plex Mono" pitchFamily="34" charset="-120"/>
              </a:rPr>
              <a:t>/payload-new-global profile</a:t>
            </a:r>
            <a:r>
              <a:rPr lang="en-US" sz="1350" dirty="0">
                <a:solidFill>
                  <a:srgbClr val="ECEEF3"/>
                </a:solidFill>
                <a:latin typeface="IBM Plex Sans" pitchFamily="34" charset="0"/>
                <a:ea typeface="IBM Plex Sans" pitchFamily="34" charset="-122"/>
                <a:cs typeface="IBM Plex Sans" pitchFamily="34" charset="-120"/>
              </a:rPr>
              <a:t> for step 5. Run them, then read what they made.</a:t>
            </a:r>
            <a:endParaRPr lang="en-US" sz="1240" dirty="0"/>
          </a:p>
        </p:txBody>
      </p:sp>
      <p:sp>
        <p:nvSpPr>
          <p:cNvPr id="16" name="Shape 13"/>
          <p:cNvSpPr/>
          <p:nvPr/>
        </p:nvSpPr>
        <p:spPr>
          <a:xfrm>
            <a:off x="640080" y="3595878"/>
            <a:ext cx="544068" cy="237744"/>
          </a:xfrm>
          <a:prstGeom prst="roundRect">
            <a:avLst>
              <a:gd name="adj" fmla="val 50000"/>
            </a:avLst>
          </a:prstGeom>
          <a:solidFill>
            <a:srgbClr val="14171D"/>
          </a:solidFill>
          <a:ln w="9525">
            <a:solidFill>
              <a:srgbClr val="F0883E"/>
            </a:solidFill>
            <a:prstDash val="solid"/>
          </a:ln>
        </p:spPr>
      </p:sp>
      <p:sp>
        <p:nvSpPr>
          <p:cNvPr id="17" name="Text 14"/>
          <p:cNvSpPr txBox="1"/>
          <p:nvPr/>
        </p:nvSpPr>
        <p:spPr>
          <a:xfrm>
            <a:off x="640080" y="3637026"/>
            <a:ext cx="544068" cy="182880"/>
          </a:xfrm>
          <a:prstGeom prst="rect">
            <a:avLst/>
          </a:prstGeom>
          <a:noFill/>
          <a:ln/>
        </p:spPr>
        <p:txBody>
          <a:bodyPr wrap="square" lIns="0" tIns="0" rIns="0" bIns="0" rtlCol="0" anchor="t"/>
          <a:lstStyle/>
          <a:p>
            <a:pPr algn="ctr" indent="0" marL="0">
              <a:buNone/>
            </a:pPr>
            <a:r>
              <a:rPr lang="en-US" sz="900" dirty="0">
                <a:solidFill>
                  <a:srgbClr val="F0883E"/>
                </a:solidFill>
                <a:latin typeface="IBM Plex Mono" pitchFamily="34" charset="0"/>
                <a:ea typeface="IBM Plex Mono" pitchFamily="34" charset="-122"/>
                <a:cs typeface="IBM Plex Mono" pitchFamily="34" charset="-120"/>
              </a:rPr>
              <a:t>hooks</a:t>
            </a:r>
            <a:endParaRPr lang="en-US" sz="900" dirty="0"/>
          </a:p>
        </p:txBody>
      </p:sp>
      <p:sp>
        <p:nvSpPr>
          <p:cNvPr id="18" name="Text 15"/>
          <p:cNvSpPr txBox="1"/>
          <p:nvPr/>
        </p:nvSpPr>
        <p:spPr>
          <a:xfrm>
            <a:off x="1737360" y="3577590"/>
            <a:ext cx="4377363" cy="723519"/>
          </a:xfrm>
          <a:prstGeom prst="rect">
            <a:avLst/>
          </a:prstGeom>
          <a:noFill/>
          <a:ln/>
        </p:spPr>
        <p:txBody>
          <a:bodyPr wrap="square" lIns="0" tIns="0" rIns="0" bIns="0" rtlCol="0" anchor="t"/>
          <a:lstStyle/>
          <a:p>
            <a:pPr indent="0" marL="0">
              <a:lnSpc>
                <a:spcPct val="105000"/>
              </a:lnSpc>
              <a:buNone/>
            </a:pPr>
            <a:r>
              <a:rPr lang="en-US" sz="1350" dirty="0">
                <a:solidFill>
                  <a:srgbClr val="ECEEF3"/>
                </a:solidFill>
                <a:latin typeface="IBM Plex Sans" pitchFamily="34" charset="0"/>
                <a:ea typeface="IBM Plex Sans" pitchFamily="34" charset="-122"/>
                <a:cs typeface="IBM Plex Sans" pitchFamily="34" charset="-120"/>
              </a:rPr>
              <a:t>Refuse edits to </a:t>
            </a:r>
            <a:r>
              <a:rPr lang="en-US" sz="1240" dirty="0">
                <a:solidFill>
                  <a:srgbClr val="FFCF3F"/>
                </a:solidFill>
                <a:latin typeface="IBM Plex Mono" pitchFamily="34" charset="0"/>
                <a:ea typeface="IBM Plex Mono" pitchFamily="34" charset="-122"/>
                <a:cs typeface="IBM Plex Mono" pitchFamily="34" charset="-120"/>
              </a:rPr>
              <a:t>.env</a:t>
            </a:r>
            <a:r>
              <a:rPr lang="en-US" sz="1350" dirty="0">
                <a:solidFill>
                  <a:srgbClr val="ECEEF3"/>
                </a:solidFill>
                <a:latin typeface="IBM Plex Sans" pitchFamily="34" charset="0"/>
                <a:ea typeface="IBM Plex Sans" pitchFamily="34" charset="-122"/>
                <a:cs typeface="IBM Plex Sans" pitchFamily="34" charset="-120"/>
              </a:rPr>
              <a:t>, secrets and generated files, and dangerous commands. A blocked action means the change was wrong, not the hook.</a:t>
            </a:r>
            <a:endParaRPr lang="en-US" sz="1350" dirty="0"/>
          </a:p>
        </p:txBody>
      </p:sp>
      <p:sp>
        <p:nvSpPr>
          <p:cNvPr id="19" name="Shape 16"/>
          <p:cNvSpPr/>
          <p:nvPr/>
        </p:nvSpPr>
        <p:spPr>
          <a:xfrm>
            <a:off x="640080" y="4447413"/>
            <a:ext cx="612648" cy="237744"/>
          </a:xfrm>
          <a:prstGeom prst="roundRect">
            <a:avLst>
              <a:gd name="adj" fmla="val 50000"/>
            </a:avLst>
          </a:prstGeom>
          <a:solidFill>
            <a:srgbClr val="14171D"/>
          </a:solidFill>
          <a:ln w="9525">
            <a:solidFill>
              <a:srgbClr val="FFCF3F"/>
            </a:solidFill>
            <a:prstDash val="solid"/>
          </a:ln>
        </p:spPr>
      </p:sp>
      <p:sp>
        <p:nvSpPr>
          <p:cNvPr id="20" name="Text 17"/>
          <p:cNvSpPr txBox="1"/>
          <p:nvPr/>
        </p:nvSpPr>
        <p:spPr>
          <a:xfrm>
            <a:off x="640080" y="4488561"/>
            <a:ext cx="612648" cy="182880"/>
          </a:xfrm>
          <a:prstGeom prst="rect">
            <a:avLst/>
          </a:prstGeom>
          <a:noFill/>
          <a:ln/>
        </p:spPr>
        <p:txBody>
          <a:bodyPr wrap="square" lIns="0" tIns="0" rIns="0" bIns="0" rtlCol="0" anchor="t"/>
          <a:lstStyle/>
          <a:p>
            <a:pPr algn="ctr" indent="0" marL="0">
              <a:buNone/>
            </a:pPr>
            <a:r>
              <a:rPr lang="en-US" sz="900" dirty="0">
                <a:solidFill>
                  <a:srgbClr val="FFCF3F"/>
                </a:solidFill>
                <a:latin typeface="IBM Plex Mono" pitchFamily="34" charset="0"/>
                <a:ea typeface="IBM Plex Mono" pitchFamily="34" charset="-122"/>
                <a:cs typeface="IBM Plex Mono" pitchFamily="34" charset="-120"/>
              </a:rPr>
              <a:t>verify</a:t>
            </a:r>
            <a:endParaRPr lang="en-US" sz="900" dirty="0"/>
          </a:p>
        </p:txBody>
      </p:sp>
      <p:sp>
        <p:nvSpPr>
          <p:cNvPr id="21" name="Text 18"/>
          <p:cNvSpPr txBox="1"/>
          <p:nvPr/>
        </p:nvSpPr>
        <p:spPr>
          <a:xfrm>
            <a:off x="1737360" y="4429125"/>
            <a:ext cx="4377363" cy="723519"/>
          </a:xfrm>
          <a:prstGeom prst="rect">
            <a:avLst/>
          </a:prstGeom>
          <a:noFill/>
          <a:ln/>
        </p:spPr>
        <p:txBody>
          <a:bodyPr wrap="square" lIns="0" tIns="0" rIns="0" bIns="0" rtlCol="0" anchor="t"/>
          <a:lstStyle/>
          <a:p>
            <a:pPr indent="0" marL="0">
              <a:lnSpc>
                <a:spcPct val="105000"/>
              </a:lnSpc>
              <a:buNone/>
            </a:pPr>
            <a:r>
              <a:rPr lang="en-US" sz="1240" dirty="0">
                <a:solidFill>
                  <a:srgbClr val="FFCF3F"/>
                </a:solidFill>
                <a:latin typeface="IBM Plex Mono" pitchFamily="34" charset="0"/>
                <a:ea typeface="IBM Plex Mono" pitchFamily="34" charset="-122"/>
                <a:cs typeface="IBM Plex Mono" pitchFamily="34" charset="-120"/>
              </a:rPr>
              <a:t>pnpm verify N</a:t>
            </a:r>
            <a:r>
              <a:rPr lang="en-US" sz="1350" dirty="0">
                <a:solidFill>
                  <a:srgbClr val="ECEEF3"/>
                </a:solidFill>
                <a:latin typeface="IBM Plex Sans" pitchFamily="34" charset="0"/>
                <a:ea typeface="IBM Plex Sans" pitchFamily="34" charset="-122"/>
                <a:cs typeface="IBM Plex Sans" pitchFamily="34" charset="-120"/>
              </a:rPr>
              <a:t> is the gate. </a:t>
            </a:r>
            <a:r>
              <a:rPr lang="en-US" sz="1240" dirty="0">
                <a:solidFill>
                  <a:srgbClr val="FFCF3F"/>
                </a:solidFill>
                <a:latin typeface="IBM Plex Mono" pitchFamily="34" charset="0"/>
                <a:ea typeface="IBM Plex Mono" pitchFamily="34" charset="-122"/>
                <a:cs typeface="IBM Plex Mono" pitchFamily="34" charset="-120"/>
              </a:rPr>
              <a:t>pnpm verify --status</a:t>
            </a:r>
            <a:r>
              <a:rPr lang="en-US" sz="1350" dirty="0">
                <a:solidFill>
                  <a:srgbClr val="ECEEF3"/>
                </a:solidFill>
                <a:latin typeface="IBM Plex Sans" pitchFamily="34" charset="0"/>
                <a:ea typeface="IBM Plex Sans" pitchFamily="34" charset="-122"/>
                <a:cs typeface="IBM Plex Sans" pitchFamily="34" charset="-120"/>
              </a:rPr>
              <a:t> shows where you are. The facilitator checks it during the walk-around.</a:t>
            </a:r>
            <a:endParaRPr lang="en-US" sz="1240" dirty="0"/>
          </a:p>
        </p:txBody>
      </p:sp>
      <p:sp>
        <p:nvSpPr>
          <p:cNvPr id="22" name="Text 19"/>
          <p:cNvSpPr txBox="1"/>
          <p:nvPr/>
        </p:nvSpPr>
        <p:spPr>
          <a:xfrm>
            <a:off x="6571923" y="1874520"/>
            <a:ext cx="4976949" cy="22733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copy, do not invent</a:t>
            </a:r>
            <a:endParaRPr lang="en-US" sz="1100" dirty="0"/>
          </a:p>
        </p:txBody>
      </p:sp>
      <p:sp>
        <p:nvSpPr>
          <p:cNvPr id="23" name="Shape 20"/>
          <p:cNvSpPr/>
          <p:nvPr/>
        </p:nvSpPr>
        <p:spPr>
          <a:xfrm>
            <a:off x="6571923" y="2175002"/>
            <a:ext cx="4976949" cy="1302258"/>
          </a:xfrm>
          <a:prstGeom prst="rect">
            <a:avLst/>
          </a:prstGeom>
          <a:solidFill>
            <a:srgbClr val="1B1F27"/>
          </a:solidFill>
          <a:ln w="9525">
            <a:solidFill>
              <a:srgbClr val="2A2F3A"/>
            </a:solidFill>
            <a:prstDash val="solid"/>
          </a:ln>
        </p:spPr>
      </p:sp>
      <p:sp>
        <p:nvSpPr>
          <p:cNvPr id="24" name="Shape 21"/>
          <p:cNvSpPr/>
          <p:nvPr/>
        </p:nvSpPr>
        <p:spPr>
          <a:xfrm>
            <a:off x="6754803" y="2321306"/>
            <a:ext cx="1161288" cy="237744"/>
          </a:xfrm>
          <a:prstGeom prst="roundRect">
            <a:avLst>
              <a:gd name="adj" fmla="val 50000"/>
            </a:avLst>
          </a:prstGeom>
          <a:solidFill>
            <a:srgbClr val="14171D"/>
          </a:solidFill>
          <a:ln w="9525">
            <a:solidFill>
              <a:srgbClr val="FFCF3F"/>
            </a:solidFill>
            <a:prstDash val="solid"/>
          </a:ln>
        </p:spPr>
      </p:sp>
      <p:sp>
        <p:nvSpPr>
          <p:cNvPr id="25" name="Text 22"/>
          <p:cNvSpPr txBox="1"/>
          <p:nvPr/>
        </p:nvSpPr>
        <p:spPr>
          <a:xfrm>
            <a:off x="6754803" y="2362454"/>
            <a:ext cx="1161288" cy="182880"/>
          </a:xfrm>
          <a:prstGeom prst="rect">
            <a:avLst/>
          </a:prstGeom>
          <a:noFill/>
          <a:ln/>
        </p:spPr>
        <p:txBody>
          <a:bodyPr wrap="square" lIns="0" tIns="0" rIns="0" bIns="0" rtlCol="0" anchor="t"/>
          <a:lstStyle/>
          <a:p>
            <a:pPr algn="ctr" indent="0" marL="0">
              <a:buNone/>
            </a:pPr>
            <a:r>
              <a:rPr lang="en-US" sz="900" dirty="0">
                <a:solidFill>
                  <a:srgbClr val="FFCF3F"/>
                </a:solidFill>
                <a:latin typeface="IBM Plex Mono" pitchFamily="34" charset="0"/>
                <a:ea typeface="IBM Plex Mono" pitchFamily="34" charset="-122"/>
                <a:cs typeface="IBM Plex Mono" pitchFamily="34" charset="-120"/>
              </a:rPr>
              <a:t>Worked example</a:t>
            </a:r>
            <a:endParaRPr lang="en-US" sz="900" dirty="0"/>
          </a:p>
        </p:txBody>
      </p:sp>
      <p:sp>
        <p:nvSpPr>
          <p:cNvPr id="26" name="Text 23"/>
          <p:cNvSpPr txBox="1"/>
          <p:nvPr/>
        </p:nvSpPr>
        <p:spPr>
          <a:xfrm>
            <a:off x="8025819" y="2284730"/>
            <a:ext cx="3340173"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Services</a:t>
            </a:r>
            <a:endParaRPr lang="en-US" sz="1700" dirty="0"/>
          </a:p>
        </p:txBody>
      </p:sp>
      <p:sp>
        <p:nvSpPr>
          <p:cNvPr id="27" name="Text 24"/>
          <p:cNvSpPr txBox="1"/>
          <p:nvPr/>
        </p:nvSpPr>
        <p:spPr>
          <a:xfrm>
            <a:off x="6754803" y="2677922"/>
            <a:ext cx="4611189" cy="707898"/>
          </a:xfrm>
          <a:prstGeom prst="rect">
            <a:avLst/>
          </a:prstGeom>
          <a:noFill/>
          <a:ln/>
        </p:spPr>
        <p:txBody>
          <a:bodyPr wrap="square" lIns="0" tIns="0" rIns="0" bIns="0" rtlCol="0" anchor="t"/>
          <a:lstStyle/>
          <a:p>
            <a:pPr indent="0" marL="0">
              <a:lnSpc>
                <a:spcPct val="110000"/>
              </a:lnSpc>
              <a:buNone/>
            </a:pPr>
            <a:r>
              <a:rPr lang="en-US" sz="1200" dirty="0">
                <a:solidFill>
                  <a:srgbClr val="FFCF3F"/>
                </a:solidFill>
                <a:latin typeface="IBM Plex Mono" pitchFamily="34" charset="0"/>
                <a:ea typeface="IBM Plex Mono" pitchFamily="34" charset="-122"/>
                <a:cs typeface="IBM Plex Mono" pitchFamily="34" charset="-120"/>
              </a:rPr>
              <a:t>Services.ts</a:t>
            </a:r>
            <a:r>
              <a:rPr lang="en-US" sz="1300" dirty="0">
                <a:solidFill>
                  <a:srgbClr val="9EA7B8"/>
                </a:solidFill>
                <a:latin typeface="IBM Plex Sans" pitchFamily="34" charset="0"/>
                <a:ea typeface="IBM Plex Sans" pitchFamily="34" charset="-122"/>
                <a:cs typeface="IBM Plex Sans" pitchFamily="34" charset="-120"/>
              </a:rPr>
              <a:t>, </a:t>
            </a:r>
            <a:r>
              <a:rPr lang="en-US" sz="1200" dirty="0">
                <a:solidFill>
                  <a:srgbClr val="FFCF3F"/>
                </a:solidFill>
                <a:latin typeface="IBM Plex Mono" pitchFamily="34" charset="0"/>
                <a:ea typeface="IBM Plex Mono" pitchFamily="34" charset="-122"/>
                <a:cs typeface="IBM Plex Mono" pitchFamily="34" charset="-120"/>
              </a:rPr>
              <a:t>index.astro</a:t>
            </a:r>
            <a:r>
              <a:rPr lang="en-US" sz="1300" dirty="0">
                <a:solidFill>
                  <a:srgbClr val="9EA7B8"/>
                </a:solidFill>
                <a:latin typeface="IBM Plex Sans" pitchFamily="34" charset="0"/>
                <a:ea typeface="IBM Plex Sans" pitchFamily="34" charset="-122"/>
                <a:cs typeface="IBM Plex Sans" pitchFamily="34" charset="-120"/>
              </a:rPr>
              <a:t>, </a:t>
            </a:r>
            <a:r>
              <a:rPr lang="en-US" sz="1200" dirty="0">
                <a:solidFill>
                  <a:srgbClr val="FFCF3F"/>
                </a:solidFill>
                <a:latin typeface="IBM Plex Mono" pitchFamily="34" charset="0"/>
                <a:ea typeface="IBM Plex Mono" pitchFamily="34" charset="-122"/>
                <a:cs typeface="IBM Plex Mono" pitchFamily="34" charset="-120"/>
              </a:rPr>
              <a:t>services/[slug].astro</a:t>
            </a:r>
            <a:r>
              <a:rPr lang="en-US" sz="1300" dirty="0">
                <a:solidFill>
                  <a:srgbClr val="9EA7B8"/>
                </a:solidFill>
                <a:latin typeface="IBM Plex Sans" pitchFamily="34" charset="0"/>
                <a:ea typeface="IBM Plex Sans" pitchFamily="34" charset="-122"/>
                <a:cs typeface="IBM Plex Sans" pitchFamily="34" charset="-120"/>
              </a:rPr>
              <a:t>, </a:t>
            </a:r>
            <a:r>
              <a:rPr lang="en-US" sz="1200" dirty="0">
                <a:solidFill>
                  <a:srgbClr val="FFCF3F"/>
                </a:solidFill>
                <a:latin typeface="IBM Plex Mono" pitchFamily="34" charset="0"/>
                <a:ea typeface="IBM Plex Mono" pitchFamily="34" charset="-122"/>
                <a:cs typeface="IBM Plex Mono" pitchFamily="34" charset="-120"/>
              </a:rPr>
              <a:t>ServiceCard.astro</a:t>
            </a:r>
            <a:r>
              <a:rPr lang="en-US" sz="1300" dirty="0">
                <a:solidFill>
                  <a:srgbClr val="9EA7B8"/>
                </a:solidFill>
                <a:latin typeface="IBM Plex Sans" pitchFamily="34" charset="0"/>
                <a:ea typeface="IBM Plex Sans" pitchFamily="34" charset="-122"/>
                <a:cs typeface="IBM Plex Sans" pitchFamily="34" charset="-120"/>
              </a:rPr>
              <a:t>. Every step is "like Services, but for Projects".</a:t>
            </a:r>
            <a:endParaRPr lang="en-US" sz="1200" dirty="0"/>
          </a:p>
        </p:txBody>
      </p:sp>
      <p:sp>
        <p:nvSpPr>
          <p:cNvPr id="28" name="Shape 25"/>
          <p:cNvSpPr/>
          <p:nvPr/>
        </p:nvSpPr>
        <p:spPr>
          <a:xfrm>
            <a:off x="6571923" y="3641852"/>
            <a:ext cx="4976949" cy="1302258"/>
          </a:xfrm>
          <a:prstGeom prst="rect">
            <a:avLst/>
          </a:prstGeom>
          <a:solidFill>
            <a:srgbClr val="1B1F27"/>
          </a:solidFill>
          <a:ln w="9525">
            <a:solidFill>
              <a:srgbClr val="2A2F3A"/>
            </a:solidFill>
            <a:prstDash val="solid"/>
          </a:ln>
        </p:spPr>
      </p:sp>
      <p:sp>
        <p:nvSpPr>
          <p:cNvPr id="29" name="Shape 26"/>
          <p:cNvSpPr/>
          <p:nvPr/>
        </p:nvSpPr>
        <p:spPr>
          <a:xfrm>
            <a:off x="6754803" y="3788156"/>
            <a:ext cx="818388" cy="237744"/>
          </a:xfrm>
          <a:prstGeom prst="roundRect">
            <a:avLst>
              <a:gd name="adj" fmla="val 50000"/>
            </a:avLst>
          </a:prstGeom>
          <a:solidFill>
            <a:srgbClr val="14171D"/>
          </a:solidFill>
          <a:ln w="9525">
            <a:solidFill>
              <a:srgbClr val="9EA7B8"/>
            </a:solidFill>
            <a:prstDash val="solid"/>
          </a:ln>
        </p:spPr>
      </p:sp>
      <p:sp>
        <p:nvSpPr>
          <p:cNvPr id="30" name="Text 27"/>
          <p:cNvSpPr txBox="1"/>
          <p:nvPr/>
        </p:nvSpPr>
        <p:spPr>
          <a:xfrm>
            <a:off x="6754803" y="3829304"/>
            <a:ext cx="818388" cy="182880"/>
          </a:xfrm>
          <a:prstGeom prst="rect">
            <a:avLst/>
          </a:prstGeom>
          <a:noFill/>
          <a:ln/>
        </p:spPr>
        <p:txBody>
          <a:bodyPr wrap="square" lIns="0" tIns="0" rIns="0" bIns="0" rtlCol="0" anchor="t"/>
          <a:lstStyle/>
          <a:p>
            <a:pPr algn="ctr" indent="0" marL="0">
              <a:buNone/>
            </a:pPr>
            <a:r>
              <a:rPr lang="en-US" sz="900" dirty="0">
                <a:solidFill>
                  <a:srgbClr val="9EA7B8"/>
                </a:solidFill>
                <a:latin typeface="IBM Plex Mono" pitchFamily="34" charset="0"/>
                <a:ea typeface="IBM Plex Mono" pitchFamily="34" charset="-122"/>
                <a:cs typeface="IBM Plex Mono" pitchFamily="34" charset="-120"/>
              </a:rPr>
              <a:t>Reference</a:t>
            </a:r>
            <a:endParaRPr lang="en-US" sz="900" dirty="0"/>
          </a:p>
        </p:txBody>
      </p:sp>
      <p:sp>
        <p:nvSpPr>
          <p:cNvPr id="31" name="Text 28"/>
          <p:cNvSpPr txBox="1"/>
          <p:nvPr/>
        </p:nvSpPr>
        <p:spPr>
          <a:xfrm>
            <a:off x="7682919" y="3751580"/>
            <a:ext cx="3683073"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wordpress-reference/</a:t>
            </a:r>
            <a:endParaRPr lang="en-US" sz="1700" dirty="0"/>
          </a:p>
        </p:txBody>
      </p:sp>
      <p:sp>
        <p:nvSpPr>
          <p:cNvPr id="32" name="Text 29"/>
          <p:cNvSpPr txBox="1"/>
          <p:nvPr/>
        </p:nvSpPr>
        <p:spPr>
          <a:xfrm>
            <a:off x="6754803" y="4144772"/>
            <a:ext cx="4611189" cy="707898"/>
          </a:xfrm>
          <a:prstGeom prst="rect">
            <a:avLst/>
          </a:prstGeom>
          <a:noFill/>
          <a:ln/>
        </p:spPr>
        <p:txBody>
          <a:bodyPr wrap="square" lIns="0" tIns="0" rIns="0" bIns="0" rtlCol="0" anchor="t"/>
          <a:lstStyle/>
          <a:p>
            <a:pPr indent="0" marL="0">
              <a:lnSpc>
                <a:spcPct val="110000"/>
              </a:lnSpc>
              <a:buNone/>
            </a:pPr>
            <a:r>
              <a:rPr lang="en-US" sz="1300" dirty="0">
                <a:solidFill>
                  <a:srgbClr val="9EA7B8"/>
                </a:solidFill>
                <a:latin typeface="IBM Plex Sans" pitchFamily="34" charset="0"/>
                <a:ea typeface="IBM Plex Sans" pitchFamily="34" charset="-122"/>
                <a:cs typeface="IBM Plex Sans" pitchFamily="34" charset="-120"/>
              </a:rPr>
              <a:t>The WordPress portfolio you are porting: CPT, ACF exports, templates, options page, sample SQL. It does not run. It is the spec.</a:t>
            </a:r>
            <a:endParaRPr lang="en-US" sz="1300" dirty="0"/>
          </a:p>
        </p:txBody>
      </p:sp>
      <p:sp>
        <p:nvSpPr>
          <p:cNvPr id="33" name="Shape 30"/>
          <p:cNvSpPr/>
          <p:nvPr/>
        </p:nvSpPr>
        <p:spPr>
          <a:xfrm>
            <a:off x="6571923" y="5108702"/>
            <a:ext cx="4976949" cy="1087628"/>
          </a:xfrm>
          <a:prstGeom prst="rect">
            <a:avLst/>
          </a:prstGeom>
          <a:solidFill>
            <a:srgbClr val="1B1F27"/>
          </a:solidFill>
          <a:ln w="9525">
            <a:solidFill>
              <a:srgbClr val="2A2F3A"/>
            </a:solidFill>
            <a:prstDash val="solid"/>
          </a:ln>
        </p:spPr>
      </p:sp>
      <p:sp>
        <p:nvSpPr>
          <p:cNvPr id="34" name="Shape 31"/>
          <p:cNvSpPr/>
          <p:nvPr/>
        </p:nvSpPr>
        <p:spPr>
          <a:xfrm>
            <a:off x="6754803" y="5255006"/>
            <a:ext cx="818388" cy="237744"/>
          </a:xfrm>
          <a:prstGeom prst="roundRect">
            <a:avLst>
              <a:gd name="adj" fmla="val 50000"/>
            </a:avLst>
          </a:prstGeom>
          <a:solidFill>
            <a:srgbClr val="14171D"/>
          </a:solidFill>
          <a:ln w="9525">
            <a:solidFill>
              <a:srgbClr val="F0883E"/>
            </a:solidFill>
            <a:prstDash val="solid"/>
          </a:ln>
        </p:spPr>
      </p:sp>
      <p:sp>
        <p:nvSpPr>
          <p:cNvPr id="35" name="Text 32"/>
          <p:cNvSpPr txBox="1"/>
          <p:nvPr/>
        </p:nvSpPr>
        <p:spPr>
          <a:xfrm>
            <a:off x="6754803" y="5296154"/>
            <a:ext cx="818388" cy="182880"/>
          </a:xfrm>
          <a:prstGeom prst="rect">
            <a:avLst/>
          </a:prstGeom>
          <a:noFill/>
          <a:ln/>
        </p:spPr>
        <p:txBody>
          <a:bodyPr wrap="square" lIns="0" tIns="0" rIns="0" bIns="0" rtlCol="0" anchor="t"/>
          <a:lstStyle/>
          <a:p>
            <a:pPr algn="ctr" indent="0" marL="0">
              <a:buNone/>
            </a:pPr>
            <a:r>
              <a:rPr lang="en-US" sz="900" dirty="0">
                <a:solidFill>
                  <a:srgbClr val="F0883E"/>
                </a:solidFill>
                <a:latin typeface="IBM Plex Mono" pitchFamily="34" charset="0"/>
                <a:ea typeface="IBM Plex Mono" pitchFamily="34" charset="-122"/>
                <a:cs typeface="IBM Plex Mono" pitchFamily="34" charset="-120"/>
              </a:rPr>
              <a:t>Installer</a:t>
            </a:r>
            <a:endParaRPr lang="en-US" sz="900" dirty="0"/>
          </a:p>
        </p:txBody>
      </p:sp>
      <p:sp>
        <p:nvSpPr>
          <p:cNvPr id="36" name="Text 33"/>
          <p:cNvSpPr txBox="1"/>
          <p:nvPr/>
        </p:nvSpPr>
        <p:spPr>
          <a:xfrm>
            <a:off x="7682919" y="5218430"/>
            <a:ext cx="3683073"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claude-kit</a:t>
            </a:r>
            <a:endParaRPr lang="en-US" sz="1700" dirty="0"/>
          </a:p>
        </p:txBody>
      </p:sp>
      <p:sp>
        <p:nvSpPr>
          <p:cNvPr id="37" name="Text 34"/>
          <p:cNvSpPr txBox="1"/>
          <p:nvPr/>
        </p:nvSpPr>
        <p:spPr>
          <a:xfrm>
            <a:off x="6754803" y="5611622"/>
            <a:ext cx="4611189" cy="493268"/>
          </a:xfrm>
          <a:prstGeom prst="rect">
            <a:avLst/>
          </a:prstGeom>
          <a:noFill/>
          <a:ln/>
        </p:spPr>
        <p:txBody>
          <a:bodyPr wrap="square" lIns="0" tIns="0" rIns="0" bIns="0" rtlCol="0" anchor="t"/>
          <a:lstStyle/>
          <a:p>
            <a:pPr indent="0" marL="0">
              <a:lnSpc>
                <a:spcPct val="110000"/>
              </a:lnSpc>
              <a:buNone/>
            </a:pPr>
            <a:r>
              <a:rPr lang="en-US" sz="1300" dirty="0">
                <a:solidFill>
                  <a:srgbClr val="9EA7B8"/>
                </a:solidFill>
                <a:latin typeface="IBM Plex Sans" pitchFamily="34" charset="0"/>
                <a:ea typeface="IBM Plex Sans" pitchFamily="34" charset="-122"/>
                <a:cs typeface="IBM Plex Sans" pitchFamily="34" charset="-120"/>
              </a:rPr>
              <a:t>Installed the hooks, rules, skills and CLAUDE.md. Same layers as the standards deck.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Shape 1"/>
          <p:cNvSpPr/>
          <p:nvPr/>
        </p:nvSpPr>
        <p:spPr>
          <a:xfrm>
            <a:off x="822960" y="566928"/>
            <a:ext cx="128016" cy="128016"/>
          </a:xfrm>
          <a:prstGeom prst="ellipse">
            <a:avLst/>
          </a:prstGeom>
          <a:solidFill>
            <a:srgbClr val="7ED3A0"/>
          </a:solidFill>
          <a:ln w="12700">
            <a:solidFill>
              <a:srgbClr val="7ED3A0"/>
            </a:solidFill>
            <a:prstDash val="solid"/>
          </a:ln>
        </p:spPr>
      </p:sp>
      <p:sp>
        <p:nvSpPr>
          <p:cNvPr id="5" name="Shape 2"/>
          <p:cNvSpPr/>
          <p:nvPr/>
        </p:nvSpPr>
        <p:spPr>
          <a:xfrm>
            <a:off x="1005840" y="566928"/>
            <a:ext cx="128016" cy="128016"/>
          </a:xfrm>
          <a:prstGeom prst="ellipse">
            <a:avLst/>
          </a:prstGeom>
          <a:solidFill>
            <a:srgbClr val="6EA3FF"/>
          </a:solidFill>
          <a:ln w="12700">
            <a:solidFill>
              <a:srgbClr val="6EA3FF"/>
            </a:solidFill>
            <a:prstDash val="solid"/>
          </a:ln>
        </p:spPr>
      </p:sp>
      <p:sp>
        <p:nvSpPr>
          <p:cNvPr id="6" name="Text 3"/>
          <p:cNvSpPr txBox="1"/>
          <p:nvPr/>
        </p:nvSpPr>
        <p:spPr>
          <a:xfrm>
            <a:off x="125272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3 · THE GOAL</a:t>
            </a:r>
            <a:endParaRPr lang="en-US" sz="1100" dirty="0"/>
          </a:p>
        </p:txBody>
      </p:sp>
      <p:sp>
        <p:nvSpPr>
          <p:cNvPr id="7" name="Text 4"/>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24 – 30 min</a:t>
            </a:r>
            <a:endParaRPr lang="en-US" sz="1100" dirty="0"/>
          </a:p>
        </p:txBody>
      </p:sp>
      <p:sp>
        <p:nvSpPr>
          <p:cNvPr id="8" name="Text 5"/>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9" name="Text 6"/>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23 / 27  ·  24:00 – 30:00</a:t>
            </a:r>
            <a:endParaRPr lang="en-US" sz="1000" dirty="0"/>
          </a:p>
        </p:txBody>
      </p:sp>
      <p:sp>
        <p:nvSpPr>
          <p:cNvPr id="10" name="Shape 7"/>
          <p:cNvSpPr/>
          <p:nvPr/>
        </p:nvSpPr>
        <p:spPr>
          <a:xfrm>
            <a:off x="0" y="6821424"/>
            <a:ext cx="10385518" cy="36576"/>
          </a:xfrm>
          <a:prstGeom prst="rect">
            <a:avLst/>
          </a:prstGeom>
          <a:solidFill>
            <a:srgbClr val="FFCF3F"/>
          </a:solidFill>
          <a:ln w="12700">
            <a:solidFill>
              <a:srgbClr val="FFCF3F"/>
            </a:solidFill>
            <a:prstDash val="solid"/>
          </a:ln>
        </p:spPr>
      </p:sp>
      <p:sp>
        <p:nvSpPr>
          <p:cNvPr id="11" name="Text 8"/>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Target state after 60 minutes</a:t>
            </a:r>
            <a:endParaRPr lang="en-US" sz="3800" dirty="0"/>
          </a:p>
        </p:txBody>
      </p:sp>
      <p:sp>
        <p:nvSpPr>
          <p:cNvPr id="12" name="Text 9"/>
          <p:cNvSpPr txBox="1"/>
          <p:nvPr/>
        </p:nvSpPr>
        <p:spPr>
          <a:xfrm>
            <a:off x="640080" y="1911096"/>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/admin</a:t>
            </a:r>
            <a:endParaRPr lang="en-US" sz="1100" dirty="0"/>
          </a:p>
        </p:txBody>
      </p:sp>
      <p:sp>
        <p:nvSpPr>
          <p:cNvPr id="13" name="Text 10"/>
          <p:cNvSpPr txBox="1"/>
          <p:nvPr/>
        </p:nvSpPr>
        <p:spPr>
          <a:xfrm>
            <a:off x="1828800" y="1874520"/>
            <a:ext cx="4285923" cy="7978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A </a:t>
            </a:r>
            <a:r>
              <a:rPr lang="en-US" sz="1500" b="1" dirty="0">
                <a:solidFill>
                  <a:srgbClr val="ECEEF3"/>
                </a:solidFill>
                <a:latin typeface="IBM Plex Sans" pitchFamily="34" charset="0"/>
                <a:ea typeface="IBM Plex Sans" pitchFamily="34" charset="-122"/>
                <a:cs typeface="IBM Plex Sans" pitchFamily="34" charset="-120"/>
              </a:rPr>
              <a:t>Projects</a:t>
            </a:r>
            <a:r>
              <a:rPr lang="en-US" sz="1500" dirty="0">
                <a:solidFill>
                  <a:srgbClr val="ECEEF3"/>
                </a:solidFill>
                <a:latin typeface="IBM Plex Sans" pitchFamily="34" charset="0"/>
                <a:ea typeface="IBM Plex Sans" pitchFamily="34" charset="-122"/>
                <a:cs typeface="IBM Plex Sans" pitchFamily="34" charset="-120"/>
              </a:rPr>
              <a:t> collection with three projects you built, and a </a:t>
            </a:r>
            <a:r>
              <a:rPr lang="en-US" sz="1500" b="1" dirty="0">
                <a:solidFill>
                  <a:srgbClr val="ECEEF3"/>
                </a:solidFill>
                <a:latin typeface="IBM Plex Sans" pitchFamily="34" charset="0"/>
                <a:ea typeface="IBM Plex Sans" pitchFamily="34" charset="-122"/>
                <a:cs typeface="IBM Plex Sans" pitchFamily="34" charset="-120"/>
              </a:rPr>
              <a:t>Profile</a:t>
            </a:r>
            <a:r>
              <a:rPr lang="en-US" sz="1500" dirty="0">
                <a:solidFill>
                  <a:srgbClr val="ECEEF3"/>
                </a:solidFill>
                <a:latin typeface="IBM Plex Sans" pitchFamily="34" charset="0"/>
                <a:ea typeface="IBM Plex Sans" pitchFamily="34" charset="-122"/>
                <a:cs typeface="IBM Plex Sans" pitchFamily="34" charset="-120"/>
              </a:rPr>
              <a:t> global with your name, headline, bio and links</a:t>
            </a:r>
            <a:endParaRPr lang="en-US" sz="1500" dirty="0"/>
          </a:p>
        </p:txBody>
      </p:sp>
      <p:sp>
        <p:nvSpPr>
          <p:cNvPr id="14" name="Text 11"/>
          <p:cNvSpPr txBox="1"/>
          <p:nvPr/>
        </p:nvSpPr>
        <p:spPr>
          <a:xfrm>
            <a:off x="640080" y="2818638"/>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/projects</a:t>
            </a:r>
            <a:endParaRPr lang="en-US" sz="1100" dirty="0"/>
          </a:p>
        </p:txBody>
      </p:sp>
      <p:sp>
        <p:nvSpPr>
          <p:cNvPr id="15" name="Text 12"/>
          <p:cNvSpPr txBox="1"/>
          <p:nvPr/>
        </p:nvSpPr>
        <p:spPr>
          <a:xfrm>
            <a:off x="1828800" y="2782062"/>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Archive page, newest first, one card per project</a:t>
            </a:r>
            <a:endParaRPr lang="en-US" sz="1500" dirty="0"/>
          </a:p>
        </p:txBody>
      </p:sp>
      <p:sp>
        <p:nvSpPr>
          <p:cNvPr id="16" name="Text 13"/>
          <p:cNvSpPr txBox="1"/>
          <p:nvPr/>
        </p:nvSpPr>
        <p:spPr>
          <a:xfrm>
            <a:off x="640080" y="3230880"/>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/projects/…</a:t>
            </a:r>
            <a:endParaRPr lang="en-US" sz="1100" dirty="0"/>
          </a:p>
        </p:txBody>
      </p:sp>
      <p:sp>
        <p:nvSpPr>
          <p:cNvPr id="17" name="Text 14"/>
          <p:cNvSpPr txBox="1"/>
          <p:nvPr/>
        </p:nvSpPr>
        <p:spPr>
          <a:xfrm>
            <a:off x="1828800" y="3194304"/>
            <a:ext cx="4285923" cy="55016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Detail page: client, role, stack, highlights, links. 404 on a bad slug</a:t>
            </a:r>
            <a:endParaRPr lang="en-US" sz="1500" dirty="0"/>
          </a:p>
        </p:txBody>
      </p:sp>
      <p:sp>
        <p:nvSpPr>
          <p:cNvPr id="18" name="Text 15"/>
          <p:cNvSpPr txBox="1"/>
          <p:nvPr/>
        </p:nvSpPr>
        <p:spPr>
          <a:xfrm>
            <a:off x="640080" y="3890772"/>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/about</a:t>
            </a:r>
            <a:endParaRPr lang="en-US" sz="1100" dirty="0"/>
          </a:p>
        </p:txBody>
      </p:sp>
      <p:sp>
        <p:nvSpPr>
          <p:cNvPr id="19" name="Text 16"/>
          <p:cNvSpPr txBox="1"/>
          <p:nvPr/>
        </p:nvSpPr>
        <p:spPr>
          <a:xfrm>
            <a:off x="1828800" y="3854196"/>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Your profile, from the global</a:t>
            </a:r>
            <a:endParaRPr lang="en-US" sz="1500" dirty="0"/>
          </a:p>
        </p:txBody>
      </p:sp>
      <p:sp>
        <p:nvSpPr>
          <p:cNvPr id="20" name="Text 17"/>
          <p:cNvSpPr txBox="1"/>
          <p:nvPr/>
        </p:nvSpPr>
        <p:spPr>
          <a:xfrm>
            <a:off x="640080" y="4303014"/>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t>
            </a:r>
            <a:endParaRPr lang="en-US" sz="1100" dirty="0"/>
          </a:p>
        </p:txBody>
      </p:sp>
      <p:sp>
        <p:nvSpPr>
          <p:cNvPr id="21" name="Text 18"/>
          <p:cNvSpPr txBox="1"/>
          <p:nvPr/>
        </p:nvSpPr>
        <p:spPr>
          <a:xfrm>
            <a:off x="1828800" y="4266438"/>
            <a:ext cx="4285923" cy="55016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Services stays as the worked example you copied from, for now</a:t>
            </a:r>
            <a:endParaRPr lang="en-US" sz="1500" dirty="0"/>
          </a:p>
        </p:txBody>
      </p:sp>
      <p:sp>
        <p:nvSpPr>
          <p:cNvPr id="22" name="Shape 19"/>
          <p:cNvSpPr/>
          <p:nvPr/>
        </p:nvSpPr>
        <p:spPr>
          <a:xfrm>
            <a:off x="6571923" y="1874520"/>
            <a:ext cx="4976949" cy="1252728"/>
          </a:xfrm>
          <a:prstGeom prst="rect">
            <a:avLst/>
          </a:prstGeom>
          <a:solidFill>
            <a:srgbClr val="1B1F27"/>
          </a:solidFill>
          <a:ln w="12700">
            <a:solidFill>
              <a:srgbClr val="1B1F27"/>
            </a:solidFill>
            <a:prstDash val="solid"/>
          </a:ln>
        </p:spPr>
      </p:sp>
      <p:sp>
        <p:nvSpPr>
          <p:cNvPr id="23" name="Shape 20"/>
          <p:cNvSpPr/>
          <p:nvPr/>
        </p:nvSpPr>
        <p:spPr>
          <a:xfrm>
            <a:off x="6571923" y="1874520"/>
            <a:ext cx="54864" cy="1252728"/>
          </a:xfrm>
          <a:prstGeom prst="rect">
            <a:avLst/>
          </a:prstGeom>
          <a:solidFill>
            <a:srgbClr val="FFCF3F"/>
          </a:solidFill>
          <a:ln w="12700">
            <a:solidFill>
              <a:srgbClr val="FFCF3F"/>
            </a:solidFill>
            <a:prstDash val="solid"/>
          </a:ln>
        </p:spPr>
      </p:sp>
      <p:sp>
        <p:nvSpPr>
          <p:cNvPr id="24" name="Text 21"/>
          <p:cNvSpPr txBox="1"/>
          <p:nvPr/>
        </p:nvSpPr>
        <p:spPr>
          <a:xfrm>
            <a:off x="6846243" y="2020824"/>
            <a:ext cx="4519749" cy="960120"/>
          </a:xfrm>
          <a:prstGeom prst="rect">
            <a:avLst/>
          </a:prstGeom>
          <a:noFill/>
          <a:ln/>
        </p:spPr>
        <p:txBody>
          <a:bodyPr wrap="square" lIns="0" tIns="0" rIns="0" bIns="0" rtlCol="0" anchor="t"/>
          <a:lstStyle/>
          <a:p>
            <a:pPr indent="0" marL="0">
              <a:buNone/>
            </a:pPr>
            <a:r>
              <a:rPr lang="en-US" sz="1400" dirty="0">
                <a:solidFill>
                  <a:srgbClr val="ECEEF3"/>
                </a:solidFill>
                <a:latin typeface="IBM Plex Sans" pitchFamily="34" charset="0"/>
                <a:ea typeface="IBM Plex Sans" pitchFamily="34" charset="-122"/>
                <a:cs typeface="IBM Plex Sans" pitchFamily="34" charset="-120"/>
              </a:rPr>
              <a:t>Ported from a WordPress portfolio you can read in </a:t>
            </a:r>
            <a:r>
              <a:rPr lang="en-US" sz="1290" dirty="0">
                <a:solidFill>
                  <a:srgbClr val="FFCF3F"/>
                </a:solidFill>
                <a:latin typeface="IBM Plex Mono" pitchFamily="34" charset="0"/>
                <a:ea typeface="IBM Plex Mono" pitchFamily="34" charset="-122"/>
                <a:cs typeface="IBM Plex Mono" pitchFamily="34" charset="-120"/>
              </a:rPr>
              <a:t>wordpress-reference/</a:t>
            </a:r>
            <a:r>
              <a:rPr lang="en-US" sz="1400" dirty="0">
                <a:solidFill>
                  <a:srgbClr val="ECEEF3"/>
                </a:solidFill>
                <a:latin typeface="IBM Plex Sans" pitchFamily="34" charset="0"/>
                <a:ea typeface="IBM Plex Sans" pitchFamily="34" charset="-122"/>
                <a:cs typeface="IBM Plex Sans" pitchFamily="34" charset="-120"/>
              </a:rPr>
              <a:t>: a Project CPT, its ACF group, three templates and an options page. Same content model, new stack.</a:t>
            </a:r>
            <a:endParaRPr lang="en-US" sz="1400" dirty="0"/>
          </a:p>
        </p:txBody>
      </p:sp>
      <p:sp>
        <p:nvSpPr>
          <p:cNvPr id="25" name="Shape 22"/>
          <p:cNvSpPr/>
          <p:nvPr/>
        </p:nvSpPr>
        <p:spPr>
          <a:xfrm>
            <a:off x="6571923" y="3291840"/>
            <a:ext cx="4976949" cy="1302258"/>
          </a:xfrm>
          <a:prstGeom prst="rect">
            <a:avLst/>
          </a:prstGeom>
          <a:solidFill>
            <a:srgbClr val="1B1F27"/>
          </a:solidFill>
          <a:ln w="9525">
            <a:solidFill>
              <a:srgbClr val="2A2F3A"/>
            </a:solidFill>
            <a:prstDash val="solid"/>
          </a:ln>
        </p:spPr>
      </p:sp>
      <p:sp>
        <p:nvSpPr>
          <p:cNvPr id="26" name="Shape 23"/>
          <p:cNvSpPr/>
          <p:nvPr/>
        </p:nvSpPr>
        <p:spPr>
          <a:xfrm>
            <a:off x="6754803" y="3438144"/>
            <a:ext cx="818388" cy="237744"/>
          </a:xfrm>
          <a:prstGeom prst="roundRect">
            <a:avLst>
              <a:gd name="adj" fmla="val 50000"/>
            </a:avLst>
          </a:prstGeom>
          <a:solidFill>
            <a:srgbClr val="14171D"/>
          </a:solidFill>
          <a:ln w="9525">
            <a:solidFill>
              <a:srgbClr val="6EA3FF"/>
            </a:solidFill>
            <a:prstDash val="solid"/>
          </a:ln>
        </p:spPr>
      </p:sp>
      <p:sp>
        <p:nvSpPr>
          <p:cNvPr id="27" name="Text 24"/>
          <p:cNvSpPr txBox="1"/>
          <p:nvPr/>
        </p:nvSpPr>
        <p:spPr>
          <a:xfrm>
            <a:off x="6754803" y="3479292"/>
            <a:ext cx="818388" cy="182880"/>
          </a:xfrm>
          <a:prstGeom prst="rect">
            <a:avLst/>
          </a:prstGeom>
          <a:noFill/>
          <a:ln/>
        </p:spPr>
        <p:txBody>
          <a:bodyPr wrap="square" lIns="0" tIns="0" rIns="0" bIns="0" rtlCol="0" anchor="t"/>
          <a:lstStyle/>
          <a:p>
            <a:pPr algn="ctr" indent="0" marL="0">
              <a:buNone/>
            </a:pPr>
            <a:r>
              <a:rPr lang="en-US" sz="900" dirty="0">
                <a:solidFill>
                  <a:srgbClr val="6EA3FF"/>
                </a:solidFill>
                <a:latin typeface="IBM Plex Mono" pitchFamily="34" charset="0"/>
                <a:ea typeface="IBM Plex Mono" pitchFamily="34" charset="-122"/>
                <a:cs typeface="IBM Plex Mono" pitchFamily="34" charset="-120"/>
              </a:rPr>
              <a:t>Take-home</a:t>
            </a:r>
            <a:endParaRPr lang="en-US" sz="900" dirty="0"/>
          </a:p>
        </p:txBody>
      </p:sp>
      <p:sp>
        <p:nvSpPr>
          <p:cNvPr id="28" name="Text 25"/>
          <p:cNvSpPr txBox="1"/>
          <p:nvPr/>
        </p:nvSpPr>
        <p:spPr>
          <a:xfrm>
            <a:off x="7682919" y="3401568"/>
            <a:ext cx="3683073" cy="365760"/>
          </a:xfrm>
          <a:prstGeom prst="rect">
            <a:avLst/>
          </a:prstGeom>
          <a:noFill/>
          <a:ln/>
        </p:spPr>
        <p:txBody>
          <a:bodyPr wrap="square" lIns="0" tIns="0" rIns="0" bIns="0" rtlCol="0" anchor="t"/>
          <a:lstStyle/>
          <a:p>
            <a:pPr indent="0" marL="0">
              <a:buNone/>
            </a:pPr>
            <a:r>
              <a:rPr lang="en-US" sz="1700" b="1" dirty="0">
                <a:solidFill>
                  <a:srgbClr val="ECEEF3"/>
                </a:solidFill>
                <a:latin typeface="IBM Plex Sans" pitchFamily="34" charset="0"/>
                <a:ea typeface="IBM Plex Sans" pitchFamily="34" charset="-122"/>
                <a:cs typeface="IBM Plex Sans" pitchFamily="34" charset="-120"/>
              </a:rPr>
              <a:t>step 7</a:t>
            </a:r>
            <a:endParaRPr lang="en-US" sz="1700" dirty="0"/>
          </a:p>
        </p:txBody>
      </p:sp>
      <p:sp>
        <p:nvSpPr>
          <p:cNvPr id="29" name="Text 26"/>
          <p:cNvSpPr txBox="1"/>
          <p:nvPr/>
        </p:nvSpPr>
        <p:spPr>
          <a:xfrm>
            <a:off x="6754803" y="3794760"/>
            <a:ext cx="4611189" cy="707898"/>
          </a:xfrm>
          <a:prstGeom prst="rect">
            <a:avLst/>
          </a:prstGeom>
          <a:noFill/>
          <a:ln/>
        </p:spPr>
        <p:txBody>
          <a:bodyPr wrap="square" lIns="0" tIns="0" rIns="0" bIns="0" rtlCol="0" anchor="t"/>
          <a:lstStyle/>
          <a:p>
            <a:pPr indent="0" marL="0">
              <a:lnSpc>
                <a:spcPct val="110000"/>
              </a:lnSpc>
              <a:buNone/>
            </a:pPr>
            <a:r>
              <a:rPr lang="en-US" sz="1300" dirty="0">
                <a:solidFill>
                  <a:srgbClr val="9EA7B8"/>
                </a:solidFill>
                <a:latin typeface="IBM Plex Sans" pitchFamily="34" charset="0"/>
                <a:ea typeface="IBM Plex Sans" pitchFamily="34" charset="-122"/>
                <a:cs typeface="IBM Plex Sans" pitchFamily="34" charset="-120"/>
              </a:rPr>
              <a:t>Make </a:t>
            </a:r>
            <a:r>
              <a:rPr lang="en-US" sz="1200" dirty="0">
                <a:solidFill>
                  <a:srgbClr val="FFCF3F"/>
                </a:solidFill>
                <a:latin typeface="IBM Plex Mono" pitchFamily="34" charset="0"/>
                <a:ea typeface="IBM Plex Mono" pitchFamily="34" charset="-122"/>
                <a:cs typeface="IBM Plex Mono" pitchFamily="34" charset="-120"/>
              </a:rPr>
              <a:t>/</a:t>
            </a:r>
            <a:r>
              <a:rPr lang="en-US" sz="1300" dirty="0">
                <a:solidFill>
                  <a:srgbClr val="9EA7B8"/>
                </a:solidFill>
                <a:latin typeface="IBM Plex Sans" pitchFamily="34" charset="0"/>
                <a:ea typeface="IBM Plex Sans" pitchFamily="34" charset="-122"/>
                <a:cs typeface="IBM Plex Sans" pitchFamily="34" charset="-120"/>
              </a:rPr>
              <a:t> the home page from the profile and the newest projects. Deploy it. Bring the URL to the follow-up, where we do deployment properly and review the portfolios.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FFCF3F"/>
          </a:solidFill>
          <a:ln w="12700">
            <a:solidFill>
              <a:srgbClr val="FFCF3F"/>
            </a:solidFill>
            <a:prstDash val="solid"/>
          </a:ln>
        </p:spPr>
      </p:sp>
      <p:sp>
        <p:nvSpPr>
          <p:cNvPr id="4" name="Shape 1"/>
          <p:cNvSpPr/>
          <p:nvPr/>
        </p:nvSpPr>
        <p:spPr>
          <a:xfrm>
            <a:off x="822960" y="566928"/>
            <a:ext cx="128016" cy="128016"/>
          </a:xfrm>
          <a:prstGeom prst="ellipse">
            <a:avLst/>
          </a:prstGeom>
          <a:solidFill>
            <a:srgbClr val="7ED3A0"/>
          </a:solidFill>
          <a:ln w="12700">
            <a:solidFill>
              <a:srgbClr val="7ED3A0"/>
            </a:solidFill>
            <a:prstDash val="solid"/>
          </a:ln>
        </p:spPr>
      </p:sp>
      <p:sp>
        <p:nvSpPr>
          <p:cNvPr id="5" name="Shape 2"/>
          <p:cNvSpPr/>
          <p:nvPr/>
        </p:nvSpPr>
        <p:spPr>
          <a:xfrm>
            <a:off x="1005840" y="566928"/>
            <a:ext cx="128016" cy="128016"/>
          </a:xfrm>
          <a:prstGeom prst="ellipse">
            <a:avLst/>
          </a:prstGeom>
          <a:solidFill>
            <a:srgbClr val="6EA3FF"/>
          </a:solidFill>
          <a:ln w="12700">
            <a:solidFill>
              <a:srgbClr val="6EA3FF"/>
            </a:solidFill>
            <a:prstDash val="solid"/>
          </a:ln>
        </p:spPr>
      </p:sp>
      <p:sp>
        <p:nvSpPr>
          <p:cNvPr id="6" name="Text 3"/>
          <p:cNvSpPr txBox="1"/>
          <p:nvPr/>
        </p:nvSpPr>
        <p:spPr>
          <a:xfrm>
            <a:off x="125272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3 · THE LADDER</a:t>
            </a:r>
            <a:endParaRPr lang="en-US" sz="1100" dirty="0"/>
          </a:p>
        </p:txBody>
      </p:sp>
      <p:sp>
        <p:nvSpPr>
          <p:cNvPr id="7" name="Text 4"/>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24 – 30 min</a:t>
            </a:r>
            <a:endParaRPr lang="en-US" sz="1100" dirty="0"/>
          </a:p>
        </p:txBody>
      </p:sp>
      <p:sp>
        <p:nvSpPr>
          <p:cNvPr id="8" name="Text 5"/>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9" name="Text 6"/>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24 / 27  ·  24:00 – 30:00</a:t>
            </a:r>
            <a:endParaRPr lang="en-US" sz="1000" dirty="0"/>
          </a:p>
        </p:txBody>
      </p:sp>
      <p:sp>
        <p:nvSpPr>
          <p:cNvPr id="10" name="Shape 7"/>
          <p:cNvSpPr/>
          <p:nvPr/>
        </p:nvSpPr>
        <p:spPr>
          <a:xfrm>
            <a:off x="0" y="6821424"/>
            <a:ext cx="10837062" cy="36576"/>
          </a:xfrm>
          <a:prstGeom prst="rect">
            <a:avLst/>
          </a:prstGeom>
          <a:solidFill>
            <a:srgbClr val="FFCF3F"/>
          </a:solidFill>
          <a:ln w="12700">
            <a:solidFill>
              <a:srgbClr val="FFCF3F"/>
            </a:solidFill>
            <a:prstDash val="solid"/>
          </a:ln>
        </p:spPr>
      </p:sp>
      <p:sp>
        <p:nvSpPr>
          <p:cNvPr id="11" name="Text 8"/>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The ladder: eight steps, each with a gate</a:t>
            </a:r>
            <a:endParaRPr lang="en-US" sz="3800" dirty="0"/>
          </a:p>
        </p:txBody>
      </p:sp>
      <p:sp>
        <p:nvSpPr>
          <p:cNvPr id="12" name="Shape 9"/>
          <p:cNvSpPr/>
          <p:nvPr/>
        </p:nvSpPr>
        <p:spPr>
          <a:xfrm>
            <a:off x="640080" y="1874520"/>
            <a:ext cx="2617470" cy="1600200"/>
          </a:xfrm>
          <a:prstGeom prst="rect">
            <a:avLst/>
          </a:prstGeom>
          <a:solidFill>
            <a:srgbClr val="1B1F27"/>
          </a:solidFill>
          <a:ln w="9525">
            <a:solidFill>
              <a:srgbClr val="2A2F3A"/>
            </a:solidFill>
            <a:prstDash val="solid"/>
          </a:ln>
        </p:spPr>
      </p:sp>
      <p:sp>
        <p:nvSpPr>
          <p:cNvPr id="13" name="Text 10"/>
          <p:cNvSpPr txBox="1"/>
          <p:nvPr/>
        </p:nvSpPr>
        <p:spPr>
          <a:xfrm>
            <a:off x="804672" y="2002536"/>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0 · before today</a:t>
            </a:r>
            <a:endParaRPr lang="en-US" sz="950" dirty="0"/>
          </a:p>
        </p:txBody>
      </p:sp>
      <p:sp>
        <p:nvSpPr>
          <p:cNvPr id="14" name="Text 11"/>
          <p:cNvSpPr txBox="1"/>
          <p:nvPr/>
        </p:nvSpPr>
        <p:spPr>
          <a:xfrm>
            <a:off x="804672" y="2258568"/>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Prerequisites</a:t>
            </a:r>
            <a:endParaRPr lang="en-US" sz="1500" dirty="0"/>
          </a:p>
        </p:txBody>
      </p:sp>
      <p:sp>
        <p:nvSpPr>
          <p:cNvPr id="15" name="Text 12"/>
          <p:cNvSpPr txBox="1"/>
          <p:nvPr/>
        </p:nvSpPr>
        <p:spPr>
          <a:xfrm>
            <a:off x="804672" y="2606040"/>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Tools, servers up, worked example renders. </a:t>
            </a:r>
            <a:r>
              <a:rPr lang="en-US" sz="1100" dirty="0">
                <a:solidFill>
                  <a:srgbClr val="FFCF3F"/>
                </a:solidFill>
                <a:latin typeface="IBM Plex Mono" pitchFamily="34" charset="0"/>
                <a:ea typeface="IBM Plex Mono" pitchFamily="34" charset="-122"/>
                <a:cs typeface="IBM Plex Mono" pitchFamily="34" charset="-120"/>
              </a:rPr>
              <a:t>pnpm verify 0</a:t>
            </a:r>
            <a:endParaRPr lang="en-US" sz="1200" dirty="0"/>
          </a:p>
        </p:txBody>
      </p:sp>
      <p:sp>
        <p:nvSpPr>
          <p:cNvPr id="16" name="Shape 13"/>
          <p:cNvSpPr/>
          <p:nvPr/>
        </p:nvSpPr>
        <p:spPr>
          <a:xfrm>
            <a:off x="3403854" y="1874520"/>
            <a:ext cx="2617470" cy="1600200"/>
          </a:xfrm>
          <a:prstGeom prst="rect">
            <a:avLst/>
          </a:prstGeom>
          <a:solidFill>
            <a:srgbClr val="1B1F27"/>
          </a:solidFill>
          <a:ln w="9525">
            <a:solidFill>
              <a:srgbClr val="2A2F3A"/>
            </a:solidFill>
            <a:prstDash val="solid"/>
          </a:ln>
        </p:spPr>
      </p:sp>
      <p:sp>
        <p:nvSpPr>
          <p:cNvPr id="17" name="Text 14"/>
          <p:cNvSpPr txBox="1"/>
          <p:nvPr/>
        </p:nvSpPr>
        <p:spPr>
          <a:xfrm>
            <a:off x="3568446" y="2002536"/>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1 · 10 min</a:t>
            </a:r>
            <a:endParaRPr lang="en-US" sz="950" dirty="0"/>
          </a:p>
        </p:txBody>
      </p:sp>
      <p:sp>
        <p:nvSpPr>
          <p:cNvPr id="18" name="Text 15"/>
          <p:cNvSpPr txBox="1"/>
          <p:nvPr/>
        </p:nvSpPr>
        <p:spPr>
          <a:xfrm>
            <a:off x="3568446" y="2258568"/>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Projects collection</a:t>
            </a:r>
            <a:endParaRPr lang="en-US" sz="1500" dirty="0"/>
          </a:p>
        </p:txBody>
      </p:sp>
      <p:sp>
        <p:nvSpPr>
          <p:cNvPr id="19" name="Text 16"/>
          <p:cNvSpPr txBox="1"/>
          <p:nvPr/>
        </p:nvSpPr>
        <p:spPr>
          <a:xfrm>
            <a:off x="3568446" y="2606040"/>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CPT + ACF → </a:t>
            </a:r>
            <a:r>
              <a:rPr lang="en-US" sz="1100" dirty="0">
                <a:solidFill>
                  <a:srgbClr val="FFCF3F"/>
                </a:solidFill>
                <a:latin typeface="IBM Plex Mono" pitchFamily="34" charset="0"/>
                <a:ea typeface="IBM Plex Mono" pitchFamily="34" charset="-122"/>
                <a:cs typeface="IBM Plex Mono" pitchFamily="34" charset="-120"/>
              </a:rPr>
              <a:t>Projects.ts</a:t>
            </a:r>
            <a:r>
              <a:rPr lang="en-US" sz="1200" dirty="0">
                <a:solidFill>
                  <a:srgbClr val="9EA7B8"/>
                </a:solidFill>
                <a:latin typeface="IBM Plex Sans" pitchFamily="34" charset="0"/>
                <a:ea typeface="IBM Plex Sans" pitchFamily="34" charset="-122"/>
                <a:cs typeface="IBM Plex Sans" pitchFamily="34" charset="-120"/>
              </a:rPr>
              <a:t>. Public read, typed. </a:t>
            </a:r>
            <a:r>
              <a:rPr lang="en-US" sz="1100" dirty="0">
                <a:solidFill>
                  <a:srgbClr val="FFCF3F"/>
                </a:solidFill>
                <a:latin typeface="IBM Plex Mono" pitchFamily="34" charset="0"/>
                <a:ea typeface="IBM Plex Mono" pitchFamily="34" charset="-122"/>
                <a:cs typeface="IBM Plex Mono" pitchFamily="34" charset="-120"/>
              </a:rPr>
              <a:t>pnpm verify 1</a:t>
            </a:r>
            <a:endParaRPr lang="en-US" sz="1200" dirty="0"/>
          </a:p>
        </p:txBody>
      </p:sp>
      <p:sp>
        <p:nvSpPr>
          <p:cNvPr id="20" name="Shape 17"/>
          <p:cNvSpPr/>
          <p:nvPr/>
        </p:nvSpPr>
        <p:spPr>
          <a:xfrm>
            <a:off x="6167628" y="1874520"/>
            <a:ext cx="2617470" cy="1600200"/>
          </a:xfrm>
          <a:prstGeom prst="rect">
            <a:avLst/>
          </a:prstGeom>
          <a:solidFill>
            <a:srgbClr val="1B1F27"/>
          </a:solidFill>
          <a:ln w="9525">
            <a:solidFill>
              <a:srgbClr val="2A2F3A"/>
            </a:solidFill>
            <a:prstDash val="solid"/>
          </a:ln>
        </p:spPr>
      </p:sp>
      <p:sp>
        <p:nvSpPr>
          <p:cNvPr id="21" name="Text 18"/>
          <p:cNvSpPr txBox="1"/>
          <p:nvPr/>
        </p:nvSpPr>
        <p:spPr>
          <a:xfrm>
            <a:off x="6332220" y="2002536"/>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2 · 6 min</a:t>
            </a:r>
            <a:endParaRPr lang="en-US" sz="950" dirty="0"/>
          </a:p>
        </p:txBody>
      </p:sp>
      <p:sp>
        <p:nvSpPr>
          <p:cNvPr id="22" name="Text 19"/>
          <p:cNvSpPr txBox="1"/>
          <p:nvPr/>
        </p:nvSpPr>
        <p:spPr>
          <a:xfrm>
            <a:off x="6332220" y="2258568"/>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Seed your projects</a:t>
            </a:r>
            <a:endParaRPr lang="en-US" sz="1500" dirty="0"/>
          </a:p>
        </p:txBody>
      </p:sp>
      <p:sp>
        <p:nvSpPr>
          <p:cNvPr id="23" name="Text 20"/>
          <p:cNvSpPr txBox="1"/>
          <p:nvPr/>
        </p:nvSpPr>
        <p:spPr>
          <a:xfrm>
            <a:off x="6332220" y="2606040"/>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Three real projects, idempotent seed. </a:t>
            </a:r>
            <a:r>
              <a:rPr lang="en-US" sz="1100" dirty="0">
                <a:solidFill>
                  <a:srgbClr val="FFCF3F"/>
                </a:solidFill>
                <a:latin typeface="IBM Plex Mono" pitchFamily="34" charset="0"/>
                <a:ea typeface="IBM Plex Mono" pitchFamily="34" charset="-122"/>
                <a:cs typeface="IBM Plex Mono" pitchFamily="34" charset="-120"/>
              </a:rPr>
              <a:t>pnpm verify 2</a:t>
            </a:r>
            <a:endParaRPr lang="en-US" sz="1200" dirty="0"/>
          </a:p>
        </p:txBody>
      </p:sp>
      <p:sp>
        <p:nvSpPr>
          <p:cNvPr id="24" name="Shape 21"/>
          <p:cNvSpPr/>
          <p:nvPr/>
        </p:nvSpPr>
        <p:spPr>
          <a:xfrm>
            <a:off x="8931402" y="1874520"/>
            <a:ext cx="2617470" cy="1600200"/>
          </a:xfrm>
          <a:prstGeom prst="rect">
            <a:avLst/>
          </a:prstGeom>
          <a:solidFill>
            <a:srgbClr val="1B1F27"/>
          </a:solidFill>
          <a:ln w="9525">
            <a:solidFill>
              <a:srgbClr val="2A2F3A"/>
            </a:solidFill>
            <a:prstDash val="solid"/>
          </a:ln>
        </p:spPr>
      </p:sp>
      <p:sp>
        <p:nvSpPr>
          <p:cNvPr id="25" name="Text 22"/>
          <p:cNvSpPr txBox="1"/>
          <p:nvPr/>
        </p:nvSpPr>
        <p:spPr>
          <a:xfrm>
            <a:off x="9095994" y="2002536"/>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3 · 8 min</a:t>
            </a:r>
            <a:endParaRPr lang="en-US" sz="950" dirty="0"/>
          </a:p>
        </p:txBody>
      </p:sp>
      <p:sp>
        <p:nvSpPr>
          <p:cNvPr id="26" name="Text 23"/>
          <p:cNvSpPr txBox="1"/>
          <p:nvPr/>
        </p:nvSpPr>
        <p:spPr>
          <a:xfrm>
            <a:off x="9095994" y="2258568"/>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Archive page</a:t>
            </a:r>
            <a:endParaRPr lang="en-US" sz="1500" dirty="0"/>
          </a:p>
        </p:txBody>
      </p:sp>
      <p:sp>
        <p:nvSpPr>
          <p:cNvPr id="27" name="Text 24"/>
          <p:cNvSpPr txBox="1"/>
          <p:nvPr/>
        </p:nvSpPr>
        <p:spPr>
          <a:xfrm>
            <a:off x="9095994" y="2606040"/>
            <a:ext cx="2288286" cy="777240"/>
          </a:xfrm>
          <a:prstGeom prst="rect">
            <a:avLst/>
          </a:prstGeom>
          <a:noFill/>
          <a:ln/>
        </p:spPr>
        <p:txBody>
          <a:bodyPr wrap="square" lIns="0" tIns="0" rIns="0" bIns="0" rtlCol="0" anchor="t"/>
          <a:lstStyle/>
          <a:p>
            <a:pPr indent="0" marL="0">
              <a:lnSpc>
                <a:spcPct val="110000"/>
              </a:lnSpc>
              <a:buNone/>
            </a:pPr>
            <a:r>
              <a:rPr lang="en-US" sz="1100" dirty="0">
                <a:solidFill>
                  <a:srgbClr val="FFCF3F"/>
                </a:solidFill>
                <a:latin typeface="IBM Plex Mono" pitchFamily="34" charset="0"/>
                <a:ea typeface="IBM Plex Mono" pitchFamily="34" charset="-122"/>
                <a:cs typeface="IBM Plex Mono" pitchFamily="34" charset="-120"/>
              </a:rPr>
              <a:t>/projects</a:t>
            </a:r>
            <a:r>
              <a:rPr lang="en-US" sz="1200" dirty="0">
                <a:solidFill>
                  <a:srgbClr val="9EA7B8"/>
                </a:solidFill>
                <a:latin typeface="IBM Plex Sans" pitchFamily="34" charset="0"/>
                <a:ea typeface="IBM Plex Sans" pitchFamily="34" charset="-122"/>
                <a:cs typeface="IBM Plex Sans" pitchFamily="34" charset="-120"/>
              </a:rPr>
              <a:t>, newest first, typed card. </a:t>
            </a:r>
            <a:r>
              <a:rPr lang="en-US" sz="1100" dirty="0">
                <a:solidFill>
                  <a:srgbClr val="FFCF3F"/>
                </a:solidFill>
                <a:latin typeface="IBM Plex Mono" pitchFamily="34" charset="0"/>
                <a:ea typeface="IBM Plex Mono" pitchFamily="34" charset="-122"/>
                <a:cs typeface="IBM Plex Mono" pitchFamily="34" charset="-120"/>
              </a:rPr>
              <a:t>pnpm verify 3</a:t>
            </a:r>
            <a:endParaRPr lang="en-US" sz="1100" dirty="0"/>
          </a:p>
        </p:txBody>
      </p:sp>
      <p:sp>
        <p:nvSpPr>
          <p:cNvPr id="28" name="Shape 25"/>
          <p:cNvSpPr/>
          <p:nvPr/>
        </p:nvSpPr>
        <p:spPr>
          <a:xfrm>
            <a:off x="640080" y="3621024"/>
            <a:ext cx="2617470" cy="1600200"/>
          </a:xfrm>
          <a:prstGeom prst="rect">
            <a:avLst/>
          </a:prstGeom>
          <a:solidFill>
            <a:srgbClr val="1B1F27"/>
          </a:solidFill>
          <a:ln w="9525">
            <a:solidFill>
              <a:srgbClr val="2A2F3A"/>
            </a:solidFill>
            <a:prstDash val="solid"/>
          </a:ln>
        </p:spPr>
      </p:sp>
      <p:sp>
        <p:nvSpPr>
          <p:cNvPr id="29" name="Text 26"/>
          <p:cNvSpPr txBox="1"/>
          <p:nvPr/>
        </p:nvSpPr>
        <p:spPr>
          <a:xfrm>
            <a:off x="804672" y="3749040"/>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4 · 8 min</a:t>
            </a:r>
            <a:endParaRPr lang="en-US" sz="950" dirty="0"/>
          </a:p>
        </p:txBody>
      </p:sp>
      <p:sp>
        <p:nvSpPr>
          <p:cNvPr id="30" name="Text 27"/>
          <p:cNvSpPr txBox="1"/>
          <p:nvPr/>
        </p:nvSpPr>
        <p:spPr>
          <a:xfrm>
            <a:off x="804672" y="4005072"/>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Detail page</a:t>
            </a:r>
            <a:endParaRPr lang="en-US" sz="1500" dirty="0"/>
          </a:p>
        </p:txBody>
      </p:sp>
      <p:sp>
        <p:nvSpPr>
          <p:cNvPr id="31" name="Text 28"/>
          <p:cNvSpPr txBox="1"/>
          <p:nvPr/>
        </p:nvSpPr>
        <p:spPr>
          <a:xfrm>
            <a:off x="804672" y="4352544"/>
            <a:ext cx="2288286" cy="777240"/>
          </a:xfrm>
          <a:prstGeom prst="rect">
            <a:avLst/>
          </a:prstGeom>
          <a:noFill/>
          <a:ln/>
        </p:spPr>
        <p:txBody>
          <a:bodyPr wrap="square" lIns="0" tIns="0" rIns="0" bIns="0" rtlCol="0" anchor="t"/>
          <a:lstStyle/>
          <a:p>
            <a:pPr indent="0" marL="0">
              <a:lnSpc>
                <a:spcPct val="110000"/>
              </a:lnSpc>
              <a:buNone/>
            </a:pPr>
            <a:r>
              <a:rPr lang="en-US" sz="1100" dirty="0">
                <a:solidFill>
                  <a:srgbClr val="FFCF3F"/>
                </a:solidFill>
                <a:latin typeface="IBM Plex Mono" pitchFamily="34" charset="0"/>
                <a:ea typeface="IBM Plex Mono" pitchFamily="34" charset="-122"/>
                <a:cs typeface="IBM Plex Mono" pitchFamily="34" charset="-120"/>
              </a:rPr>
              <a:t>/projects/[slug]</a:t>
            </a:r>
            <a:r>
              <a:rPr lang="en-US" sz="1200" dirty="0">
                <a:solidFill>
                  <a:srgbClr val="9EA7B8"/>
                </a:solidFill>
                <a:latin typeface="IBM Plex Sans" pitchFamily="34" charset="0"/>
                <a:ea typeface="IBM Plex Sans" pitchFamily="34" charset="-122"/>
                <a:cs typeface="IBM Plex Sans" pitchFamily="34" charset="-120"/>
              </a:rPr>
              <a:t>, stats grid, 404. </a:t>
            </a:r>
            <a:r>
              <a:rPr lang="en-US" sz="1100" dirty="0">
                <a:solidFill>
                  <a:srgbClr val="FFCF3F"/>
                </a:solidFill>
                <a:latin typeface="IBM Plex Mono" pitchFamily="34" charset="0"/>
                <a:ea typeface="IBM Plex Mono" pitchFamily="34" charset="-122"/>
                <a:cs typeface="IBM Plex Mono" pitchFamily="34" charset="-120"/>
              </a:rPr>
              <a:t>pnpm verify 4</a:t>
            </a:r>
            <a:endParaRPr lang="en-US" sz="1100" dirty="0"/>
          </a:p>
        </p:txBody>
      </p:sp>
      <p:sp>
        <p:nvSpPr>
          <p:cNvPr id="32" name="Shape 29"/>
          <p:cNvSpPr/>
          <p:nvPr/>
        </p:nvSpPr>
        <p:spPr>
          <a:xfrm>
            <a:off x="3403854" y="3621024"/>
            <a:ext cx="2617470" cy="1600200"/>
          </a:xfrm>
          <a:prstGeom prst="rect">
            <a:avLst/>
          </a:prstGeom>
          <a:solidFill>
            <a:srgbClr val="1B1F27"/>
          </a:solidFill>
          <a:ln w="9525">
            <a:solidFill>
              <a:srgbClr val="2A2F3A"/>
            </a:solidFill>
            <a:prstDash val="solid"/>
          </a:ln>
        </p:spPr>
      </p:sp>
      <p:sp>
        <p:nvSpPr>
          <p:cNvPr id="33" name="Text 30"/>
          <p:cNvSpPr txBox="1"/>
          <p:nvPr/>
        </p:nvSpPr>
        <p:spPr>
          <a:xfrm>
            <a:off x="3568446" y="3749040"/>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5 · 10 min</a:t>
            </a:r>
            <a:endParaRPr lang="en-US" sz="950" dirty="0"/>
          </a:p>
        </p:txBody>
      </p:sp>
      <p:sp>
        <p:nvSpPr>
          <p:cNvPr id="34" name="Text 31"/>
          <p:cNvSpPr txBox="1"/>
          <p:nvPr/>
        </p:nvSpPr>
        <p:spPr>
          <a:xfrm>
            <a:off x="3568446" y="4005072"/>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Profile + About</a:t>
            </a:r>
            <a:endParaRPr lang="en-US" sz="1500" dirty="0"/>
          </a:p>
        </p:txBody>
      </p:sp>
      <p:sp>
        <p:nvSpPr>
          <p:cNvPr id="35" name="Text 32"/>
          <p:cNvSpPr txBox="1"/>
          <p:nvPr/>
        </p:nvSpPr>
        <p:spPr>
          <a:xfrm>
            <a:off x="3568446" y="4352544"/>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Options page → global → </a:t>
            </a:r>
            <a:r>
              <a:rPr lang="en-US" sz="1100" dirty="0">
                <a:solidFill>
                  <a:srgbClr val="FFCF3F"/>
                </a:solidFill>
                <a:latin typeface="IBM Plex Mono" pitchFamily="34" charset="0"/>
                <a:ea typeface="IBM Plex Mono" pitchFamily="34" charset="-122"/>
                <a:cs typeface="IBM Plex Mono" pitchFamily="34" charset="-120"/>
              </a:rPr>
              <a:t>/about</a:t>
            </a:r>
            <a:r>
              <a:rPr lang="en-US" sz="1200" dirty="0">
                <a:solidFill>
                  <a:srgbClr val="9EA7B8"/>
                </a:solidFill>
                <a:latin typeface="IBM Plex Sans" pitchFamily="34" charset="0"/>
                <a:ea typeface="IBM Plex Sans" pitchFamily="34" charset="-122"/>
                <a:cs typeface="IBM Plex Sans" pitchFamily="34" charset="-120"/>
              </a:rPr>
              <a:t>. </a:t>
            </a:r>
            <a:r>
              <a:rPr lang="en-US" sz="1100" dirty="0">
                <a:solidFill>
                  <a:srgbClr val="FFCF3F"/>
                </a:solidFill>
                <a:latin typeface="IBM Plex Mono" pitchFamily="34" charset="0"/>
                <a:ea typeface="IBM Plex Mono" pitchFamily="34" charset="-122"/>
                <a:cs typeface="IBM Plex Mono" pitchFamily="34" charset="-120"/>
              </a:rPr>
              <a:t>pnpm verify 5</a:t>
            </a:r>
            <a:endParaRPr lang="en-US" sz="1200" dirty="0"/>
          </a:p>
        </p:txBody>
      </p:sp>
      <p:sp>
        <p:nvSpPr>
          <p:cNvPr id="36" name="Shape 33"/>
          <p:cNvSpPr/>
          <p:nvPr/>
        </p:nvSpPr>
        <p:spPr>
          <a:xfrm>
            <a:off x="6167628" y="3621024"/>
            <a:ext cx="2617470" cy="1600200"/>
          </a:xfrm>
          <a:prstGeom prst="rect">
            <a:avLst/>
          </a:prstGeom>
          <a:solidFill>
            <a:srgbClr val="1B1F27"/>
          </a:solidFill>
          <a:ln w="9525">
            <a:solidFill>
              <a:srgbClr val="2A2F3A"/>
            </a:solidFill>
            <a:prstDash val="solid"/>
          </a:ln>
        </p:spPr>
      </p:sp>
      <p:sp>
        <p:nvSpPr>
          <p:cNvPr id="37" name="Text 34"/>
          <p:cNvSpPr txBox="1"/>
          <p:nvPr/>
        </p:nvSpPr>
        <p:spPr>
          <a:xfrm>
            <a:off x="6332220" y="3749040"/>
            <a:ext cx="2288286" cy="228600"/>
          </a:xfrm>
          <a:prstGeom prst="rect">
            <a:avLst/>
          </a:prstGeom>
          <a:noFill/>
          <a:ln/>
        </p:spPr>
        <p:txBody>
          <a:bodyPr wrap="square" lIns="0" tIns="0" rIns="0" bIns="0" rtlCol="0" anchor="t"/>
          <a:lstStyle/>
          <a:p>
            <a:pPr indent="0" marL="0">
              <a:buNone/>
            </a:pPr>
            <a:r>
              <a:rPr lang="en-US" sz="950" spc="100" kern="0" dirty="0">
                <a:solidFill>
                  <a:srgbClr val="FFCF3F"/>
                </a:solidFill>
                <a:latin typeface="IBM Plex Mono" pitchFamily="34" charset="0"/>
                <a:ea typeface="IBM Plex Mono" pitchFamily="34" charset="-122"/>
                <a:cs typeface="IBM Plex Mono" pitchFamily="34" charset="-120"/>
              </a:rPr>
              <a:t>Step 6 · 15 min</a:t>
            </a:r>
            <a:endParaRPr lang="en-US" sz="950" dirty="0"/>
          </a:p>
        </p:txBody>
      </p:sp>
      <p:sp>
        <p:nvSpPr>
          <p:cNvPr id="38" name="Text 35"/>
          <p:cNvSpPr txBox="1"/>
          <p:nvPr/>
        </p:nvSpPr>
        <p:spPr>
          <a:xfrm>
            <a:off x="6332220" y="4005072"/>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Two stretch cards</a:t>
            </a:r>
            <a:endParaRPr lang="en-US" sz="1500" dirty="0"/>
          </a:p>
        </p:txBody>
      </p:sp>
      <p:sp>
        <p:nvSpPr>
          <p:cNvPr id="39" name="Text 36"/>
          <p:cNvSpPr txBox="1"/>
          <p:nvPr/>
        </p:nvSpPr>
        <p:spPr>
          <a:xfrm>
            <a:off x="6332220" y="4352544"/>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Image, rich text, SEO, relationship, blocks, hooks. </a:t>
            </a:r>
            <a:r>
              <a:rPr lang="en-US" sz="1100" dirty="0">
                <a:solidFill>
                  <a:srgbClr val="FFCF3F"/>
                </a:solidFill>
                <a:latin typeface="IBM Plex Mono" pitchFamily="34" charset="0"/>
                <a:ea typeface="IBM Plex Mono" pitchFamily="34" charset="-122"/>
                <a:cs typeface="IBM Plex Mono" pitchFamily="34" charset="-120"/>
              </a:rPr>
              <a:t>pnpm verify 6</a:t>
            </a:r>
            <a:endParaRPr lang="en-US" sz="1200" dirty="0"/>
          </a:p>
        </p:txBody>
      </p:sp>
      <p:sp>
        <p:nvSpPr>
          <p:cNvPr id="40" name="Shape 37"/>
          <p:cNvSpPr/>
          <p:nvPr/>
        </p:nvSpPr>
        <p:spPr>
          <a:xfrm>
            <a:off x="8931402" y="3621024"/>
            <a:ext cx="2617470" cy="1600200"/>
          </a:xfrm>
          <a:prstGeom prst="rect">
            <a:avLst/>
          </a:prstGeom>
          <a:solidFill>
            <a:srgbClr val="1B1F27"/>
          </a:solidFill>
          <a:ln w="9525">
            <a:solidFill>
              <a:srgbClr val="6EA3FF"/>
            </a:solidFill>
            <a:prstDash val="solid"/>
          </a:ln>
        </p:spPr>
      </p:sp>
      <p:sp>
        <p:nvSpPr>
          <p:cNvPr id="41" name="Text 38"/>
          <p:cNvSpPr txBox="1"/>
          <p:nvPr/>
        </p:nvSpPr>
        <p:spPr>
          <a:xfrm>
            <a:off x="9095994" y="3749040"/>
            <a:ext cx="2288286" cy="228600"/>
          </a:xfrm>
          <a:prstGeom prst="rect">
            <a:avLst/>
          </a:prstGeom>
          <a:noFill/>
          <a:ln/>
        </p:spPr>
        <p:txBody>
          <a:bodyPr wrap="square" lIns="0" tIns="0" rIns="0" bIns="0" rtlCol="0" anchor="t"/>
          <a:lstStyle/>
          <a:p>
            <a:pPr indent="0" marL="0">
              <a:buNone/>
            </a:pPr>
            <a:r>
              <a:rPr lang="en-US" sz="950" spc="100" kern="0" dirty="0">
                <a:solidFill>
                  <a:srgbClr val="6EA3FF"/>
                </a:solidFill>
                <a:latin typeface="IBM Plex Mono" pitchFamily="34" charset="0"/>
                <a:ea typeface="IBM Plex Mono" pitchFamily="34" charset="-122"/>
                <a:cs typeface="IBM Plex Mono" pitchFamily="34" charset="-120"/>
              </a:rPr>
              <a:t>Step 7 · take-home</a:t>
            </a:r>
            <a:endParaRPr lang="en-US" sz="950" dirty="0"/>
          </a:p>
        </p:txBody>
      </p:sp>
      <p:sp>
        <p:nvSpPr>
          <p:cNvPr id="42" name="Text 39"/>
          <p:cNvSpPr txBox="1"/>
          <p:nvPr/>
        </p:nvSpPr>
        <p:spPr>
          <a:xfrm>
            <a:off x="9095994" y="4005072"/>
            <a:ext cx="2288286" cy="320040"/>
          </a:xfrm>
          <a:prstGeom prst="rect">
            <a:avLst/>
          </a:prstGeom>
          <a:noFill/>
          <a:ln/>
        </p:spPr>
        <p:txBody>
          <a:bodyPr wrap="square" lIns="0" tIns="0" rIns="0" bIns="0" rtlCol="0" anchor="t"/>
          <a:lstStyle/>
          <a:p>
            <a:pPr indent="0" marL="0">
              <a:buNone/>
            </a:pPr>
            <a:r>
              <a:rPr lang="en-US" sz="1500" b="1" dirty="0">
                <a:solidFill>
                  <a:srgbClr val="ECEEF3"/>
                </a:solidFill>
                <a:latin typeface="IBM Plex Sans" pitchFamily="34" charset="0"/>
                <a:ea typeface="IBM Plex Sans" pitchFamily="34" charset="-122"/>
                <a:cs typeface="IBM Plex Sans" pitchFamily="34" charset="-120"/>
              </a:rPr>
              <a:t>Home page + deploy</a:t>
            </a:r>
            <a:endParaRPr lang="en-US" sz="1500" dirty="0"/>
          </a:p>
        </p:txBody>
      </p:sp>
      <p:sp>
        <p:nvSpPr>
          <p:cNvPr id="43" name="Text 40"/>
          <p:cNvSpPr txBox="1"/>
          <p:nvPr/>
        </p:nvSpPr>
        <p:spPr>
          <a:xfrm>
            <a:off x="9095994" y="4352544"/>
            <a:ext cx="2288286" cy="777240"/>
          </a:xfrm>
          <a:prstGeom prst="rect">
            <a:avLst/>
          </a:prstGeom>
          <a:noFill/>
          <a:ln/>
        </p:spPr>
        <p:txBody>
          <a:bodyPr wrap="square" lIns="0" tIns="0" rIns="0" bIns="0" rtlCol="0" anchor="t"/>
          <a:lstStyle/>
          <a:p>
            <a:pPr indent="0" marL="0">
              <a:lnSpc>
                <a:spcPct val="110000"/>
              </a:lnSpc>
              <a:buNone/>
            </a:pPr>
            <a:r>
              <a:rPr lang="en-US" sz="1200" dirty="0">
                <a:solidFill>
                  <a:srgbClr val="9EA7B8"/>
                </a:solidFill>
                <a:latin typeface="IBM Plex Sans" pitchFamily="34" charset="0"/>
                <a:ea typeface="IBM Plex Sans" pitchFamily="34" charset="-122"/>
                <a:cs typeface="IBM Plex Sans" pitchFamily="34" charset="-120"/>
              </a:rPr>
              <a:t>Not gated. Due before the follow-up.</a:t>
            </a:r>
            <a:endParaRPr lang="en-US" sz="1200" dirty="0"/>
          </a:p>
        </p:txBody>
      </p:sp>
      <p:sp>
        <p:nvSpPr>
          <p:cNvPr id="44" name="Shape 41"/>
          <p:cNvSpPr/>
          <p:nvPr/>
        </p:nvSpPr>
        <p:spPr>
          <a:xfrm>
            <a:off x="640080" y="5410962"/>
            <a:ext cx="10908792" cy="806958"/>
          </a:xfrm>
          <a:prstGeom prst="rect">
            <a:avLst/>
          </a:prstGeom>
          <a:solidFill>
            <a:srgbClr val="1B1F27"/>
          </a:solidFill>
          <a:ln w="12700">
            <a:solidFill>
              <a:srgbClr val="1B1F27"/>
            </a:solidFill>
            <a:prstDash val="solid"/>
          </a:ln>
        </p:spPr>
      </p:sp>
      <p:sp>
        <p:nvSpPr>
          <p:cNvPr id="45" name="Shape 42"/>
          <p:cNvSpPr/>
          <p:nvPr/>
        </p:nvSpPr>
        <p:spPr>
          <a:xfrm>
            <a:off x="640080" y="5410962"/>
            <a:ext cx="54864" cy="806958"/>
          </a:xfrm>
          <a:prstGeom prst="rect">
            <a:avLst/>
          </a:prstGeom>
          <a:solidFill>
            <a:srgbClr val="FFCF3F"/>
          </a:solidFill>
          <a:ln w="12700">
            <a:solidFill>
              <a:srgbClr val="FFCF3F"/>
            </a:solidFill>
            <a:prstDash val="solid"/>
          </a:ln>
        </p:spPr>
      </p:sp>
      <p:sp>
        <p:nvSpPr>
          <p:cNvPr id="46" name="Text 43"/>
          <p:cNvSpPr txBox="1"/>
          <p:nvPr/>
        </p:nvSpPr>
        <p:spPr>
          <a:xfrm>
            <a:off x="914400" y="5557266"/>
            <a:ext cx="10451592" cy="514350"/>
          </a:xfrm>
          <a:prstGeom prst="rect">
            <a:avLst/>
          </a:prstGeom>
          <a:noFill/>
          <a:ln/>
        </p:spPr>
        <p:txBody>
          <a:bodyPr wrap="square" lIns="0" tIns="0" rIns="0" bIns="0" rtlCol="0" anchor="t"/>
          <a:lstStyle/>
          <a:p>
            <a:pPr indent="0" marL="0">
              <a:buNone/>
            </a:pPr>
            <a:r>
              <a:rPr lang="en-US" sz="1380" dirty="0">
                <a:solidFill>
                  <a:srgbClr val="FFCF3F"/>
                </a:solidFill>
                <a:latin typeface="IBM Plex Mono" pitchFamily="34" charset="0"/>
                <a:ea typeface="IBM Plex Mono" pitchFamily="34" charset="-122"/>
                <a:cs typeface="IBM Plex Mono" pitchFamily="34" charset="-120"/>
              </a:rPr>
              <a:t>pnpm verify N</a:t>
            </a:r>
            <a:r>
              <a:rPr lang="en-US" sz="1500" dirty="0">
                <a:solidFill>
                  <a:srgbClr val="ECEEF3"/>
                </a:solidFill>
                <a:latin typeface="IBM Plex Sans" pitchFamily="34" charset="0"/>
                <a:ea typeface="IBM Plex Sans" pitchFamily="34" charset="-122"/>
                <a:cs typeface="IBM Plex Sans" pitchFamily="34" charset="-120"/>
              </a:rPr>
              <a:t> runs steps 0 to N in order and stops at the first red. A commit tagged </a:t>
            </a:r>
            <a:r>
              <a:rPr lang="en-US" sz="1380" dirty="0">
                <a:solidFill>
                  <a:srgbClr val="FFCF3F"/>
                </a:solidFill>
                <a:latin typeface="IBM Plex Mono" pitchFamily="34" charset="0"/>
                <a:ea typeface="IBM Plex Mono" pitchFamily="34" charset="-122"/>
                <a:cs typeface="IBM Plex Mono" pitchFamily="34" charset="-120"/>
              </a:rPr>
              <a:t>(step N)</a:t>
            </a:r>
            <a:r>
              <a:rPr lang="en-US" sz="1500" dirty="0">
                <a:solidFill>
                  <a:srgbClr val="ECEEF3"/>
                </a:solidFill>
                <a:latin typeface="IBM Plex Sans" pitchFamily="34" charset="0"/>
                <a:ea typeface="IBM Plex Sans" pitchFamily="34" charset="-122"/>
                <a:cs typeface="IBM Plex Sans" pitchFamily="34" charset="-120"/>
              </a:rPr>
              <a:t> is refused until N is green.</a:t>
            </a:r>
            <a:endParaRPr lang="en-US" sz="13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EA3FF"/>
          </a:solidFill>
          <a:ln w="12700">
            <a:solidFill>
              <a:srgbClr val="6EA3FF"/>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3 · HOW TO RUN A STEP</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24 – 30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25 / 27  ·  24:00 – 30:00</a:t>
            </a:r>
            <a:endParaRPr lang="en-US" sz="1000" dirty="0"/>
          </a:p>
        </p:txBody>
      </p:sp>
      <p:sp>
        <p:nvSpPr>
          <p:cNvPr id="8" name="Shape 5"/>
          <p:cNvSpPr/>
          <p:nvPr/>
        </p:nvSpPr>
        <p:spPr>
          <a:xfrm>
            <a:off x="0" y="6821424"/>
            <a:ext cx="11288607"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Each step is a ticket: paste it as the prompt</a:t>
            </a:r>
            <a:endParaRPr lang="en-US" sz="3800" dirty="0"/>
          </a:p>
        </p:txBody>
      </p:sp>
      <p:sp>
        <p:nvSpPr>
          <p:cNvPr id="10" name="Shape 7"/>
          <p:cNvSpPr/>
          <p:nvPr/>
        </p:nvSpPr>
        <p:spPr>
          <a:xfrm>
            <a:off x="640080" y="1874520"/>
            <a:ext cx="5474643" cy="3494151"/>
          </a:xfrm>
          <a:prstGeom prst="rect">
            <a:avLst/>
          </a:prstGeom>
          <a:solidFill>
            <a:srgbClr val="0E1014"/>
          </a:solidFill>
          <a:ln w="9525">
            <a:solidFill>
              <a:srgbClr val="2A2F3A"/>
            </a:solidFill>
            <a:prstDash val="solid"/>
          </a:ln>
        </p:spPr>
      </p:sp>
      <p:sp>
        <p:nvSpPr>
          <p:cNvPr id="11" name="Text 8"/>
          <p:cNvSpPr txBox="1"/>
          <p:nvPr/>
        </p:nvSpPr>
        <p:spPr>
          <a:xfrm>
            <a:off x="822960" y="2020824"/>
            <a:ext cx="5108883" cy="3201543"/>
          </a:xfrm>
          <a:prstGeom prst="rect">
            <a:avLst/>
          </a:prstGeom>
          <a:noFill/>
          <a:ln/>
        </p:spPr>
        <p:txBody>
          <a:bodyPr wrap="square" lIns="0" tIns="0" rIns="0" bIns="0" rtlCol="0" anchor="t"/>
          <a:lstStyle/>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Create a Payload collection </a:t>
            </a:r>
            <a:r>
              <a:rPr lang="en-US" sz="1050" dirty="0">
                <a:solidFill>
                  <a:srgbClr val="FFCF3F"/>
                </a:solidFill>
                <a:latin typeface="IBM Plex Mono" pitchFamily="34" charset="0"/>
                <a:ea typeface="IBM Plex Mono" pitchFamily="34" charset="-122"/>
                <a:cs typeface="IBM Plex Mono" pitchFamily="34" charset="-120"/>
              </a:rPr>
              <a:t>projects</a:t>
            </a:r>
            <a:r>
              <a:rPr lang="en-US" sz="1050" dirty="0">
                <a:solidFill>
                  <a:srgbClr val="ECEEF3"/>
                </a:solidFill>
                <a:latin typeface="IBM Plex Mono" pitchFamily="34" charset="0"/>
                <a:ea typeface="IBM Plex Mono" pitchFamily="34" charset="-122"/>
                <a:cs typeface="IBM Plex Mono" pitchFamily="34" charset="-120"/>
              </a:rPr>
              <a:t> in</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apps/cms/src/collections/Projects.ts, following the</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conventions in CLAUDE.md and the pattern in Services.ts.</a:t>
            </a:r>
            <a:endParaRPr lang="en-US" sz="1050" dirty="0"/>
          </a:p>
          <a:p>
            <a:pPr indent="0" marL="0">
              <a:lnSpc>
                <a:spcPct val="115000"/>
              </a:lnSpc>
              <a:buNone/>
            </a:pP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Fields: title (text, required), slug (text, required,</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unique, sidebar, auto from title), client (text, required),</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role (text, required), summary (textarea, required, max 240),</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projectUrl + repoUrl (text, sidebar),</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completedOn (date, required, sidebar),</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stack (array 1–8 of name:text),</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highlights (array 1–4 of value:text + label:text).</a:t>
            </a:r>
            <a:endParaRPr lang="en-US" sz="1050" dirty="0"/>
          </a:p>
          <a:p>
            <a:pPr indent="0" marL="0">
              <a:lnSpc>
                <a:spcPct val="115000"/>
              </a:lnSpc>
              <a:buNone/>
            </a:pP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Access: public read, everything else requires a user.</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Admin group "Content", useAsTitle title.</a:t>
            </a:r>
            <a:endParaRPr lang="en-US" sz="1050" dirty="0"/>
          </a:p>
          <a:p>
            <a:pPr indent="0" marL="0">
              <a:lnSpc>
                <a:spcPct val="115000"/>
              </a:lnSpc>
              <a:buNone/>
            </a:pPr>
            <a:r>
              <a:rPr lang="en-US" sz="1050" dirty="0">
                <a:solidFill>
                  <a:srgbClr val="ECEEF3"/>
                </a:solidFill>
                <a:latin typeface="IBM Plex Mono" pitchFamily="34" charset="0"/>
                <a:ea typeface="IBM Plex Mono" pitchFamily="34" charset="-122"/>
                <a:cs typeface="IBM Plex Mono" pitchFamily="34" charset="-120"/>
              </a:rPr>
              <a:t>Register it in payload.config.ts, run pnpm generate:types.</a:t>
            </a:r>
            <a:endParaRPr lang="en-US" sz="1050" dirty="0"/>
          </a:p>
          <a:p>
            <a:pPr indent="0" marL="0">
              <a:lnSpc>
                <a:spcPct val="115000"/>
              </a:lnSpc>
              <a:buNone/>
            </a:pPr>
            <a:endParaRPr lang="en-US" sz="1050" dirty="0"/>
          </a:p>
          <a:p>
            <a:pPr indent="0" marL="0">
              <a:lnSpc>
                <a:spcPct val="115000"/>
              </a:lnSpc>
              <a:buNone/>
            </a:pPr>
            <a:r>
              <a:rPr lang="en-US" sz="1050" dirty="0">
                <a:solidFill>
                  <a:srgbClr val="FFCF3F"/>
                </a:solidFill>
                <a:latin typeface="IBM Plex Mono" pitchFamily="34" charset="0"/>
                <a:ea typeface="IBM Plex Mono" pitchFamily="34" charset="-122"/>
                <a:cs typeface="IBM Plex Mono" pitchFamily="34" charset="-120"/>
              </a:rPr>
              <a:t>Acceptance:</a:t>
            </a:r>
            <a:r>
              <a:rPr lang="en-US" sz="1050" dirty="0">
                <a:solidFill>
                  <a:srgbClr val="ECEEF3"/>
                </a:solidFill>
                <a:latin typeface="IBM Plex Mono" pitchFamily="34" charset="0"/>
                <a:ea typeface="IBM Plex Mono" pitchFamily="34" charset="-122"/>
                <a:cs typeface="IBM Plex Mono" pitchFamily="34" charset="-120"/>
              </a:rPr>
              <a:t> pnpm verify 1 is green.</a:t>
            </a:r>
            <a:endParaRPr lang="en-US" sz="1050" dirty="0"/>
          </a:p>
        </p:txBody>
      </p:sp>
      <p:sp>
        <p:nvSpPr>
          <p:cNvPr id="12" name="Text 9"/>
          <p:cNvSpPr txBox="1"/>
          <p:nvPr/>
        </p:nvSpPr>
        <p:spPr>
          <a:xfrm>
            <a:off x="6571923" y="1837944"/>
            <a:ext cx="457200" cy="457200"/>
          </a:xfrm>
          <a:prstGeom prst="rect">
            <a:avLst/>
          </a:prstGeom>
          <a:noFill/>
          <a:ln/>
        </p:spPr>
        <p:txBody>
          <a:bodyPr wrap="square" lIns="0" tIns="0" rIns="0" bIns="0" rtlCol="0" anchor="t"/>
          <a:lstStyle/>
          <a:p>
            <a:pPr indent="0" marL="0">
              <a:buNone/>
            </a:pPr>
            <a:r>
              <a:rPr lang="en-US" sz="2200" b="1" dirty="0">
                <a:solidFill>
                  <a:srgbClr val="FFCF3F"/>
                </a:solidFill>
                <a:latin typeface="IBM Plex Sans" pitchFamily="34" charset="0"/>
                <a:ea typeface="IBM Plex Sans" pitchFamily="34" charset="-122"/>
                <a:cs typeface="IBM Plex Sans" pitchFamily="34" charset="-120"/>
              </a:rPr>
              <a:t>→</a:t>
            </a:r>
            <a:endParaRPr lang="en-US" sz="2200" dirty="0"/>
          </a:p>
        </p:txBody>
      </p:sp>
      <p:sp>
        <p:nvSpPr>
          <p:cNvPr id="13" name="Text 10"/>
          <p:cNvSpPr txBox="1"/>
          <p:nvPr/>
        </p:nvSpPr>
        <p:spPr>
          <a:xfrm>
            <a:off x="7029123" y="1874520"/>
            <a:ext cx="4519749" cy="320040"/>
          </a:xfrm>
          <a:prstGeom prst="rect">
            <a:avLst/>
          </a:prstGeom>
          <a:noFill/>
          <a:ln/>
        </p:spPr>
        <p:txBody>
          <a:bodyPr wrap="square" lIns="0" tIns="0" rIns="0" bIns="0" rtlCol="0" anchor="t"/>
          <a:lstStyle/>
          <a:p>
            <a:pPr indent="0" marL="0">
              <a:buNone/>
            </a:pPr>
            <a:r>
              <a:rPr lang="en-US" sz="1600" b="1" dirty="0">
                <a:solidFill>
                  <a:srgbClr val="ECEEF3"/>
                </a:solidFill>
                <a:latin typeface="IBM Plex Sans" pitchFamily="34" charset="0"/>
                <a:ea typeface="IBM Plex Sans" pitchFamily="34" charset="-122"/>
                <a:cs typeface="IBM Plex Sans" pitchFamily="34" charset="-120"/>
              </a:rPr>
              <a:t>Where</a:t>
            </a:r>
            <a:endParaRPr lang="en-US" sz="1600" dirty="0"/>
          </a:p>
        </p:txBody>
      </p:sp>
      <p:sp>
        <p:nvSpPr>
          <p:cNvPr id="14" name="Text 11"/>
          <p:cNvSpPr txBox="1"/>
          <p:nvPr/>
        </p:nvSpPr>
        <p:spPr>
          <a:xfrm>
            <a:off x="7029123" y="2176272"/>
            <a:ext cx="4519749" cy="458470"/>
          </a:xfrm>
          <a:prstGeom prst="rect">
            <a:avLst/>
          </a:prstGeom>
          <a:noFill/>
          <a:ln/>
        </p:spPr>
        <p:txBody>
          <a:bodyPr wrap="square" lIns="0" tIns="0" rIns="0" bIns="0" rtlCol="0" anchor="t"/>
          <a:lstStyle/>
          <a:p>
            <a:pPr indent="0" marL="0">
              <a:lnSpc>
                <a:spcPct val="105000"/>
              </a:lnSpc>
              <a:buNone/>
            </a:pPr>
            <a:r>
              <a:rPr lang="en-US" sz="1300" dirty="0">
                <a:solidFill>
                  <a:srgbClr val="9EA7B8"/>
                </a:solidFill>
                <a:latin typeface="IBM Plex Sans" pitchFamily="34" charset="0"/>
                <a:ea typeface="IBM Plex Sans" pitchFamily="34" charset="-122"/>
                <a:cs typeface="IBM Plex Sans" pitchFamily="34" charset="-120"/>
              </a:rPr>
              <a:t>The exact file. Otherwise Claude picks a path and you review a guess.</a:t>
            </a:r>
            <a:endParaRPr lang="en-US" sz="1300" dirty="0"/>
          </a:p>
        </p:txBody>
      </p:sp>
      <p:sp>
        <p:nvSpPr>
          <p:cNvPr id="15" name="Text 12"/>
          <p:cNvSpPr txBox="1"/>
          <p:nvPr/>
        </p:nvSpPr>
        <p:spPr>
          <a:xfrm>
            <a:off x="6571923" y="2707894"/>
            <a:ext cx="457200" cy="457200"/>
          </a:xfrm>
          <a:prstGeom prst="rect">
            <a:avLst/>
          </a:prstGeom>
          <a:noFill/>
          <a:ln/>
        </p:spPr>
        <p:txBody>
          <a:bodyPr wrap="square" lIns="0" tIns="0" rIns="0" bIns="0" rtlCol="0" anchor="t"/>
          <a:lstStyle/>
          <a:p>
            <a:pPr indent="0" marL="0">
              <a:buNone/>
            </a:pPr>
            <a:r>
              <a:rPr lang="en-US" sz="2200" b="1" dirty="0">
                <a:solidFill>
                  <a:srgbClr val="FFCF3F"/>
                </a:solidFill>
                <a:latin typeface="IBM Plex Sans" pitchFamily="34" charset="0"/>
                <a:ea typeface="IBM Plex Sans" pitchFamily="34" charset="-122"/>
                <a:cs typeface="IBM Plex Sans" pitchFamily="34" charset="-120"/>
              </a:rPr>
              <a:t>→</a:t>
            </a:r>
            <a:endParaRPr lang="en-US" sz="2200" dirty="0"/>
          </a:p>
        </p:txBody>
      </p:sp>
      <p:sp>
        <p:nvSpPr>
          <p:cNvPr id="16" name="Text 13"/>
          <p:cNvSpPr txBox="1"/>
          <p:nvPr/>
        </p:nvSpPr>
        <p:spPr>
          <a:xfrm>
            <a:off x="7029123" y="2744470"/>
            <a:ext cx="4519749" cy="320040"/>
          </a:xfrm>
          <a:prstGeom prst="rect">
            <a:avLst/>
          </a:prstGeom>
          <a:noFill/>
          <a:ln/>
        </p:spPr>
        <p:txBody>
          <a:bodyPr wrap="square" lIns="0" tIns="0" rIns="0" bIns="0" rtlCol="0" anchor="t"/>
          <a:lstStyle/>
          <a:p>
            <a:pPr indent="0" marL="0">
              <a:buNone/>
            </a:pPr>
            <a:r>
              <a:rPr lang="en-US" sz="1600" b="1" dirty="0">
                <a:solidFill>
                  <a:srgbClr val="ECEEF3"/>
                </a:solidFill>
                <a:latin typeface="IBM Plex Sans" pitchFamily="34" charset="0"/>
                <a:ea typeface="IBM Plex Sans" pitchFamily="34" charset="-122"/>
                <a:cs typeface="IBM Plex Sans" pitchFamily="34" charset="-120"/>
              </a:rPr>
              <a:t>Pattern to copy</a:t>
            </a:r>
            <a:endParaRPr lang="en-US" sz="1600" dirty="0"/>
          </a:p>
        </p:txBody>
      </p:sp>
      <p:sp>
        <p:nvSpPr>
          <p:cNvPr id="17" name="Text 14"/>
          <p:cNvSpPr txBox="1"/>
          <p:nvPr/>
        </p:nvSpPr>
        <p:spPr>
          <a:xfrm>
            <a:off x="7029123" y="3046222"/>
            <a:ext cx="4519749" cy="252095"/>
          </a:xfrm>
          <a:prstGeom prst="rect">
            <a:avLst/>
          </a:prstGeom>
          <a:noFill/>
          <a:ln/>
        </p:spPr>
        <p:txBody>
          <a:bodyPr wrap="square" lIns="0" tIns="0" rIns="0" bIns="0" rtlCol="0" anchor="t"/>
          <a:lstStyle/>
          <a:p>
            <a:pPr indent="0" marL="0">
              <a:lnSpc>
                <a:spcPct val="105000"/>
              </a:lnSpc>
              <a:buNone/>
            </a:pPr>
            <a:r>
              <a:rPr lang="en-US" sz="1300" dirty="0">
                <a:solidFill>
                  <a:srgbClr val="9EA7B8"/>
                </a:solidFill>
                <a:latin typeface="IBM Plex Sans" pitchFamily="34" charset="0"/>
                <a:ea typeface="IBM Plex Sans" pitchFamily="34" charset="-122"/>
                <a:cs typeface="IBM Plex Sans" pitchFamily="34" charset="-120"/>
              </a:rPr>
              <a:t>"Like Services.ts" carries more than a paragraph of prose.</a:t>
            </a:r>
            <a:endParaRPr lang="en-US" sz="1300" dirty="0"/>
          </a:p>
        </p:txBody>
      </p:sp>
      <p:sp>
        <p:nvSpPr>
          <p:cNvPr id="18" name="Text 15"/>
          <p:cNvSpPr txBox="1"/>
          <p:nvPr/>
        </p:nvSpPr>
        <p:spPr>
          <a:xfrm>
            <a:off x="6571923" y="3371469"/>
            <a:ext cx="457200" cy="457200"/>
          </a:xfrm>
          <a:prstGeom prst="rect">
            <a:avLst/>
          </a:prstGeom>
          <a:noFill/>
          <a:ln/>
        </p:spPr>
        <p:txBody>
          <a:bodyPr wrap="square" lIns="0" tIns="0" rIns="0" bIns="0" rtlCol="0" anchor="t"/>
          <a:lstStyle/>
          <a:p>
            <a:pPr indent="0" marL="0">
              <a:buNone/>
            </a:pPr>
            <a:r>
              <a:rPr lang="en-US" sz="2200" b="1" dirty="0">
                <a:solidFill>
                  <a:srgbClr val="FFCF3F"/>
                </a:solidFill>
                <a:latin typeface="IBM Plex Sans" pitchFamily="34" charset="0"/>
                <a:ea typeface="IBM Plex Sans" pitchFamily="34" charset="-122"/>
                <a:cs typeface="IBM Plex Sans" pitchFamily="34" charset="-120"/>
              </a:rPr>
              <a:t>→</a:t>
            </a:r>
            <a:endParaRPr lang="en-US" sz="2200" dirty="0"/>
          </a:p>
        </p:txBody>
      </p:sp>
      <p:sp>
        <p:nvSpPr>
          <p:cNvPr id="19" name="Text 16"/>
          <p:cNvSpPr txBox="1"/>
          <p:nvPr/>
        </p:nvSpPr>
        <p:spPr>
          <a:xfrm>
            <a:off x="7029123" y="3408045"/>
            <a:ext cx="4519749" cy="320040"/>
          </a:xfrm>
          <a:prstGeom prst="rect">
            <a:avLst/>
          </a:prstGeom>
          <a:noFill/>
          <a:ln/>
        </p:spPr>
        <p:txBody>
          <a:bodyPr wrap="square" lIns="0" tIns="0" rIns="0" bIns="0" rtlCol="0" anchor="t"/>
          <a:lstStyle/>
          <a:p>
            <a:pPr indent="0" marL="0">
              <a:buNone/>
            </a:pPr>
            <a:r>
              <a:rPr lang="en-US" sz="1600" b="1" dirty="0">
                <a:solidFill>
                  <a:srgbClr val="ECEEF3"/>
                </a:solidFill>
                <a:latin typeface="IBM Plex Sans" pitchFamily="34" charset="0"/>
                <a:ea typeface="IBM Plex Sans" pitchFamily="34" charset="-122"/>
                <a:cs typeface="IBM Plex Sans" pitchFamily="34" charset="-120"/>
              </a:rPr>
              <a:t>What, precisely</a:t>
            </a:r>
            <a:endParaRPr lang="en-US" sz="1600" dirty="0"/>
          </a:p>
        </p:txBody>
      </p:sp>
      <p:sp>
        <p:nvSpPr>
          <p:cNvPr id="20" name="Text 17"/>
          <p:cNvSpPr txBox="1"/>
          <p:nvPr/>
        </p:nvSpPr>
        <p:spPr>
          <a:xfrm>
            <a:off x="7029123" y="3709797"/>
            <a:ext cx="4519749" cy="252095"/>
          </a:xfrm>
          <a:prstGeom prst="rect">
            <a:avLst/>
          </a:prstGeom>
          <a:noFill/>
          <a:ln/>
        </p:spPr>
        <p:txBody>
          <a:bodyPr wrap="square" lIns="0" tIns="0" rIns="0" bIns="0" rtlCol="0" anchor="t"/>
          <a:lstStyle/>
          <a:p>
            <a:pPr indent="0" marL="0">
              <a:lnSpc>
                <a:spcPct val="105000"/>
              </a:lnSpc>
              <a:buNone/>
            </a:pPr>
            <a:r>
              <a:rPr lang="en-US" sz="1300" dirty="0">
                <a:solidFill>
                  <a:srgbClr val="9EA7B8"/>
                </a:solidFill>
                <a:latin typeface="IBM Plex Sans" pitchFamily="34" charset="0"/>
                <a:ea typeface="IBM Plex Sans" pitchFamily="34" charset="-122"/>
                <a:cs typeface="IBM Plex Sans" pitchFamily="34" charset="-120"/>
              </a:rPr>
              <a:t>Field names and types, straight from the ACF export.</a:t>
            </a:r>
            <a:endParaRPr lang="en-US" sz="1300" dirty="0"/>
          </a:p>
        </p:txBody>
      </p:sp>
      <p:sp>
        <p:nvSpPr>
          <p:cNvPr id="21" name="Text 18"/>
          <p:cNvSpPr txBox="1"/>
          <p:nvPr/>
        </p:nvSpPr>
        <p:spPr>
          <a:xfrm>
            <a:off x="6571923" y="4035044"/>
            <a:ext cx="457200" cy="457200"/>
          </a:xfrm>
          <a:prstGeom prst="rect">
            <a:avLst/>
          </a:prstGeom>
          <a:noFill/>
          <a:ln/>
        </p:spPr>
        <p:txBody>
          <a:bodyPr wrap="square" lIns="0" tIns="0" rIns="0" bIns="0" rtlCol="0" anchor="t"/>
          <a:lstStyle/>
          <a:p>
            <a:pPr indent="0" marL="0">
              <a:buNone/>
            </a:pPr>
            <a:r>
              <a:rPr lang="en-US" sz="2200" b="1" dirty="0">
                <a:solidFill>
                  <a:srgbClr val="FFCF3F"/>
                </a:solidFill>
                <a:latin typeface="IBM Plex Sans" pitchFamily="34" charset="0"/>
                <a:ea typeface="IBM Plex Sans" pitchFamily="34" charset="-122"/>
                <a:cs typeface="IBM Plex Sans" pitchFamily="34" charset="-120"/>
              </a:rPr>
              <a:t>→</a:t>
            </a:r>
            <a:endParaRPr lang="en-US" sz="2200" dirty="0"/>
          </a:p>
        </p:txBody>
      </p:sp>
      <p:sp>
        <p:nvSpPr>
          <p:cNvPr id="22" name="Text 19"/>
          <p:cNvSpPr txBox="1"/>
          <p:nvPr/>
        </p:nvSpPr>
        <p:spPr>
          <a:xfrm>
            <a:off x="7029123" y="4071620"/>
            <a:ext cx="4519749" cy="320040"/>
          </a:xfrm>
          <a:prstGeom prst="rect">
            <a:avLst/>
          </a:prstGeom>
          <a:noFill/>
          <a:ln/>
        </p:spPr>
        <p:txBody>
          <a:bodyPr wrap="square" lIns="0" tIns="0" rIns="0" bIns="0" rtlCol="0" anchor="t"/>
          <a:lstStyle/>
          <a:p>
            <a:pPr indent="0" marL="0">
              <a:buNone/>
            </a:pPr>
            <a:r>
              <a:rPr lang="en-US" sz="1600" b="1" dirty="0">
                <a:solidFill>
                  <a:srgbClr val="ECEEF3"/>
                </a:solidFill>
                <a:latin typeface="IBM Plex Sans" pitchFamily="34" charset="0"/>
                <a:ea typeface="IBM Plex Sans" pitchFamily="34" charset="-122"/>
                <a:cs typeface="IBM Plex Sans" pitchFamily="34" charset="-120"/>
              </a:rPr>
              <a:t>Acceptance criteria</a:t>
            </a:r>
            <a:endParaRPr lang="en-US" sz="1600" dirty="0"/>
          </a:p>
        </p:txBody>
      </p:sp>
      <p:sp>
        <p:nvSpPr>
          <p:cNvPr id="23" name="Text 20"/>
          <p:cNvSpPr txBox="1"/>
          <p:nvPr/>
        </p:nvSpPr>
        <p:spPr>
          <a:xfrm>
            <a:off x="7029123" y="4373372"/>
            <a:ext cx="4519749" cy="252095"/>
          </a:xfrm>
          <a:prstGeom prst="rect">
            <a:avLst/>
          </a:prstGeom>
          <a:noFill/>
          <a:ln/>
        </p:spPr>
        <p:txBody>
          <a:bodyPr wrap="square" lIns="0" tIns="0" rIns="0" bIns="0" rtlCol="0" anchor="t"/>
          <a:lstStyle/>
          <a:p>
            <a:pPr indent="0" marL="0">
              <a:lnSpc>
                <a:spcPct val="105000"/>
              </a:lnSpc>
              <a:buNone/>
            </a:pPr>
            <a:r>
              <a:rPr lang="en-US" sz="1300" dirty="0">
                <a:solidFill>
                  <a:srgbClr val="9EA7B8"/>
                </a:solidFill>
                <a:latin typeface="IBM Plex Sans" pitchFamily="34" charset="0"/>
                <a:ea typeface="IBM Plex Sans" pitchFamily="34" charset="-122"/>
                <a:cs typeface="IBM Plex Sans" pitchFamily="34" charset="-120"/>
              </a:rPr>
              <a:t>The gate. Without it there is no definition of done.</a:t>
            </a:r>
            <a:endParaRPr lang="en-US" sz="1300" dirty="0"/>
          </a:p>
        </p:txBody>
      </p:sp>
      <p:sp>
        <p:nvSpPr>
          <p:cNvPr id="24" name="Shape 21"/>
          <p:cNvSpPr/>
          <p:nvPr/>
        </p:nvSpPr>
        <p:spPr>
          <a:xfrm>
            <a:off x="6571923" y="4735195"/>
            <a:ext cx="4976949" cy="772668"/>
          </a:xfrm>
          <a:prstGeom prst="rect">
            <a:avLst/>
          </a:prstGeom>
          <a:solidFill>
            <a:srgbClr val="1B1F27"/>
          </a:solidFill>
          <a:ln w="12700">
            <a:solidFill>
              <a:srgbClr val="1B1F27"/>
            </a:solidFill>
            <a:prstDash val="solid"/>
          </a:ln>
        </p:spPr>
      </p:sp>
      <p:sp>
        <p:nvSpPr>
          <p:cNvPr id="25" name="Shape 22"/>
          <p:cNvSpPr/>
          <p:nvPr/>
        </p:nvSpPr>
        <p:spPr>
          <a:xfrm>
            <a:off x="6571923" y="4735195"/>
            <a:ext cx="54864" cy="772668"/>
          </a:xfrm>
          <a:prstGeom prst="rect">
            <a:avLst/>
          </a:prstGeom>
          <a:solidFill>
            <a:srgbClr val="6EA3FF"/>
          </a:solidFill>
          <a:ln w="12700">
            <a:solidFill>
              <a:srgbClr val="6EA3FF"/>
            </a:solidFill>
            <a:prstDash val="solid"/>
          </a:ln>
        </p:spPr>
      </p:sp>
      <p:sp>
        <p:nvSpPr>
          <p:cNvPr id="26" name="Text 23"/>
          <p:cNvSpPr txBox="1"/>
          <p:nvPr/>
        </p:nvSpPr>
        <p:spPr>
          <a:xfrm>
            <a:off x="6846243" y="4881499"/>
            <a:ext cx="4519749" cy="480060"/>
          </a:xfrm>
          <a:prstGeom prst="rect">
            <a:avLst/>
          </a:prstGeom>
          <a:noFill/>
          <a:ln/>
        </p:spPr>
        <p:txBody>
          <a:bodyPr wrap="square" lIns="0" tIns="0" rIns="0" bIns="0" rtlCol="0" anchor="t"/>
          <a:lstStyle/>
          <a:p>
            <a:pPr indent="0" marL="0">
              <a:buNone/>
            </a:pPr>
            <a:r>
              <a:rPr lang="en-US" sz="1400" dirty="0">
                <a:solidFill>
                  <a:srgbClr val="ECEEF3"/>
                </a:solidFill>
                <a:latin typeface="IBM Plex Sans" pitchFamily="34" charset="0"/>
                <a:ea typeface="IBM Plex Sans" pitchFamily="34" charset="-122"/>
                <a:cs typeface="IBM Plex Sans" pitchFamily="34" charset="-120"/>
              </a:rPr>
              <a:t>Green? </a:t>
            </a:r>
            <a:r>
              <a:rPr lang="en-US" sz="1290" dirty="0">
                <a:solidFill>
                  <a:srgbClr val="FFCF3F"/>
                </a:solidFill>
                <a:latin typeface="IBM Plex Mono" pitchFamily="34" charset="0"/>
                <a:ea typeface="IBM Plex Mono" pitchFamily="34" charset="-122"/>
                <a:cs typeface="IBM Plex Mono" pitchFamily="34" charset="-120"/>
              </a:rPr>
              <a:t>git commit -m "feat(cms): add projects collection (step 1)"</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PART 3 · BEFORE YOU GET STUCK</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24 – 30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26 / 27  ·  24:00 – 30:00</a:t>
            </a:r>
            <a:endParaRPr lang="en-US" sz="1000" dirty="0"/>
          </a:p>
        </p:txBody>
      </p:sp>
      <p:sp>
        <p:nvSpPr>
          <p:cNvPr id="8" name="Shape 5"/>
          <p:cNvSpPr/>
          <p:nvPr/>
        </p:nvSpPr>
        <p:spPr>
          <a:xfrm>
            <a:off x="0" y="6821424"/>
            <a:ext cx="11740151"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Common failures and their causes</a:t>
            </a:r>
            <a:endParaRPr lang="en-US" sz="3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914400"/>
        </p:xfrm>
        <a:graphic>
          <a:graphicData uri="http://schemas.openxmlformats.org/drawingml/2006/table">
            <a:tbl>
              <a:tblPr/>
              <a:tblGrid>
                <a:gridCol w="2563566"/>
                <a:gridCol w="5487122"/>
                <a:gridCol w="2858104"/>
              </a:tblGrid>
              <a:tr h="329184">
                <a:tc>
                  <a:txBody>
                    <a:bodyPr/>
                    <a:lstStyle/>
                    <a:p>
                      <a:pPr indent="0" marL="0">
                        <a:buNone/>
                      </a:pPr>
                      <a:r>
                        <a:rPr lang="en-US" sz="1050" spc="120" kern="0" dirty="0">
                          <a:solidFill>
                            <a:srgbClr val="9EA7B8"/>
                          </a:solidFill>
                          <a:latin typeface="IBM Plex Mono" pitchFamily="34" charset="0"/>
                          <a:ea typeface="IBM Plex Mono" pitchFamily="34" charset="-122"/>
                          <a:cs typeface="IBM Plex Mono" pitchFamily="34" charset="-120"/>
                        </a:rPr>
                        <a:t>YOU SEE</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50" spc="120" kern="0" dirty="0">
                          <a:solidFill>
                            <a:srgbClr val="FFCF3F"/>
                          </a:solidFill>
                          <a:latin typeface="IBM Plex Mono" pitchFamily="34" charset="0"/>
                          <a:ea typeface="IBM Plex Mono" pitchFamily="34" charset="-122"/>
                          <a:cs typeface="IBM Plex Mono" pitchFamily="34" charset="-120"/>
                        </a:rPr>
                        <a:t>IT MEANS</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c>
                  <a:txBody>
                    <a:bodyPr/>
                    <a:lstStyle/>
                    <a:p>
                      <a:pPr indent="0" marL="0">
                        <a:buNone/>
                      </a:pPr>
                      <a:r>
                        <a:rPr lang="en-US" sz="1050" spc="120" kern="0" dirty="0">
                          <a:solidFill>
                            <a:srgbClr val="9EA7B8"/>
                          </a:solidFill>
                          <a:latin typeface="IBM Plex Mono" pitchFamily="34" charset="0"/>
                          <a:ea typeface="IBM Plex Mono" pitchFamily="34" charset="-122"/>
                          <a:cs typeface="IBM Plex Mono" pitchFamily="34" charset="-120"/>
                        </a:rPr>
                        <a:t>DO</a:t>
                      </a:r>
                      <a:endParaRPr lang="en-US" sz="1050" dirty="0">
                        <a:latin typeface="IBM Plex Mono" charset="0"/>
                        <a:ea typeface="IBM Plex Mono" charset="0"/>
                        <a:cs typeface="IBM Plex Mono"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B1F27"/>
                    </a:solidFill>
                  </a:tcPr>
                </a:tc>
              </a:tr>
              <a:tr h="49377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"Collection not found" from </a:t>
                      </a:r>
                      <a:r>
                        <a:rPr lang="en-US" sz="1100" dirty="0">
                          <a:solidFill>
                            <a:srgbClr val="ECEEF3"/>
                          </a:solidFill>
                          <a:latin typeface="IBM Plex Mono" pitchFamily="34" charset="0"/>
                          <a:ea typeface="IBM Plex Mono" pitchFamily="34" charset="-122"/>
                          <a:cs typeface="IBM Plex Mono" pitchFamily="34" charset="-120"/>
                        </a:rPr>
                        <a:t>/api/projects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FFCF3F"/>
                          </a:solidFill>
                          <a:latin typeface="IBM Plex Sans" pitchFamily="34" charset="0"/>
                          <a:ea typeface="IBM Plex Sans" pitchFamily="34" charset="-122"/>
                          <a:cs typeface="IBM Plex Sans" pitchFamily="34" charset="-120"/>
                        </a:rPr>
                        <a:t>Not registered in </a:t>
                      </a:r>
                      <a:r>
                        <a:rPr lang="en-US" sz="1100" dirty="0">
                          <a:solidFill>
                            <a:srgbClr val="FFCF3F"/>
                          </a:solidFill>
                          <a:latin typeface="IBM Plex Mono" pitchFamily="34" charset="0"/>
                          <a:ea typeface="IBM Plex Mono" pitchFamily="34" charset="-122"/>
                          <a:cs typeface="IBM Plex Mono" pitchFamily="34" charset="-120"/>
                        </a:rPr>
                        <a:t>payload.config.ts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Add it to the array. Restart the CMS.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Astro does not know the </a:t>
                      </a:r>
                      <a:r>
                        <a:rPr lang="en-US" sz="1100" dirty="0">
                          <a:solidFill>
                            <a:srgbClr val="ECEEF3"/>
                          </a:solidFill>
                          <a:latin typeface="IBM Plex Mono" pitchFamily="34" charset="0"/>
                          <a:ea typeface="IBM Plex Mono" pitchFamily="34" charset="-122"/>
                          <a:cs typeface="IBM Plex Mono" pitchFamily="34" charset="-120"/>
                        </a:rPr>
                        <a:t>Project</a:t>
                      </a:r>
                      <a:r>
                        <a:rPr lang="en-US" sz="1200" dirty="0">
                          <a:solidFill>
                            <a:srgbClr val="ECEEF3"/>
                          </a:solidFill>
                          <a:latin typeface="IBM Plex Sans" pitchFamily="34" charset="0"/>
                          <a:ea typeface="IBM Plex Sans" pitchFamily="34" charset="-122"/>
                          <a:cs typeface="IBM Plex Sans" pitchFamily="34" charset="-120"/>
                        </a:rPr>
                        <a:t> type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FFCF3F"/>
                          </a:solidFill>
                          <a:latin typeface="IBM Plex Sans" pitchFamily="34" charset="0"/>
                          <a:ea typeface="IBM Plex Sans" pitchFamily="34" charset="-122"/>
                          <a:cs typeface="IBM Plex Sans" pitchFamily="34" charset="-120"/>
                        </a:rPr>
                        <a:t>Types were not regenerated</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pnpm generate:types</a:t>
                      </a:r>
                      <a:r>
                        <a:rPr lang="en-US" sz="1200" dirty="0">
                          <a:solidFill>
                            <a:srgbClr val="ECEEF3"/>
                          </a:solidFill>
                          <a:latin typeface="IBM Plex Sans" pitchFamily="34" charset="0"/>
                          <a:ea typeface="IBM Plex Sans" pitchFamily="34" charset="-122"/>
                          <a:cs typeface="IBM Plex Sans" pitchFamily="34" charset="-120"/>
                        </a:rPr>
                        <a:t>, then restart the Astro language server.</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49377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Related services render as numbers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FFCF3F"/>
                          </a:solidFill>
                          <a:latin typeface="IBM Plex Sans" pitchFamily="34" charset="0"/>
                          <a:ea typeface="IBM Plex Sans" pitchFamily="34" charset="-122"/>
                          <a:cs typeface="IBM Plex Sans" pitchFamily="34" charset="-120"/>
                        </a:rPr>
                        <a:t>Depth 0, or the </a:t>
                      </a:r>
                      <a:r>
                        <a:rPr lang="en-US" sz="1100" dirty="0">
                          <a:solidFill>
                            <a:srgbClr val="FFCF3F"/>
                          </a:solidFill>
                          <a:latin typeface="IBM Plex Mono" pitchFamily="34" charset="0"/>
                          <a:ea typeface="IBM Plex Mono" pitchFamily="34" charset="-122"/>
                          <a:cs typeface="IBM Plex Mono" pitchFamily="34" charset="-120"/>
                        </a:rPr>
                        <a:t>number | Service</a:t>
                      </a:r>
                      <a:r>
                        <a:rPr lang="en-US" sz="1200" dirty="0">
                          <a:solidFill>
                            <a:srgbClr val="FFCF3F"/>
                          </a:solidFill>
                          <a:latin typeface="IBM Plex Sans" pitchFamily="34" charset="0"/>
                          <a:ea typeface="IBM Plex Sans" pitchFamily="34" charset="-122"/>
                          <a:cs typeface="IBM Plex Sans" pitchFamily="34" charset="-120"/>
                        </a:rPr>
                        <a:t> union is unhandled</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depth: 1</a:t>
                      </a:r>
                      <a:r>
                        <a:rPr lang="en-US" sz="1200" dirty="0">
                          <a:solidFill>
                            <a:srgbClr val="ECEEF3"/>
                          </a:solidFill>
                          <a:latin typeface="IBM Plex Sans" pitchFamily="34" charset="0"/>
                          <a:ea typeface="IBM Plex Sans" pitchFamily="34" charset="-122"/>
                          <a:cs typeface="IBM Plex Sans" pitchFamily="34" charset="-120"/>
                        </a:rPr>
                        <a:t> in the query, </a:t>
                      </a:r>
                      <a:r>
                        <a:rPr lang="en-US" sz="1100" dirty="0">
                          <a:solidFill>
                            <a:srgbClr val="ECEEF3"/>
                          </a:solidFill>
                          <a:latin typeface="IBM Plex Mono" pitchFamily="34" charset="0"/>
                          <a:ea typeface="IBM Plex Mono" pitchFamily="34" charset="-122"/>
                          <a:cs typeface="IBM Plex Mono" pitchFamily="34" charset="-120"/>
                        </a:rPr>
                        <a:t>typeof s === 'object'</a:t>
                      </a:r>
                      <a:r>
                        <a:rPr lang="en-US" sz="1200" dirty="0">
                          <a:solidFill>
                            <a:srgbClr val="ECEEF3"/>
                          </a:solidFill>
                          <a:latin typeface="IBM Plex Sans" pitchFamily="34" charset="0"/>
                          <a:ea typeface="IBM Plex Sans" pitchFamily="34" charset="-122"/>
                          <a:cs typeface="IBM Plex Sans" pitchFamily="34" charset="-120"/>
                        </a:rPr>
                        <a:t> guard.</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676656">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Every Bash command Claude runs is blocked</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FFCF3F"/>
                          </a:solidFill>
                          <a:latin typeface="IBM Plex Mono" pitchFamily="34" charset="0"/>
                          <a:ea typeface="IBM Plex Mono" pitchFamily="34" charset="-122"/>
                          <a:cs typeface="IBM Plex Mono" pitchFamily="34" charset="-120"/>
                        </a:rPr>
                        <a:t>jq</a:t>
                      </a:r>
                      <a:r>
                        <a:rPr lang="en-US" sz="1200" dirty="0">
                          <a:solidFill>
                            <a:srgbClr val="FFCF3F"/>
                          </a:solidFill>
                          <a:latin typeface="IBM Plex Sans" pitchFamily="34" charset="0"/>
                          <a:ea typeface="IBM Plex Sans" pitchFamily="34" charset="-122"/>
                          <a:cs typeface="IBM Plex Sans" pitchFamily="34" charset="-120"/>
                        </a:rPr>
                        <a:t> is missing and the safety hook fails closed</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brew install jq</a:t>
                      </a:r>
                      <a:r>
                        <a:rPr lang="en-US" sz="1200" dirty="0">
                          <a:solidFill>
                            <a:srgbClr val="ECEEF3"/>
                          </a:solidFill>
                          <a:latin typeface="IBM Plex Sans" pitchFamily="34" charset="0"/>
                          <a:ea typeface="IBM Plex Sans" pitchFamily="34" charset="-122"/>
                          <a:cs typeface="IBM Plex Sans" pitchFamily="34" charset="-120"/>
                        </a:rPr>
                        <a:t>, restart Claude Code. This is why </a:t>
                      </a:r>
                      <a:r>
                        <a:rPr lang="en-US" sz="1100" dirty="0">
                          <a:solidFill>
                            <a:srgbClr val="ECEEF3"/>
                          </a:solidFill>
                          <a:latin typeface="IBM Plex Mono" pitchFamily="34" charset="0"/>
                          <a:ea typeface="IBM Plex Mono" pitchFamily="34" charset="-122"/>
                          <a:cs typeface="IBM Plex Mono" pitchFamily="34" charset="-120"/>
                        </a:rPr>
                        <a:t>pnpm doctor</a:t>
                      </a:r>
                      <a:r>
                        <a:rPr lang="en-US" sz="1200" dirty="0">
                          <a:solidFill>
                            <a:srgbClr val="ECEEF3"/>
                          </a:solidFill>
                          <a:latin typeface="IBM Plex Sans" pitchFamily="34" charset="0"/>
                          <a:ea typeface="IBM Plex Sans" pitchFamily="34" charset="-122"/>
                          <a:cs typeface="IBM Plex Sans" pitchFamily="34" charset="-120"/>
                        </a:rPr>
                        <a:t> exists.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r h="676656">
                <a:tc>
                  <a:txBody>
                    <a:bodyPr/>
                    <a:lstStyle/>
                    <a:p>
                      <a:pPr indent="0" marL="0">
                        <a:buNone/>
                      </a:pPr>
                      <a:r>
                        <a:rPr lang="en-US" sz="1100" dirty="0">
                          <a:solidFill>
                            <a:srgbClr val="ECEEF3"/>
                          </a:solidFill>
                          <a:latin typeface="IBM Plex Mono" pitchFamily="34" charset="0"/>
                          <a:ea typeface="IBM Plex Mono" pitchFamily="34" charset="-122"/>
                          <a:cs typeface="IBM Plex Mono" pitchFamily="34" charset="-120"/>
                        </a:rPr>
                        <a:t>pnpm verify</a:t>
                      </a:r>
                      <a:r>
                        <a:rPr lang="en-US" sz="1200" dirty="0">
                          <a:solidFill>
                            <a:srgbClr val="ECEEF3"/>
                          </a:solidFill>
                          <a:latin typeface="IBM Plex Sans" pitchFamily="34" charset="0"/>
                          <a:ea typeface="IBM Plex Sans" pitchFamily="34" charset="-122"/>
                          <a:cs typeface="IBM Plex Sans" pitchFamily="34" charset="-120"/>
                        </a:rPr>
                        <a:t> is red on a criterion you think you met</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FFCF3F"/>
                          </a:solidFill>
                          <a:latin typeface="IBM Plex Sans" pitchFamily="34" charset="0"/>
                          <a:ea typeface="IBM Plex Sans" pitchFamily="34" charset="-122"/>
                          <a:cs typeface="IBM Plex Sans" pitchFamily="34" charset="-120"/>
                        </a:rPr>
                        <a:t>It is checking the running server, not your file</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c>
                  <a:txBody>
                    <a:bodyPr/>
                    <a:lstStyle/>
                    <a:p>
                      <a:pPr indent="0" marL="0">
                        <a:buNone/>
                      </a:pPr>
                      <a:r>
                        <a:rPr lang="en-US" sz="1200" dirty="0">
                          <a:solidFill>
                            <a:srgbClr val="ECEEF3"/>
                          </a:solidFill>
                          <a:latin typeface="IBM Plex Sans" pitchFamily="34" charset="0"/>
                          <a:ea typeface="IBM Plex Sans" pitchFamily="34" charset="-122"/>
                          <a:cs typeface="IBM Plex Sans" pitchFamily="34" charset="-120"/>
                        </a:rPr>
                        <a:t>Read the </a:t>
                      </a:r>
                      <a:r>
                        <a:rPr lang="en-US" sz="1100" dirty="0">
                          <a:solidFill>
                            <a:srgbClr val="ECEEF3"/>
                          </a:solidFill>
                          <a:latin typeface="IBM Plex Mono" pitchFamily="34" charset="0"/>
                          <a:ea typeface="IBM Plex Mono" pitchFamily="34" charset="-122"/>
                          <a:cs typeface="IBM Plex Mono" pitchFamily="34" charset="-120"/>
                        </a:rPr>
                        <a:t>→</a:t>
                      </a:r>
                      <a:r>
                        <a:rPr lang="en-US" sz="1200" dirty="0">
                          <a:solidFill>
                            <a:srgbClr val="ECEEF3"/>
                          </a:solidFill>
                          <a:latin typeface="IBM Plex Sans" pitchFamily="34" charset="0"/>
                          <a:ea typeface="IBM Plex Sans" pitchFamily="34" charset="-122"/>
                          <a:cs typeface="IBM Plex Sans" pitchFamily="34" charset="-120"/>
                        </a:rPr>
                        <a:t> hint line; it names the file or command. Usually: restart the CMS, or regenerate types.</a:t>
                      </a:r>
                      <a:endParaRPr lang="en-US" sz="1200" dirty="0">
                        <a:latin typeface="IBM Plex Sans" charset="0"/>
                        <a:ea typeface="IBM Plex Sans" charset="0"/>
                        <a:cs typeface="IBM Plex Sans" charset="0"/>
                      </a:endParaRPr>
                    </a:p>
                  </a:txBody>
                  <a:tcPr marL="91440" marR="91440" marT="54864" marB="54864" anchor="ctr">
                    <a:lnL w="6350" cap="flat" cmpd="sng" algn="ctr">
                      <a:solidFill>
                        <a:srgbClr val="2A2F3A"/>
                      </a:solidFill>
                      <a:prstDash val="solid"/>
                      <a:round/>
                      <a:headEnd type="none" w="med" len="med"/>
                      <a:tailEnd type="none" w="med" len="med"/>
                    </a:lnL>
                    <a:lnR w="6350" cap="flat" cmpd="sng" algn="ctr">
                      <a:solidFill>
                        <a:srgbClr val="2A2F3A"/>
                      </a:solidFill>
                      <a:prstDash val="solid"/>
                      <a:round/>
                      <a:headEnd type="none" w="med" len="med"/>
                      <a:tailEnd type="none" w="med" len="med"/>
                    </a:lnR>
                    <a:lnT w="6350" cap="flat" cmpd="sng" algn="ctr">
                      <a:solidFill>
                        <a:srgbClr val="2A2F3A"/>
                      </a:solidFill>
                      <a:prstDash val="solid"/>
                      <a:round/>
                      <a:headEnd type="none" w="med" len="med"/>
                      <a:tailEnd type="none" w="med" len="med"/>
                    </a:lnT>
                    <a:lnB w="6350" cap="flat" cmpd="sng" algn="ctr">
                      <a:solidFill>
                        <a:srgbClr val="2A2F3A"/>
                      </a:solidFill>
                      <a:prstDash val="solid"/>
                      <a:round/>
                      <a:headEnd type="none" w="med" len="med"/>
                      <a:tailEnd type="none" w="med" len="med"/>
                    </a:lnB>
                    <a:solidFill>
                      <a:srgbClr val="14171D"/>
                    </a:solidFill>
                  </a:tcPr>
                </a:tc>
              </a:tr>
            </a:tbl>
          </a:graphicData>
        </a:graphic>
      </p:graphicFrame>
      <p:sp>
        <p:nvSpPr>
          <p:cNvPr id="11" name="Text 7"/>
          <p:cNvSpPr txBox="1"/>
          <p:nvPr/>
        </p:nvSpPr>
        <p:spPr>
          <a:xfrm>
            <a:off x="640080" y="5266944"/>
            <a:ext cx="10908792"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The full table is in </a:t>
            </a:r>
            <a:r>
              <a:rPr lang="en-US" sz="1290" dirty="0">
                <a:solidFill>
                  <a:srgbClr val="FFCF3F"/>
                </a:solidFill>
                <a:latin typeface="IBM Plex Mono" pitchFamily="34" charset="0"/>
                <a:ea typeface="IBM Plex Mono" pitchFamily="34" charset="-122"/>
                <a:cs typeface="IBM Plex Mono" pitchFamily="34" charset="-120"/>
              </a:rPr>
              <a:t>docs/FACILITATOR_GUIDE.md</a:t>
            </a:r>
            <a:r>
              <a:rPr lang="en-US" sz="1400" dirty="0">
                <a:solidFill>
                  <a:srgbClr val="9EA7B8"/>
                </a:solidFill>
                <a:latin typeface="IBM Plex Sans" pitchFamily="34" charset="0"/>
                <a:ea typeface="IBM Plex Sans" pitchFamily="34" charset="-122"/>
                <a:cs typeface="IBM Plex Sans" pitchFamily="34" charset="-120"/>
              </a:rPr>
              <a:t>. Every row has a cause and a fix.</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71D"/>
        </a:solidFill>
      </p:bgPr>
    </p:bg>
    <p:spTree>
      <p:nvGrpSpPr>
        <p:cNvPr id="1" name=""/>
        <p:cNvGrpSpPr/>
        <p:nvPr/>
      </p:nvGrpSpPr>
      <p:grpSpPr>
        <a:xfrm>
          <a:off x="0" y="0"/>
          <a:ext cx="0" cy="0"/>
          <a:chOff x="0" y="0"/>
          <a:chExt cx="0" cy="0"/>
        </a:xfrm>
      </p:grpSpPr>
      <p:sp>
        <p:nvSpPr>
          <p:cNvPr id="3" name="Shape 0"/>
          <p:cNvSpPr/>
          <p:nvPr/>
        </p:nvSpPr>
        <p:spPr>
          <a:xfrm>
            <a:off x="640080" y="566928"/>
            <a:ext cx="128016" cy="128016"/>
          </a:xfrm>
          <a:prstGeom prst="ellipse">
            <a:avLst/>
          </a:prstGeom>
          <a:solidFill>
            <a:srgbClr val="6B7385"/>
          </a:solidFill>
          <a:ln w="12700">
            <a:solidFill>
              <a:srgbClr val="6B7385"/>
            </a:solidFill>
            <a:prstDash val="solid"/>
          </a:ln>
        </p:spPr>
      </p:sp>
      <p:sp>
        <p:nvSpPr>
          <p:cNvPr id="4" name="Text 1"/>
          <p:cNvSpPr txBox="1"/>
          <p:nvPr/>
        </p:nvSpPr>
        <p:spPr>
          <a:xfrm>
            <a:off x="886968" y="502920"/>
            <a:ext cx="7772400" cy="274320"/>
          </a:xfrm>
          <a:prstGeom prst="rect">
            <a:avLst/>
          </a:prstGeom>
          <a:noFill/>
          <a:ln/>
        </p:spPr>
        <p:txBody>
          <a:bodyPr wrap="square" lIns="0" tIns="0" rIns="0" bIns="0" rtlCol="0" anchor="t"/>
          <a:lstStyle/>
          <a:p>
            <a:pPr indent="0" marL="0">
              <a:buNone/>
            </a:pPr>
            <a:r>
              <a:rPr lang="en-US" sz="1100" spc="150" kern="0" dirty="0">
                <a:solidFill>
                  <a:srgbClr val="9EA7B8"/>
                </a:solidFill>
                <a:latin typeface="IBM Plex Mono" pitchFamily="34" charset="0"/>
                <a:ea typeface="IBM Plex Mono" pitchFamily="34" charset="-122"/>
                <a:cs typeface="IBM Plex Mono" pitchFamily="34" charset="-120"/>
              </a:rPr>
              <a:t>GO</a:t>
            </a:r>
            <a:endParaRPr lang="en-US" sz="1100" dirty="0"/>
          </a:p>
        </p:txBody>
      </p:sp>
      <p:sp>
        <p:nvSpPr>
          <p:cNvPr id="5" name="Text 2"/>
          <p:cNvSpPr txBox="1"/>
          <p:nvPr/>
        </p:nvSpPr>
        <p:spPr>
          <a:xfrm>
            <a:off x="8805672" y="502920"/>
            <a:ext cx="2743200" cy="274320"/>
          </a:xfrm>
          <a:prstGeom prst="rect">
            <a:avLst/>
          </a:prstGeom>
          <a:noFill/>
          <a:ln/>
        </p:spPr>
        <p:txBody>
          <a:bodyPr wrap="square" lIns="0" tIns="0" rIns="0" bIns="0" rtlCol="0" anchor="t"/>
          <a:lstStyle/>
          <a:p>
            <a:pPr algn="r" indent="0" marL="0">
              <a:buNone/>
            </a:pPr>
            <a:r>
              <a:rPr lang="en-US" sz="1100" dirty="0">
                <a:solidFill>
                  <a:srgbClr val="6B7385"/>
                </a:solidFill>
                <a:latin typeface="IBM Plex Mono" pitchFamily="34" charset="0"/>
                <a:ea typeface="IBM Plex Mono" pitchFamily="34" charset="-122"/>
                <a:cs typeface="IBM Plex Mono" pitchFamily="34" charset="-120"/>
              </a:rPr>
              <a:t>30 min</a:t>
            </a:r>
            <a:endParaRPr lang="en-US" sz="1100" dirty="0"/>
          </a:p>
        </p:txBody>
      </p:sp>
      <p:sp>
        <p:nvSpPr>
          <p:cNvPr id="6" name="Text 3"/>
          <p:cNvSpPr txBox="1"/>
          <p:nvPr/>
        </p:nvSpPr>
        <p:spPr>
          <a:xfrm>
            <a:off x="640080" y="6400800"/>
            <a:ext cx="5486400" cy="274320"/>
          </a:xfrm>
          <a:prstGeom prst="rect">
            <a:avLst/>
          </a:prstGeom>
          <a:noFill/>
          <a:ln/>
        </p:spPr>
        <p:txBody>
          <a:bodyPr wrap="square" lIns="0" tIns="0" rIns="0" bIns="0" rtlCol="0" anchor="t"/>
          <a:lstStyle/>
          <a:p>
            <a:pPr indent="0" marL="0">
              <a:buNone/>
            </a:pPr>
            <a:r>
              <a:rPr lang="en-US" sz="1000" spc="100" kern="0" dirty="0">
                <a:solidFill>
                  <a:srgbClr val="6B7385"/>
                </a:solidFill>
                <a:latin typeface="IBM Plex Mono" pitchFamily="34" charset="0"/>
                <a:ea typeface="IBM Plex Mono" pitchFamily="34" charset="-122"/>
                <a:cs typeface="IBM Plex Mono" pitchFamily="34" charset="-120"/>
              </a:rPr>
              <a:t>WEBEE L&amp;D · ASTRO + PAYLOAD WITH CLAUDE CODE</a:t>
            </a:r>
            <a:endParaRPr lang="en-US" sz="1000" dirty="0"/>
          </a:p>
        </p:txBody>
      </p:sp>
      <p:sp>
        <p:nvSpPr>
          <p:cNvPr id="7" name="Text 4"/>
          <p:cNvSpPr txBox="1"/>
          <p:nvPr/>
        </p:nvSpPr>
        <p:spPr>
          <a:xfrm>
            <a:off x="7891272" y="6400800"/>
            <a:ext cx="3657600" cy="274320"/>
          </a:xfrm>
          <a:prstGeom prst="rect">
            <a:avLst/>
          </a:prstGeom>
          <a:noFill/>
          <a:ln/>
        </p:spPr>
        <p:txBody>
          <a:bodyPr wrap="square" lIns="0" tIns="0" rIns="0" bIns="0" rtlCol="0" anchor="t"/>
          <a:lstStyle/>
          <a:p>
            <a:pPr algn="r" indent="0" marL="0">
              <a:buNone/>
            </a:pPr>
            <a:r>
              <a:rPr lang="en-US" sz="1000" dirty="0">
                <a:solidFill>
                  <a:srgbClr val="6B7385"/>
                </a:solidFill>
                <a:latin typeface="IBM Plex Mono" pitchFamily="34" charset="0"/>
                <a:ea typeface="IBM Plex Mono" pitchFamily="34" charset="-122"/>
                <a:cs typeface="IBM Plex Mono" pitchFamily="34" charset="-120"/>
              </a:rPr>
              <a:t>27 / 27  ·  30:00</a:t>
            </a:r>
            <a:endParaRPr lang="en-US" sz="1000" dirty="0"/>
          </a:p>
        </p:txBody>
      </p:sp>
      <p:sp>
        <p:nvSpPr>
          <p:cNvPr id="8" name="Shape 5"/>
          <p:cNvSpPr/>
          <p:nvPr/>
        </p:nvSpPr>
        <p:spPr>
          <a:xfrm>
            <a:off x="0" y="6821424"/>
            <a:ext cx="12191695" cy="36576"/>
          </a:xfrm>
          <a:prstGeom prst="rect">
            <a:avLst/>
          </a:prstGeom>
          <a:solidFill>
            <a:srgbClr val="FFCF3F"/>
          </a:solidFill>
          <a:ln w="12700">
            <a:solidFill>
              <a:srgbClr val="FFCF3F"/>
            </a:solidFill>
            <a:prstDash val="solid"/>
          </a:ln>
        </p:spPr>
      </p:sp>
      <p:sp>
        <p:nvSpPr>
          <p:cNvPr id="9" name="Text 6"/>
          <p:cNvSpPr txBox="1"/>
          <p:nvPr/>
        </p:nvSpPr>
        <p:spPr>
          <a:xfrm>
            <a:off x="640080" y="914400"/>
            <a:ext cx="10908792" cy="914400"/>
          </a:xfrm>
          <a:prstGeom prst="rect">
            <a:avLst/>
          </a:prstGeom>
          <a:noFill/>
          <a:ln/>
        </p:spPr>
        <p:txBody>
          <a:bodyPr wrap="square" lIns="0" tIns="0" rIns="0" bIns="0" rtlCol="0" anchor="ctr"/>
          <a:lstStyle/>
          <a:p>
            <a:pPr indent="0" marL="0">
              <a:lnSpc>
                <a:spcPct val="100000"/>
              </a:lnSpc>
              <a:buNone/>
            </a:pPr>
            <a:r>
              <a:rPr lang="en-US" sz="3800" b="1" dirty="0">
                <a:solidFill>
                  <a:srgbClr val="ECEEF3"/>
                </a:solidFill>
                <a:latin typeface="IBM Plex Sans" pitchFamily="34" charset="0"/>
                <a:ea typeface="IBM Plex Sans" pitchFamily="34" charset="-122"/>
                <a:cs typeface="IBM Plex Sans" pitchFamily="34" charset="-120"/>
              </a:rPr>
              <a:t>Start: pnpm dev, pnpm verify 0, plan mode</a:t>
            </a:r>
            <a:endParaRPr lang="en-US" sz="3800" dirty="0"/>
          </a:p>
        </p:txBody>
      </p:sp>
      <p:sp>
        <p:nvSpPr>
          <p:cNvPr id="10" name="Text 7"/>
          <p:cNvSpPr txBox="1"/>
          <p:nvPr/>
        </p:nvSpPr>
        <p:spPr>
          <a:xfrm>
            <a:off x="640080" y="1911096"/>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run</a:t>
            </a:r>
            <a:endParaRPr lang="en-US" sz="1100" dirty="0"/>
          </a:p>
        </p:txBody>
      </p:sp>
      <p:sp>
        <p:nvSpPr>
          <p:cNvPr id="11" name="Text 8"/>
          <p:cNvSpPr txBox="1"/>
          <p:nvPr/>
        </p:nvSpPr>
        <p:spPr>
          <a:xfrm>
            <a:off x="1828800" y="1874520"/>
            <a:ext cx="4285923" cy="411480"/>
          </a:xfrm>
          <a:prstGeom prst="rect">
            <a:avLst/>
          </a:prstGeom>
          <a:noFill/>
          <a:ln/>
        </p:spPr>
        <p:txBody>
          <a:bodyPr wrap="square" lIns="0" tIns="0" rIns="0" bIns="0" rtlCol="0" anchor="t"/>
          <a:lstStyle/>
          <a:p>
            <a:pPr indent="0" marL="0">
              <a:lnSpc>
                <a:spcPct val="105000"/>
              </a:lnSpc>
              <a:buNone/>
            </a:pPr>
            <a:r>
              <a:rPr lang="en-US" sz="2200" dirty="0">
                <a:solidFill>
                  <a:srgbClr val="FFCF3F"/>
                </a:solidFill>
                <a:latin typeface="IBM Plex Mono" pitchFamily="34" charset="0"/>
                <a:ea typeface="IBM Plex Mono" pitchFamily="34" charset="-122"/>
                <a:cs typeface="IBM Plex Mono" pitchFamily="34" charset="-120"/>
              </a:rPr>
              <a:t>pnpm dev</a:t>
            </a:r>
            <a:endParaRPr lang="en-US" sz="2200" dirty="0"/>
          </a:p>
        </p:txBody>
      </p:sp>
      <p:sp>
        <p:nvSpPr>
          <p:cNvPr id="12" name="Text 9"/>
          <p:cNvSpPr txBox="1"/>
          <p:nvPr/>
        </p:nvSpPr>
        <p:spPr>
          <a:xfrm>
            <a:off x="640080" y="2432304"/>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gate</a:t>
            </a:r>
            <a:endParaRPr lang="en-US" sz="1100" dirty="0"/>
          </a:p>
        </p:txBody>
      </p:sp>
      <p:sp>
        <p:nvSpPr>
          <p:cNvPr id="13" name="Text 10"/>
          <p:cNvSpPr txBox="1"/>
          <p:nvPr/>
        </p:nvSpPr>
        <p:spPr>
          <a:xfrm>
            <a:off x="1828800" y="2395728"/>
            <a:ext cx="4285923" cy="411480"/>
          </a:xfrm>
          <a:prstGeom prst="rect">
            <a:avLst/>
          </a:prstGeom>
          <a:noFill/>
          <a:ln/>
        </p:spPr>
        <p:txBody>
          <a:bodyPr wrap="square" lIns="0" tIns="0" rIns="0" bIns="0" rtlCol="0" anchor="t"/>
          <a:lstStyle/>
          <a:p>
            <a:pPr indent="0" marL="0">
              <a:lnSpc>
                <a:spcPct val="105000"/>
              </a:lnSpc>
              <a:buNone/>
            </a:pPr>
            <a:r>
              <a:rPr lang="en-US" sz="2200" dirty="0">
                <a:solidFill>
                  <a:srgbClr val="FFCF3F"/>
                </a:solidFill>
                <a:latin typeface="IBM Plex Mono" pitchFamily="34" charset="0"/>
                <a:ea typeface="IBM Plex Mono" pitchFamily="34" charset="-122"/>
                <a:cs typeface="IBM Plex Mono" pitchFamily="34" charset="-120"/>
              </a:rPr>
              <a:t>pnpm verify 0</a:t>
            </a:r>
            <a:endParaRPr lang="en-US" sz="2200" dirty="0"/>
          </a:p>
        </p:txBody>
      </p:sp>
      <p:sp>
        <p:nvSpPr>
          <p:cNvPr id="14" name="Text 11"/>
          <p:cNvSpPr txBox="1"/>
          <p:nvPr/>
        </p:nvSpPr>
        <p:spPr>
          <a:xfrm>
            <a:off x="640080" y="2953512"/>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site</a:t>
            </a:r>
            <a:endParaRPr lang="en-US" sz="1100" dirty="0"/>
          </a:p>
        </p:txBody>
      </p:sp>
      <p:sp>
        <p:nvSpPr>
          <p:cNvPr id="15" name="Text 12"/>
          <p:cNvSpPr txBox="1"/>
          <p:nvPr/>
        </p:nvSpPr>
        <p:spPr>
          <a:xfrm>
            <a:off x="1828800" y="2916936"/>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http://localhost:4321</a:t>
            </a:r>
            <a:endParaRPr lang="en-US" sz="1380" dirty="0"/>
          </a:p>
        </p:txBody>
      </p:sp>
      <p:sp>
        <p:nvSpPr>
          <p:cNvPr id="16" name="Text 13"/>
          <p:cNvSpPr txBox="1"/>
          <p:nvPr/>
        </p:nvSpPr>
        <p:spPr>
          <a:xfrm>
            <a:off x="640080" y="3365754"/>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admin</a:t>
            </a:r>
            <a:endParaRPr lang="en-US" sz="1100" dirty="0"/>
          </a:p>
        </p:txBody>
      </p:sp>
      <p:sp>
        <p:nvSpPr>
          <p:cNvPr id="17" name="Text 14"/>
          <p:cNvSpPr txBox="1"/>
          <p:nvPr/>
        </p:nvSpPr>
        <p:spPr>
          <a:xfrm>
            <a:off x="1828800" y="3329178"/>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http://localhost:3300/admin</a:t>
            </a:r>
            <a:endParaRPr lang="en-US" sz="1380" dirty="0"/>
          </a:p>
        </p:txBody>
      </p:sp>
      <p:sp>
        <p:nvSpPr>
          <p:cNvPr id="18" name="Text 15"/>
          <p:cNvSpPr txBox="1"/>
          <p:nvPr/>
        </p:nvSpPr>
        <p:spPr>
          <a:xfrm>
            <a:off x="640080" y="3777996"/>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login</a:t>
            </a:r>
            <a:endParaRPr lang="en-US" sz="1100" dirty="0"/>
          </a:p>
        </p:txBody>
      </p:sp>
      <p:sp>
        <p:nvSpPr>
          <p:cNvPr id="19" name="Text 16"/>
          <p:cNvSpPr txBox="1"/>
          <p:nvPr/>
        </p:nvSpPr>
        <p:spPr>
          <a:xfrm>
            <a:off x="1828800" y="3741420"/>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admin@webee.local</a:t>
            </a:r>
            <a:r>
              <a:rPr lang="en-US" sz="1500" dirty="0">
                <a:solidFill>
                  <a:srgbClr val="ECEEF3"/>
                </a:solidFill>
                <a:latin typeface="IBM Plex Sans" pitchFamily="34" charset="0"/>
                <a:ea typeface="IBM Plex Sans" pitchFamily="34" charset="-122"/>
                <a:cs typeface="IBM Plex Sans" pitchFamily="34" charset="-120"/>
              </a:rPr>
              <a:t> / </a:t>
            </a:r>
            <a:r>
              <a:rPr lang="en-US" sz="1380" dirty="0">
                <a:solidFill>
                  <a:srgbClr val="FFCF3F"/>
                </a:solidFill>
                <a:latin typeface="IBM Plex Mono" pitchFamily="34" charset="0"/>
                <a:ea typeface="IBM Plex Mono" pitchFamily="34" charset="-122"/>
                <a:cs typeface="IBM Plex Mono" pitchFamily="34" charset="-120"/>
              </a:rPr>
              <a:t>workshop123</a:t>
            </a:r>
            <a:endParaRPr lang="en-US" sz="1380" dirty="0"/>
          </a:p>
        </p:txBody>
      </p:sp>
      <p:sp>
        <p:nvSpPr>
          <p:cNvPr id="20" name="Text 17"/>
          <p:cNvSpPr txBox="1"/>
          <p:nvPr/>
        </p:nvSpPr>
        <p:spPr>
          <a:xfrm>
            <a:off x="640080" y="4190238"/>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brief</a:t>
            </a:r>
            <a:endParaRPr lang="en-US" sz="1100" dirty="0"/>
          </a:p>
        </p:txBody>
      </p:sp>
      <p:sp>
        <p:nvSpPr>
          <p:cNvPr id="21" name="Text 18"/>
          <p:cNvSpPr txBox="1"/>
          <p:nvPr/>
        </p:nvSpPr>
        <p:spPr>
          <a:xfrm>
            <a:off x="1828800" y="4153662"/>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docs/TASK_BRIEF.md</a:t>
            </a:r>
            <a:endParaRPr lang="en-US" sz="1380" dirty="0"/>
          </a:p>
        </p:txBody>
      </p:sp>
      <p:sp>
        <p:nvSpPr>
          <p:cNvPr id="22" name="Text 19"/>
          <p:cNvSpPr txBox="1"/>
          <p:nvPr/>
        </p:nvSpPr>
        <p:spPr>
          <a:xfrm>
            <a:off x="640080" y="4602480"/>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words</a:t>
            </a:r>
            <a:endParaRPr lang="en-US" sz="1100" dirty="0"/>
          </a:p>
        </p:txBody>
      </p:sp>
      <p:sp>
        <p:nvSpPr>
          <p:cNvPr id="23" name="Text 20"/>
          <p:cNvSpPr txBox="1"/>
          <p:nvPr/>
        </p:nvSpPr>
        <p:spPr>
          <a:xfrm>
            <a:off x="1828800" y="4565904"/>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docs/GLOSSARY.md</a:t>
            </a:r>
            <a:endParaRPr lang="en-US" sz="1380" dirty="0"/>
          </a:p>
        </p:txBody>
      </p:sp>
      <p:sp>
        <p:nvSpPr>
          <p:cNvPr id="24" name="Text 21"/>
          <p:cNvSpPr txBox="1"/>
          <p:nvPr/>
        </p:nvSpPr>
        <p:spPr>
          <a:xfrm>
            <a:off x="640080" y="5014722"/>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the source</a:t>
            </a:r>
            <a:endParaRPr lang="en-US" sz="1100" dirty="0"/>
          </a:p>
        </p:txBody>
      </p:sp>
      <p:sp>
        <p:nvSpPr>
          <p:cNvPr id="25" name="Text 22"/>
          <p:cNvSpPr txBox="1"/>
          <p:nvPr/>
        </p:nvSpPr>
        <p:spPr>
          <a:xfrm>
            <a:off x="1828800" y="4978146"/>
            <a:ext cx="4285923" cy="302514"/>
          </a:xfrm>
          <a:prstGeom prst="rect">
            <a:avLst/>
          </a:prstGeom>
          <a:noFill/>
          <a:ln/>
        </p:spPr>
        <p:txBody>
          <a:bodyPr wrap="square" lIns="0" tIns="0" rIns="0" bIns="0" rtlCol="0" anchor="t"/>
          <a:lstStyle/>
          <a:p>
            <a:pPr indent="0" marL="0">
              <a:lnSpc>
                <a:spcPct val="105000"/>
              </a:lnSpc>
              <a:buNone/>
            </a:pPr>
            <a:r>
              <a:rPr lang="en-US" sz="1380" dirty="0">
                <a:solidFill>
                  <a:srgbClr val="FFCF3F"/>
                </a:solidFill>
                <a:latin typeface="IBM Plex Mono" pitchFamily="34" charset="0"/>
                <a:ea typeface="IBM Plex Mono" pitchFamily="34" charset="-122"/>
                <a:cs typeface="IBM Plex Mono" pitchFamily="34" charset="-120"/>
              </a:rPr>
              <a:t>wordpress-reference/</a:t>
            </a:r>
            <a:endParaRPr lang="en-US" sz="1380" dirty="0"/>
          </a:p>
        </p:txBody>
      </p:sp>
      <p:sp>
        <p:nvSpPr>
          <p:cNvPr id="26" name="Text 23"/>
          <p:cNvSpPr txBox="1"/>
          <p:nvPr/>
        </p:nvSpPr>
        <p:spPr>
          <a:xfrm>
            <a:off x="640080" y="5426964"/>
            <a:ext cx="1188720" cy="274320"/>
          </a:xfrm>
          <a:prstGeom prst="rect">
            <a:avLst/>
          </a:prstGeom>
          <a:noFill/>
          <a:ln/>
        </p:spPr>
        <p:txBody>
          <a:bodyPr wrap="square" lIns="0" tIns="0" rIns="0" bIns="0" rtlCol="0" anchor="t"/>
          <a:lstStyle/>
          <a:p>
            <a:pPr indent="0" marL="0">
              <a:buNone/>
            </a:pPr>
            <a:r>
              <a:rPr lang="en-US" sz="1100" dirty="0">
                <a:solidFill>
                  <a:srgbClr val="9EA7B8"/>
                </a:solidFill>
                <a:latin typeface="IBM Plex Mono" pitchFamily="34" charset="0"/>
                <a:ea typeface="IBM Plex Mono" pitchFamily="34" charset="-122"/>
                <a:cs typeface="IBM Plex Mono" pitchFamily="34" charset="-120"/>
              </a:rPr>
              <a:t>stuck</a:t>
            </a:r>
            <a:endParaRPr lang="en-US" sz="1100" dirty="0"/>
          </a:p>
        </p:txBody>
      </p:sp>
      <p:sp>
        <p:nvSpPr>
          <p:cNvPr id="27" name="Text 24"/>
          <p:cNvSpPr txBox="1"/>
          <p:nvPr/>
        </p:nvSpPr>
        <p:spPr>
          <a:xfrm>
            <a:off x="1828800" y="5390388"/>
            <a:ext cx="4285923" cy="302514"/>
          </a:xfrm>
          <a:prstGeom prst="rect">
            <a:avLst/>
          </a:prstGeom>
          <a:noFill/>
          <a:ln/>
        </p:spPr>
        <p:txBody>
          <a:bodyPr wrap="square" lIns="0" tIns="0" rIns="0" bIns="0" rtlCol="0" anchor="t"/>
          <a:lstStyle/>
          <a:p>
            <a:pPr indent="0" marL="0">
              <a:lnSpc>
                <a:spcPct val="105000"/>
              </a:lnSpc>
              <a:buNone/>
            </a:pPr>
            <a:r>
              <a:rPr lang="en-US" sz="1500" dirty="0">
                <a:solidFill>
                  <a:srgbClr val="ECEEF3"/>
                </a:solidFill>
                <a:latin typeface="IBM Plex Sans" pitchFamily="34" charset="0"/>
                <a:ea typeface="IBM Plex Sans" pitchFamily="34" charset="-122"/>
                <a:cs typeface="IBM Plex Sans" pitchFamily="34" charset="-120"/>
              </a:rPr>
              <a:t>read the </a:t>
            </a:r>
            <a:r>
              <a:rPr lang="en-US" sz="1380" dirty="0">
                <a:solidFill>
                  <a:srgbClr val="FFCF3F"/>
                </a:solidFill>
                <a:latin typeface="IBM Plex Mono" pitchFamily="34" charset="0"/>
                <a:ea typeface="IBM Plex Mono" pitchFamily="34" charset="-122"/>
                <a:cs typeface="IBM Plex Mono" pitchFamily="34" charset="-120"/>
              </a:rPr>
              <a:t>→</a:t>
            </a:r>
            <a:r>
              <a:rPr lang="en-US" sz="1500" dirty="0">
                <a:solidFill>
                  <a:srgbClr val="ECEEF3"/>
                </a:solidFill>
                <a:latin typeface="IBM Plex Sans" pitchFamily="34" charset="0"/>
                <a:ea typeface="IBM Plex Sans" pitchFamily="34" charset="-122"/>
                <a:cs typeface="IBM Plex Sans" pitchFamily="34" charset="-120"/>
              </a:rPr>
              <a:t> hint line, then ask</a:t>
            </a:r>
            <a:endParaRPr lang="en-US" sz="1500" dirty="0"/>
          </a:p>
        </p:txBody>
      </p:sp>
      <p:sp>
        <p:nvSpPr>
          <p:cNvPr id="28" name="Shape 25"/>
          <p:cNvSpPr/>
          <p:nvPr/>
        </p:nvSpPr>
        <p:spPr>
          <a:xfrm>
            <a:off x="6571923" y="1874520"/>
            <a:ext cx="4976949" cy="1252728"/>
          </a:xfrm>
          <a:prstGeom prst="rect">
            <a:avLst/>
          </a:prstGeom>
          <a:solidFill>
            <a:srgbClr val="1B1F27"/>
          </a:solidFill>
          <a:ln w="12700">
            <a:solidFill>
              <a:srgbClr val="1B1F27"/>
            </a:solidFill>
            <a:prstDash val="solid"/>
          </a:ln>
        </p:spPr>
      </p:sp>
      <p:sp>
        <p:nvSpPr>
          <p:cNvPr id="29" name="Shape 26"/>
          <p:cNvSpPr/>
          <p:nvPr/>
        </p:nvSpPr>
        <p:spPr>
          <a:xfrm>
            <a:off x="6571923" y="1874520"/>
            <a:ext cx="54864" cy="1252728"/>
          </a:xfrm>
          <a:prstGeom prst="rect">
            <a:avLst/>
          </a:prstGeom>
          <a:solidFill>
            <a:srgbClr val="FFCF3F"/>
          </a:solidFill>
          <a:ln w="12700">
            <a:solidFill>
              <a:srgbClr val="FFCF3F"/>
            </a:solidFill>
            <a:prstDash val="solid"/>
          </a:ln>
        </p:spPr>
      </p:sp>
      <p:sp>
        <p:nvSpPr>
          <p:cNvPr id="30" name="Text 27"/>
          <p:cNvSpPr txBox="1"/>
          <p:nvPr/>
        </p:nvSpPr>
        <p:spPr>
          <a:xfrm>
            <a:off x="6846243" y="2020824"/>
            <a:ext cx="4519749" cy="960120"/>
          </a:xfrm>
          <a:prstGeom prst="rect">
            <a:avLst/>
          </a:prstGeom>
          <a:noFill/>
          <a:ln/>
        </p:spPr>
        <p:txBody>
          <a:bodyPr wrap="square" lIns="0" tIns="0" rIns="0" bIns="0" rtlCol="0" anchor="t"/>
          <a:lstStyle/>
          <a:p>
            <a:pPr indent="0" marL="0">
              <a:buNone/>
            </a:pPr>
            <a:r>
              <a:rPr lang="en-US" sz="1400" dirty="0">
                <a:solidFill>
                  <a:srgbClr val="ECEEF3"/>
                </a:solidFill>
                <a:latin typeface="IBM Plex Sans" pitchFamily="34" charset="0"/>
                <a:ea typeface="IBM Plex Sans" pitchFamily="34" charset="-122"/>
                <a:cs typeface="IBM Plex Sans" pitchFamily="34" charset="-120"/>
              </a:rPr>
              <a:t>First prompt, everyone, before anything else:</a:t>
            </a:r>
            <a:endParaRPr lang="en-US" sz="1400" dirty="0"/>
          </a:p>
          <a:p>
            <a:pPr indent="0" marL="0">
              <a:buNone/>
            </a:pPr>
            <a:endParaRPr lang="en-US" sz="1400" dirty="0"/>
          </a:p>
          <a:p>
            <a:pPr indent="0" marL="0">
              <a:buNone/>
            </a:pPr>
            <a:r>
              <a:rPr lang="en-US" sz="1400" i="1" dirty="0">
                <a:solidFill>
                  <a:srgbClr val="ECEEF3"/>
                </a:solidFill>
                <a:latin typeface="IBM Plex Sans" pitchFamily="34" charset="0"/>
                <a:ea typeface="IBM Plex Sans" pitchFamily="34" charset="-122"/>
                <a:cs typeface="IBM Plex Sans" pitchFamily="34" charset="-120"/>
              </a:rPr>
              <a:t>"Explain the layout of this repo and how apps/web gets data from apps/cms, in five bullet points."</a:t>
            </a:r>
            <a:endParaRPr lang="en-US" sz="1400" dirty="0"/>
          </a:p>
        </p:txBody>
      </p:sp>
      <p:sp>
        <p:nvSpPr>
          <p:cNvPr id="31" name="Text 28"/>
          <p:cNvSpPr txBox="1"/>
          <p:nvPr/>
        </p:nvSpPr>
        <p:spPr>
          <a:xfrm>
            <a:off x="6571923" y="3291840"/>
            <a:ext cx="4976949" cy="276860"/>
          </a:xfrm>
          <a:prstGeom prst="rect">
            <a:avLst/>
          </a:prstGeom>
          <a:noFill/>
          <a:ln/>
        </p:spPr>
        <p:txBody>
          <a:bodyPr wrap="square" lIns="0" tIns="0" rIns="0" bIns="0" rtlCol="0" anchor="t"/>
          <a:lstStyle/>
          <a:p>
            <a:pPr indent="0" marL="0">
              <a:buNone/>
            </a:pPr>
            <a:r>
              <a:rPr lang="en-US" sz="1400" dirty="0">
                <a:solidFill>
                  <a:srgbClr val="9EA7B8"/>
                </a:solidFill>
                <a:latin typeface="IBM Plex Sans" pitchFamily="34" charset="0"/>
                <a:ea typeface="IBM Plex Sans" pitchFamily="34" charset="-122"/>
                <a:cs typeface="IBM Plex Sans" pitchFamily="34" charset="-120"/>
              </a:rPr>
              <a:t>Two people read Claude's answer aloud. Then step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WordPress to Astro + Payload</dc:title>
  <dc:subject>PptxGenJS Presentation</dc:subject>
  <dc:creator>Webee L&amp;D</dc:creator>
  <cp:lastModifiedBy>Webee L&amp;D</cp:lastModifiedBy>
  <cp:revision>1</cp:revision>
  <dcterms:created xsi:type="dcterms:W3CDTF">2026-09-23T11:45:54Z</dcterms:created>
  <dcterms:modified xsi:type="dcterms:W3CDTF">2026-09-23T11:45:54Z</dcterms:modified>
</cp:coreProperties>
</file>